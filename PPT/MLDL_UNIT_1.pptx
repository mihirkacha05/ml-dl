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6"/>
  </p:notesMasterIdLst>
  <p:sldIdLst>
    <p:sldId id="283" r:id="rId2"/>
    <p:sldId id="292" r:id="rId3"/>
    <p:sldId id="447" r:id="rId4"/>
    <p:sldId id="448" r:id="rId5"/>
    <p:sldId id="438" r:id="rId6"/>
    <p:sldId id="445" r:id="rId7"/>
    <p:sldId id="446" r:id="rId8"/>
    <p:sldId id="437" r:id="rId9"/>
    <p:sldId id="434" r:id="rId10"/>
    <p:sldId id="439" r:id="rId11"/>
    <p:sldId id="477" r:id="rId12"/>
    <p:sldId id="467" r:id="rId13"/>
    <p:sldId id="468" r:id="rId14"/>
    <p:sldId id="469" r:id="rId15"/>
    <p:sldId id="442" r:id="rId16"/>
    <p:sldId id="443" r:id="rId17"/>
    <p:sldId id="444" r:id="rId18"/>
    <p:sldId id="429" r:id="rId19"/>
    <p:sldId id="430" r:id="rId20"/>
    <p:sldId id="431" r:id="rId21"/>
    <p:sldId id="432" r:id="rId22"/>
    <p:sldId id="433" r:id="rId23"/>
    <p:sldId id="450" r:id="rId24"/>
    <p:sldId id="380" r:id="rId25"/>
    <p:sldId id="456" r:id="rId26"/>
    <p:sldId id="457" r:id="rId27"/>
    <p:sldId id="451" r:id="rId28"/>
    <p:sldId id="452" r:id="rId29"/>
    <p:sldId id="455" r:id="rId30"/>
    <p:sldId id="454" r:id="rId31"/>
    <p:sldId id="458" r:id="rId32"/>
    <p:sldId id="470" r:id="rId33"/>
    <p:sldId id="459" r:id="rId34"/>
    <p:sldId id="460" r:id="rId35"/>
    <p:sldId id="461" r:id="rId36"/>
    <p:sldId id="462" r:id="rId37"/>
    <p:sldId id="478" r:id="rId38"/>
    <p:sldId id="479" r:id="rId39"/>
    <p:sldId id="376" r:id="rId40"/>
    <p:sldId id="463" r:id="rId41"/>
    <p:sldId id="480" r:id="rId42"/>
    <p:sldId id="465" r:id="rId43"/>
    <p:sldId id="466" r:id="rId44"/>
    <p:sldId id="471" r:id="rId45"/>
    <p:sldId id="472" r:id="rId46"/>
    <p:sldId id="481" r:id="rId47"/>
    <p:sldId id="482" r:id="rId48"/>
    <p:sldId id="483" r:id="rId49"/>
    <p:sldId id="476" r:id="rId50"/>
    <p:sldId id="365" r:id="rId51"/>
    <p:sldId id="310" r:id="rId52"/>
    <p:sldId id="377" r:id="rId53"/>
    <p:sldId id="378" r:id="rId54"/>
    <p:sldId id="408" r:id="rId5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modifyVerifier cryptProviderType="rsaAES" cryptAlgorithmClass="hash" cryptAlgorithmType="typeAny" cryptAlgorithmSid="14" spinCount="100000" saltData="37+3tFD9Jj5Ws0xDp3d+lQ==" hashData="ht0ngA7aTQqOa7VIso00Vota8MxvV2eMDAyv/arSYg6hVDMfKETAkwPrZbejCeYKYqT/TFW4sr0a42eISW/JGw=="/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07D8B"/>
    <a:srgbClr val="ED524F"/>
    <a:srgbClr val="00CC99"/>
    <a:srgbClr val="301B92"/>
    <a:srgbClr val="673BB7"/>
    <a:srgbClr val="B71B1C"/>
    <a:srgbClr val="F54337"/>
    <a:srgbClr val="D81A60"/>
    <a:srgbClr val="890E4F"/>
    <a:srgbClr val="EA1E6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–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537" autoAdjust="0"/>
    <p:restoredTop sz="94660"/>
  </p:normalViewPr>
  <p:slideViewPr>
    <p:cSldViewPr snapToGrid="0">
      <p:cViewPr varScale="1">
        <p:scale>
          <a:sx n="87" d="100"/>
          <a:sy n="87" d="100"/>
        </p:scale>
        <p:origin x="72" y="5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80" d="100"/>
        <a:sy n="8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viewProps" Target="viewProp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theme" Target="theme/theme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presProps" Target="presProps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8E3F3-8B31-41D2-AA9B-9796555DB866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C79BDEF-6165-4E72-B1A6-6E8034CEC2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0139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BC79BDEF-6165-4E72-B1A6-6E8034CEC248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001631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2.png"/><Relationship Id="rId7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11" Type="http://schemas.openxmlformats.org/officeDocument/2006/relationships/image" Target="../media/image9.jpeg"/><Relationship Id="rId5" Type="http://schemas.openxmlformats.org/officeDocument/2006/relationships/image" Target="../media/image4.png"/><Relationship Id="rId10" Type="http://schemas.openxmlformats.org/officeDocument/2006/relationships/image" Target="../media/image8.png"/><Relationship Id="rId4" Type="http://schemas.openxmlformats.org/officeDocument/2006/relationships/image" Target="../media/image3.png"/><Relationship Id="rId9" Type="http://schemas.openxmlformats.org/officeDocument/2006/relationships/image" Target="../media/image7.jpe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7.jpe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8.png"/><Relationship Id="rId4" Type="http://schemas.microsoft.com/office/2007/relationships/hdphoto" Target="../media/hdphoto2.wdp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11" Type="http://schemas.openxmlformats.org/officeDocument/2006/relationships/image" Target="../media/image7.jpeg"/><Relationship Id="rId5" Type="http://schemas.openxmlformats.org/officeDocument/2006/relationships/image" Target="../media/image3.png"/><Relationship Id="rId10" Type="http://schemas.openxmlformats.org/officeDocument/2006/relationships/image" Target="../media/image14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.png"/><Relationship Id="rId7" Type="http://schemas.openxmlformats.org/officeDocument/2006/relationships/image" Target="../media/image10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10" Type="http://schemas.openxmlformats.org/officeDocument/2006/relationships/image" Target="../media/image7.jpeg"/><Relationship Id="rId4" Type="http://schemas.openxmlformats.org/officeDocument/2006/relationships/image" Target="../media/image13.png"/><Relationship Id="rId9" Type="http://schemas.microsoft.com/office/2007/relationships/hdphoto" Target="../media/hdphoto1.wdp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3956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 cstate="print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0042908-6588-4C7A-9615-8D5899E8A9F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44383" t="-16142" r="-144383" b="22103"/>
          <a:stretch/>
        </p:blipFill>
        <p:spPr>
          <a:xfrm>
            <a:off x="1834747" y="3985791"/>
            <a:ext cx="3075940" cy="2892592"/>
          </a:xfrm>
          <a:prstGeom prst="rect">
            <a:avLst/>
          </a:prstGeom>
        </p:spPr>
      </p:pic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9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D3FD703-A923-5FFC-49A0-8C313F0B42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2" y="596629"/>
            <a:ext cx="2976891" cy="90493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AE52AF9-0738-907E-5BBA-0ED5F6A1485B}"/>
              </a:ext>
            </a:extLst>
          </p:cNvPr>
          <p:cNvPicPr>
            <a:picLocks noChangeAspect="1"/>
          </p:cNvPicPr>
          <p:nvPr userDrawn="1"/>
        </p:nvPicPr>
        <p:blipFill>
          <a:blip r:embed="rId11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12661" y="1741817"/>
            <a:ext cx="2976891" cy="1185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0593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 - Default Col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28969" y="556389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endParaRPr lang="en-US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6" name="Picture 35" descr="User icon Royalty Free Vector Image - VectorStock">
            <a:extLst>
              <a:ext uri="{FF2B5EF4-FFF2-40B4-BE49-F238E27FC236}">
                <a16:creationId xmlns:a16="http://schemas.microsoft.com/office/drawing/2014/main" id="{3C805A05-DDF6-4BA6-8EDB-D97128A43BFF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7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Picture Placeholder 36">
            <a:extLst>
              <a:ext uri="{FF2B5EF4-FFF2-40B4-BE49-F238E27FC236}">
                <a16:creationId xmlns:a16="http://schemas.microsoft.com/office/drawing/2014/main" id="{C4AACC20-C1A0-45ED-8640-28D84A9F84E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 dirty="0"/>
          </a:p>
        </p:txBody>
      </p:sp>
      <p:sp>
        <p:nvSpPr>
          <p:cNvPr id="30" name="Hexagon 29">
            <a:extLst>
              <a:ext uri="{FF2B5EF4-FFF2-40B4-BE49-F238E27FC236}">
                <a16:creationId xmlns:a16="http://schemas.microsoft.com/office/drawing/2014/main" id="{43663646-67F9-47C4-84E3-B4EEDA5FB900}"/>
              </a:ext>
            </a:extLst>
          </p:cNvPr>
          <p:cNvSpPr/>
          <p:nvPr userDrawn="1"/>
        </p:nvSpPr>
        <p:spPr>
          <a:xfrm rot="5400000">
            <a:off x="4309292" y="1717040"/>
            <a:ext cx="3461658" cy="2984188"/>
          </a:xfrm>
          <a:prstGeom prst="hexagon">
            <a:avLst/>
          </a:prstGeom>
          <a:solidFill>
            <a:schemeClr val="bg1">
              <a:lumMod val="95000"/>
            </a:schemeClr>
          </a:solidFill>
          <a:ln w="57150">
            <a:solidFill>
              <a:schemeClr val="tx2"/>
            </a:solidFill>
            <a:prstDash val="lgDash"/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60958F6-32DB-4A2F-BFC3-1FBEA359C54B}"/>
              </a:ext>
            </a:extLst>
          </p:cNvPr>
          <p:cNvSpPr txBox="1"/>
          <p:nvPr userDrawn="1"/>
        </p:nvSpPr>
        <p:spPr>
          <a:xfrm>
            <a:off x="5014038" y="2239638"/>
            <a:ext cx="2052165" cy="193899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6000" b="1" i="1" dirty="0"/>
              <a:t>Thank</a:t>
            </a:r>
          </a:p>
          <a:p>
            <a:pPr algn="ctr"/>
            <a:r>
              <a:rPr lang="en-US" sz="6000" b="1" i="1" dirty="0"/>
              <a:t>You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66C323F2-F0D8-4EB7-83AE-DFAA81BC49DE}"/>
              </a:ext>
            </a:extLst>
          </p:cNvPr>
          <p:cNvSpPr/>
          <p:nvPr userDrawn="1"/>
        </p:nvSpPr>
        <p:spPr>
          <a:xfrm rot="10800000">
            <a:off x="7678346" y="2221532"/>
            <a:ext cx="4513654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212D27AE-1148-4B42-8B61-FEBB2397EFD9}"/>
              </a:ext>
            </a:extLst>
          </p:cNvPr>
          <p:cNvSpPr/>
          <p:nvPr userDrawn="1"/>
        </p:nvSpPr>
        <p:spPr>
          <a:xfrm>
            <a:off x="0" y="2221532"/>
            <a:ext cx="4402106" cy="1951692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solidFill>
              <a:schemeClr val="tx2"/>
            </a:solidFill>
          </a:ln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2354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440818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Machine Learning(ML)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920005"/>
            <a:ext cx="11929641" cy="5534004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13118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DF0D05C3-99AA-773B-0F49-09924E81855A}"/>
              </a:ext>
            </a:extLst>
          </p:cNvPr>
          <p:cNvGrpSpPr/>
          <p:nvPr userDrawn="1"/>
        </p:nvGrpSpPr>
        <p:grpSpPr>
          <a:xfrm>
            <a:off x="10411778" y="921114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2479EDFC-ED4D-861A-E37D-14D7E6B051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AE3FA7F-857D-E61D-5C28-13E2D70838D2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66333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280210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Machine Learning(ML)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78501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ebdings" panose="05030102010509060703" pitchFamily="18" charset="2"/>
              <a:buChar char="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61618DA6-ADDC-7E6E-7A51-8D40B3889FE6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D3D5E089-7BE6-03A1-CD63-E67BAD57608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DEC36E20-EF18-6B0D-305F-4B32B1F5F4C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27612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7CD05EDD-7D4D-4F15-B3BB-F4E2E35E1780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Date Placeholder 1">
            <a:extLst>
              <a:ext uri="{FF2B5EF4-FFF2-40B4-BE49-F238E27FC236}">
                <a16:creationId xmlns:a16="http://schemas.microsoft.com/office/drawing/2014/main" id="{CA463A36-7025-4394-9467-8A3EC3425B00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22" name="Footer Placeholder 2">
            <a:extLst>
              <a:ext uri="{FF2B5EF4-FFF2-40B4-BE49-F238E27FC236}">
                <a16:creationId xmlns:a16="http://schemas.microsoft.com/office/drawing/2014/main" id="{BF2BE79E-EA17-4AB9-8CB5-714A52A6B2F5}"/>
              </a:ext>
            </a:extLst>
          </p:cNvPr>
          <p:cNvSpPr txBox="1">
            <a:spLocks/>
          </p:cNvSpPr>
          <p:nvPr userDrawn="1"/>
        </p:nvSpPr>
        <p:spPr>
          <a:xfrm>
            <a:off x="4038599" y="6604000"/>
            <a:ext cx="4324815" cy="25400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#2301CS62(ML)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Machine Learning(ML)</a:t>
            </a:r>
          </a:p>
        </p:txBody>
      </p:sp>
      <p:sp>
        <p:nvSpPr>
          <p:cNvPr id="23" name="Slide Number Placeholder 3">
            <a:extLst>
              <a:ext uri="{FF2B5EF4-FFF2-40B4-BE49-F238E27FC236}">
                <a16:creationId xmlns:a16="http://schemas.microsoft.com/office/drawing/2014/main" id="{FE084249-8DB7-4B0A-AA7A-A1A407FC0773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pic>
        <p:nvPicPr>
          <p:cNvPr id="18" name="Shape 56">
            <a:extLst>
              <a:ext uri="{FF2B5EF4-FFF2-40B4-BE49-F238E27FC236}">
                <a16:creationId xmlns:a16="http://schemas.microsoft.com/office/drawing/2014/main" id="{ACB01872-4321-4181-A609-1C503C074C10}"/>
              </a:ext>
            </a:extLst>
          </p:cNvPr>
          <p:cNvPicPr preferRelativeResize="0"/>
          <p:nvPr userDrawn="1"/>
        </p:nvPicPr>
        <p:blipFill rotWithShape="1">
          <a:blip r:embed="rId2">
            <a:alphaModFix/>
          </a:blip>
          <a:srcRect t="86739" r="1768" b="3535"/>
          <a:stretch/>
        </p:blipFill>
        <p:spPr>
          <a:xfrm>
            <a:off x="0" y="0"/>
            <a:ext cx="12192000" cy="711201"/>
          </a:xfrm>
          <a:prstGeom prst="rect">
            <a:avLst/>
          </a:prstGeom>
          <a:noFill/>
          <a:ln>
            <a:noFill/>
          </a:ln>
          <a:effectLst/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D5CD07E8-CBAA-45BA-85CF-1233D4AA86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12192000" cy="711200"/>
          </a:xfrm>
          <a:solidFill>
            <a:srgbClr val="C0C0C0">
              <a:alpha val="50000"/>
            </a:srgbClr>
          </a:solidFill>
          <a:ln>
            <a:noFill/>
          </a:ln>
        </p:spPr>
        <p:txBody>
          <a:bodyPr lIns="216000" tIns="108000" rIns="216000" bIns="108000">
            <a:normAutofit/>
          </a:bodyPr>
          <a:lstStyle>
            <a:lvl1pPr>
              <a:defRPr lang="en-US" sz="34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+mj-lt"/>
                <a:ea typeface="+mj-ea"/>
                <a:cs typeface="+mj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6F4971-704E-42EF-A852-52D75741FB7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626739"/>
          </a:xfrm>
        </p:spPr>
        <p:txBody>
          <a:bodyPr>
            <a:noAutofit/>
          </a:bodyPr>
          <a:lstStyle>
            <a:lvl1pPr marL="265113" indent="-265113" algn="just">
              <a:buClr>
                <a:schemeClr val="accent6"/>
              </a:buClr>
              <a:buFont typeface="Wingdings 3" panose="05040102010807070707" pitchFamily="18" charset="2"/>
              <a:buChar char=""/>
              <a:defRPr sz="2400">
                <a:solidFill>
                  <a:schemeClr val="tx1"/>
                </a:solidFill>
              </a:defRPr>
            </a:lvl1pPr>
            <a:lvl2pPr marL="809625" indent="-352425" algn="just">
              <a:buClr>
                <a:schemeClr val="accent6"/>
              </a:buClr>
              <a:buFont typeface="Wingdings 3" panose="05040102010807070707" pitchFamily="18" charset="2"/>
              <a:buChar char=""/>
              <a:defRPr sz="2000">
                <a:solidFill>
                  <a:schemeClr val="tx1"/>
                </a:solidFill>
              </a:defRPr>
            </a:lvl2pPr>
            <a:lvl3pPr marL="1143000" indent="-228600" algn="just">
              <a:buClr>
                <a:schemeClr val="accent6"/>
              </a:buClr>
              <a:buFont typeface="Wingdings" panose="05000000000000000000" pitchFamily="2" charset="2"/>
              <a:buChar char="§"/>
              <a:defRPr sz="1800">
                <a:solidFill>
                  <a:schemeClr val="tx1"/>
                </a:solidFill>
              </a:defRPr>
            </a:lvl3pPr>
            <a:lvl4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4pPr>
            <a:lvl5pPr algn="just">
              <a:buClr>
                <a:schemeClr val="accent6"/>
              </a:buClr>
              <a:defRPr sz="1600">
                <a:solidFill>
                  <a:schemeClr val="tx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05596C8C-2163-45E8-B709-8118C381771F}"/>
              </a:ext>
            </a:extLst>
          </p:cNvPr>
          <p:cNvCxnSpPr/>
          <p:nvPr userDrawn="1"/>
        </p:nvCxnSpPr>
        <p:spPr>
          <a:xfrm>
            <a:off x="0" y="711201"/>
            <a:ext cx="12192000" cy="0"/>
          </a:xfrm>
          <a:prstGeom prst="line">
            <a:avLst/>
          </a:prstGeom>
          <a:ln w="12700">
            <a:solidFill>
              <a:schemeClr val="bg1">
                <a:lumMod val="8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F86BF578-C91A-4942-95D5-11408C3CCACF}"/>
              </a:ext>
            </a:extLst>
          </p:cNvPr>
          <p:cNvCxnSpPr/>
          <p:nvPr userDrawn="1"/>
        </p:nvCxnSpPr>
        <p:spPr>
          <a:xfrm>
            <a:off x="0" y="6604000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8A3AED85-A54D-97C1-DD2C-9FDEA4914919}"/>
              </a:ext>
            </a:extLst>
          </p:cNvPr>
          <p:cNvGrpSpPr/>
          <p:nvPr userDrawn="1"/>
        </p:nvGrpSpPr>
        <p:grpSpPr>
          <a:xfrm>
            <a:off x="131180" y="5988910"/>
            <a:ext cx="1649043" cy="501287"/>
            <a:chOff x="10721798" y="852808"/>
            <a:chExt cx="1339023" cy="407045"/>
          </a:xfrm>
        </p:grpSpPr>
        <p:pic>
          <p:nvPicPr>
            <p:cNvPr id="7" name="Picture 6">
              <a:extLst>
                <a:ext uri="{FF2B5EF4-FFF2-40B4-BE49-F238E27FC236}">
                  <a16:creationId xmlns:a16="http://schemas.microsoft.com/office/drawing/2014/main" id="{F801B37D-BAE9-0650-58F2-BC78CED44C49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1DA2DE62-0FAB-499C-3FF7-8E3E8DDDF86C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4686285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>
            <a:extLst>
              <a:ext uri="{FF2B5EF4-FFF2-40B4-BE49-F238E27FC236}">
                <a16:creationId xmlns:a16="http://schemas.microsoft.com/office/drawing/2014/main" id="{07171932-FFF4-4D27-9425-8CB5D27A92F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1581" b="21180"/>
          <a:stretch/>
        </p:blipFill>
        <p:spPr>
          <a:xfrm rot="16200000">
            <a:off x="9807099" y="606901"/>
            <a:ext cx="2991808" cy="1778000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639DF2A-5426-428D-B32D-78E9191D8A0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 cstate="print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79646" t="18062" r="2731" b="17724"/>
          <a:stretch/>
        </p:blipFill>
        <p:spPr>
          <a:xfrm>
            <a:off x="0" y="401568"/>
            <a:ext cx="543946" cy="77215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6B8C6168-C8A4-4660-9D38-045657B80D0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lang="en-US" sz="6000" b="1" kern="1200" dirty="0">
                <a:gradFill flip="none" rotWithShape="1">
                  <a:gsLst>
                    <a:gs pos="0">
                      <a:srgbClr val="1D3064"/>
                    </a:gs>
                    <a:gs pos="100000">
                      <a:schemeClr val="tx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lang="en-US" dirty="0"/>
              <a:t>Write here Section 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66C89DA-344D-4448-822C-2826084EF127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Write here Section Subtitle</a:t>
            </a:r>
          </a:p>
        </p:txBody>
      </p:sp>
      <p:sp>
        <p:nvSpPr>
          <p:cNvPr id="8" name="Freeform 17">
            <a:extLst>
              <a:ext uri="{FF2B5EF4-FFF2-40B4-BE49-F238E27FC236}">
                <a16:creationId xmlns:a16="http://schemas.microsoft.com/office/drawing/2014/main" id="{910DC0DC-3FC7-402D-8C9F-62D3ACC8DC86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2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8D8F205C-D692-3A8F-DB67-62DFE62B7370}"/>
              </a:ext>
            </a:extLst>
          </p:cNvPr>
          <p:cNvGrpSpPr/>
          <p:nvPr userDrawn="1"/>
        </p:nvGrpSpPr>
        <p:grpSpPr>
          <a:xfrm>
            <a:off x="10359675" y="6131022"/>
            <a:ext cx="1649043" cy="501287"/>
            <a:chOff x="10721798" y="852808"/>
            <a:chExt cx="1339023" cy="407045"/>
          </a:xfrm>
        </p:grpSpPr>
        <p:pic>
          <p:nvPicPr>
            <p:cNvPr id="5" name="Picture 4">
              <a:extLst>
                <a:ext uri="{FF2B5EF4-FFF2-40B4-BE49-F238E27FC236}">
                  <a16:creationId xmlns:a16="http://schemas.microsoft.com/office/drawing/2014/main" id="{31DDAE99-2697-C009-4B54-2913BF8DCC4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6DBF6B26-56F5-A99C-23BA-B1DAF78C0F43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001692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T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FEA6E7FD-9D74-A53E-354C-AEDE33361F68}"/>
              </a:ext>
            </a:extLst>
          </p:cNvPr>
          <p:cNvGrpSpPr/>
          <p:nvPr userDrawn="1"/>
        </p:nvGrpSpPr>
        <p:grpSpPr>
          <a:xfrm>
            <a:off x="10253733" y="119603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B8648CBA-7265-39F8-D1B9-0E15C03485C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31B50395-FD5C-D870-AB87-21ADE7A84320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19725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2D3440BC-6A73-AF16-1513-F5FFB0D86493}"/>
              </a:ext>
            </a:extLst>
          </p:cNvPr>
          <p:cNvGrpSpPr/>
          <p:nvPr userDrawn="1"/>
        </p:nvGrpSpPr>
        <p:grpSpPr>
          <a:xfrm>
            <a:off x="10313386" y="5940670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70E47C1E-ADCB-A740-5C5D-E07477F1CD9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836726FA-F8E4-08AE-4611-17B220D84286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32062478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ck - Logo on B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D17CCA1-DDAA-4D6C-AAE4-2ECFF46CFEAB}"/>
              </a:ext>
            </a:extLst>
          </p:cNvPr>
          <p:cNvSpPr/>
          <p:nvPr userDrawn="1"/>
        </p:nvSpPr>
        <p:spPr>
          <a:xfrm>
            <a:off x="0" y="6604000"/>
            <a:ext cx="12191998" cy="254000"/>
          </a:xfrm>
          <a:prstGeom prst="roundRect">
            <a:avLst>
              <a:gd name="adj" fmla="val 0"/>
            </a:avLst>
          </a:prstGeom>
          <a:solidFill>
            <a:srgbClr val="DFDFD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Date Placeholder 1">
            <a:extLst>
              <a:ext uri="{FF2B5EF4-FFF2-40B4-BE49-F238E27FC236}">
                <a16:creationId xmlns:a16="http://schemas.microsoft.com/office/drawing/2014/main" id="{F2FD45BD-9964-4102-8DE9-72CDDDD20A49}"/>
              </a:ext>
            </a:extLst>
          </p:cNvPr>
          <p:cNvSpPr txBox="1">
            <a:spLocks/>
          </p:cNvSpPr>
          <p:nvPr userDrawn="1"/>
        </p:nvSpPr>
        <p:spPr>
          <a:xfrm>
            <a:off x="8382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Prof. Jayesh D. </a:t>
            </a:r>
            <a:r>
              <a:rPr lang="en-US" dirty="0" err="1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vagadiya</a:t>
            </a:r>
            <a:endParaRPr lang="en-US" dirty="0">
              <a:solidFill>
                <a:schemeClr val="tx1">
                  <a:lumMod val="90000"/>
                  <a:lumOff val="10000"/>
                </a:schemeClr>
              </a:solidFill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7" name="Footer Placeholder 2">
            <a:extLst>
              <a:ext uri="{FF2B5EF4-FFF2-40B4-BE49-F238E27FC236}">
                <a16:creationId xmlns:a16="http://schemas.microsoft.com/office/drawing/2014/main" id="{59055D82-7978-44A5-82D1-0A4E00B382BF}"/>
              </a:ext>
            </a:extLst>
          </p:cNvPr>
          <p:cNvSpPr txBox="1">
            <a:spLocks/>
          </p:cNvSpPr>
          <p:nvPr userDrawn="1"/>
        </p:nvSpPr>
        <p:spPr>
          <a:xfrm>
            <a:off x="4038600" y="6604000"/>
            <a:ext cx="41148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ct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#2101CS521  (DM)   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Wingdings" panose="05000000000000000000" pitchFamily="2" charset="2"/>
                <a:ea typeface="Roboto Condensed Light" panose="02000000000000000000" pitchFamily="2" charset="0"/>
              </a:rPr>
              <a:t></a:t>
            </a:r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</a:rPr>
              <a:t>   Unit 1 – Introduction to Data Mining (DM)</a:t>
            </a:r>
          </a:p>
        </p:txBody>
      </p:sp>
      <p:sp>
        <p:nvSpPr>
          <p:cNvPr id="18" name="Slide Number Placeholder 3">
            <a:extLst>
              <a:ext uri="{FF2B5EF4-FFF2-40B4-BE49-F238E27FC236}">
                <a16:creationId xmlns:a16="http://schemas.microsoft.com/office/drawing/2014/main" id="{32768103-D8F5-4649-8107-E4B3B8C554BB}"/>
              </a:ext>
            </a:extLst>
          </p:cNvPr>
          <p:cNvSpPr txBox="1">
            <a:spLocks/>
          </p:cNvSpPr>
          <p:nvPr userDrawn="1"/>
        </p:nvSpPr>
        <p:spPr>
          <a:xfrm>
            <a:off x="8610600" y="6604000"/>
            <a:ext cx="2743200" cy="25512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F2434F-F1F1-4B15-80AA-A2C3BF057F48}" type="slidenum">
              <a:rPr lang="en-US" b="1" smtClean="0">
                <a:solidFill>
                  <a:schemeClr val="tx1">
                    <a:lumMod val="90000"/>
                    <a:lumOff val="10000"/>
                  </a:schemeClr>
                </a:solidFill>
                <a:latin typeface="+mn-lt"/>
              </a:rPr>
              <a:pPr/>
              <a:t>‹#›</a:t>
            </a:fld>
            <a:endParaRPr lang="en-US" b="1" dirty="0">
              <a:solidFill>
                <a:schemeClr val="tx1">
                  <a:lumMod val="90000"/>
                  <a:lumOff val="10000"/>
                </a:schemeClr>
              </a:solidFill>
              <a:latin typeface="+mn-lt"/>
            </a:endParaRPr>
          </a:p>
        </p:txBody>
      </p: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86C86632-7EFD-4A64-85B1-0CE7D13E0C97}"/>
              </a:ext>
            </a:extLst>
          </p:cNvPr>
          <p:cNvCxnSpPr/>
          <p:nvPr userDrawn="1"/>
        </p:nvCxnSpPr>
        <p:spPr>
          <a:xfrm>
            <a:off x="0" y="6606251"/>
            <a:ext cx="12192000" cy="0"/>
          </a:xfrm>
          <a:prstGeom prst="line">
            <a:avLst/>
          </a:prstGeom>
          <a:ln w="12700">
            <a:solidFill>
              <a:schemeClr val="bg1">
                <a:lumMod val="75000"/>
                <a:alpha val="7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" name="Group 1">
            <a:extLst>
              <a:ext uri="{FF2B5EF4-FFF2-40B4-BE49-F238E27FC236}">
                <a16:creationId xmlns:a16="http://schemas.microsoft.com/office/drawing/2014/main" id="{40A11904-2EF7-7EB7-D8E1-64D669405E2D}"/>
              </a:ext>
            </a:extLst>
          </p:cNvPr>
          <p:cNvGrpSpPr/>
          <p:nvPr userDrawn="1"/>
        </p:nvGrpSpPr>
        <p:grpSpPr>
          <a:xfrm>
            <a:off x="164674" y="5980196"/>
            <a:ext cx="1649043" cy="501287"/>
            <a:chOff x="10721798" y="852808"/>
            <a:chExt cx="1339023" cy="407045"/>
          </a:xfrm>
        </p:grpSpPr>
        <p:pic>
          <p:nvPicPr>
            <p:cNvPr id="3" name="Picture 2">
              <a:extLst>
                <a:ext uri="{FF2B5EF4-FFF2-40B4-BE49-F238E27FC236}">
                  <a16:creationId xmlns:a16="http://schemas.microsoft.com/office/drawing/2014/main" id="{3BE576EA-E9D4-7CEC-3198-56D174FDDB8F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0721798" y="852808"/>
              <a:ext cx="1339022" cy="407045"/>
            </a:xfrm>
            <a:prstGeom prst="rect">
              <a:avLst/>
            </a:prstGeom>
          </p:spPr>
        </p:pic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4754B836-2324-D134-A2A1-533073B97009}"/>
                </a:ext>
              </a:extLst>
            </p:cNvPr>
            <p:cNvSpPr/>
            <p:nvPr userDrawn="1"/>
          </p:nvSpPr>
          <p:spPr>
            <a:xfrm>
              <a:off x="10721799" y="852808"/>
              <a:ext cx="1339022" cy="407044"/>
            </a:xfrm>
            <a:prstGeom prst="rect">
              <a:avLst/>
            </a:prstGeom>
            <a:solidFill>
              <a:schemeClr val="bg1">
                <a:alpha val="6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433145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123116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mplete Blanc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9D71C1D1-D056-4C60-9F03-E6291617B71F}"/>
              </a:ext>
            </a:extLst>
          </p:cNvPr>
          <p:cNvSpPr txBox="1"/>
          <p:nvPr userDrawn="1"/>
        </p:nvSpPr>
        <p:spPr>
          <a:xfrm>
            <a:off x="375920" y="457200"/>
            <a:ext cx="418576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dirty="0">
                <a:solidFill>
                  <a:srgbClr val="FF0000"/>
                </a:solidFill>
              </a:rPr>
              <a:t>How to Crop Circular Photo?</a:t>
            </a:r>
          </a:p>
        </p:txBody>
      </p:sp>
      <p:sp>
        <p:nvSpPr>
          <p:cNvPr id="11" name="Picture Placeholder 10">
            <a:extLst>
              <a:ext uri="{FF2B5EF4-FFF2-40B4-BE49-F238E27FC236}">
                <a16:creationId xmlns:a16="http://schemas.microsoft.com/office/drawing/2014/main" id="{E0451329-7800-417A-9D19-D93464C6306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013200" y="1808163"/>
            <a:ext cx="3890962" cy="3890962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</p:spPr>
        <p:txBody>
          <a:bodyPr wrap="square">
            <a:noAutofit/>
          </a:bodyPr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33120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Te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4">
                  <a:lumMod val="50000"/>
                </a:schemeClr>
              </a:gs>
              <a:gs pos="100000">
                <a:srgbClr val="009788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4">
                        <a:lumMod val="50000"/>
                      </a:schemeClr>
                    </a:gs>
                    <a:gs pos="100000">
                      <a:srgbClr val="009788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0" name="Picture 19" descr="User icon Royalty Free Vector Image - VectorStock">
            <a:extLst>
              <a:ext uri="{FF2B5EF4-FFF2-40B4-BE49-F238E27FC236}">
                <a16:creationId xmlns:a16="http://schemas.microsoft.com/office/drawing/2014/main" id="{4A8E0F54-DC01-449D-B951-DC7CBAFD954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65D60AFC-04BC-4FCA-A89D-6FCD04B6DC3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0888083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Cya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2">
                  <a:lumMod val="50000"/>
                </a:schemeClr>
              </a:gs>
              <a:gs pos="100000">
                <a:schemeClr val="accent2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2">
                        <a:lumMod val="50000"/>
                      </a:schemeClr>
                    </a:gs>
                    <a:gs pos="100000">
                      <a:schemeClr val="accent2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0" name="Picture 29" descr="User icon Royalty Free Vector Image - VectorStock">
            <a:extLst>
              <a:ext uri="{FF2B5EF4-FFF2-40B4-BE49-F238E27FC236}">
                <a16:creationId xmlns:a16="http://schemas.microsoft.com/office/drawing/2014/main" id="{5F55812D-505A-4B1A-9EB5-16DCD08F2B8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4" name="Picture Placeholder 33">
            <a:extLst>
              <a:ext uri="{FF2B5EF4-FFF2-40B4-BE49-F238E27FC236}">
                <a16:creationId xmlns:a16="http://schemas.microsoft.com/office/drawing/2014/main" id="{0974588E-8956-4BF5-BF58-B7E42070A56A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57040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Light Gree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3">
                  <a:lumMod val="50000"/>
                </a:schemeClr>
              </a:gs>
              <a:gs pos="100000">
                <a:schemeClr val="accent3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3">
                        <a:lumMod val="50000"/>
                      </a:schemeClr>
                    </a:gs>
                    <a:gs pos="100000">
                      <a:schemeClr val="accent3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6570A8-081D-45CE-A0DD-F78F5EDB0F9B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0B000B32-CB56-440D-9FAE-7DE703A93A0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03394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Amb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5">
                  <a:lumMod val="50000"/>
                </a:schemeClr>
              </a:gs>
              <a:gs pos="100000">
                <a:schemeClr val="accent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5">
                        <a:lumMod val="75000"/>
                      </a:schemeClr>
                    </a:gs>
                    <a:gs pos="100000">
                      <a:schemeClr val="accent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00C9ED70-1CC8-4EF2-BE10-AAFE24AAC5D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7FD1CDD6-829C-4C5B-BFB7-74153A66FF24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585978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Maro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chemeClr val="accent6">
                  <a:lumMod val="50000"/>
                </a:schemeClr>
              </a:gs>
              <a:gs pos="100000">
                <a:schemeClr val="accent6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chemeClr val="accent6">
                        <a:lumMod val="50000"/>
                      </a:schemeClr>
                    </a:gs>
                    <a:gs pos="100000">
                      <a:schemeClr val="accent6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80BF4AFD-B365-46D4-AAC5-485DFA5A7D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2BC70C35-8BA7-4D49-9AF7-DC36FAB8FDA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62591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 Gra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273238"/>
              </a:gs>
              <a:gs pos="100000">
                <a:srgbClr val="607D8B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273238"/>
                    </a:gs>
                    <a:gs pos="100000">
                      <a:srgbClr val="607D8B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EB45C91-0DA6-4973-9AEA-FF1388508ACC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F70CF6D9-DDB4-41AA-BB82-F8ED04AD8BC1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188163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row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E2622"/>
              </a:gs>
              <a:gs pos="100000">
                <a:srgbClr val="79554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E2622"/>
                    </a:gs>
                    <a:gs pos="100000">
                      <a:srgbClr val="79554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7E386D9D-B92A-4F40-9089-A1FD00CD387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A295F85-D43D-42E5-9539-A471116A43B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526240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Deep Pup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301B92"/>
              </a:gs>
              <a:gs pos="100000">
                <a:srgbClr val="673BB7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301B92"/>
                    </a:gs>
                    <a:gs pos="100000">
                      <a:srgbClr val="673BB7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BE300026-40E8-4FB1-998A-9CEB5F7A1B8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DB3B5E9B-B4F0-4E85-954A-F7CC04BBF24C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228099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0E47A1"/>
              </a:gs>
              <a:gs pos="100000">
                <a:srgbClr val="03A9F5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0E47A1"/>
                    </a:gs>
                    <a:gs pos="100000">
                      <a:srgbClr val="03A9F5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C3A13D11-EC6C-4E81-AD83-7AC73D273FD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5035EF3-F5FB-41C2-A0BE-B3AEF7556AB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2807558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B71B1C"/>
              </a:gs>
              <a:gs pos="100000">
                <a:srgbClr val="ED524F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B71B1C"/>
                    </a:gs>
                    <a:gs pos="100000">
                      <a:srgbClr val="ED524F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31" name="Picture 30">
            <a:extLst>
              <a:ext uri="{FF2B5EF4-FFF2-40B4-BE49-F238E27FC236}">
                <a16:creationId xmlns:a16="http://schemas.microsoft.com/office/drawing/2014/main" id="{77B7B864-C091-4493-B14B-F5B61B586EED}"/>
              </a:ext>
            </a:extLst>
          </p:cNvPr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4746" t="7575" r="25761" b="18186"/>
          <a:stretch>
            <a:fillRect/>
          </a:stretch>
        </p:blipFill>
        <p:spPr>
          <a:xfrm>
            <a:off x="356499" y="5214354"/>
            <a:ext cx="1354234" cy="1354234"/>
          </a:xfrm>
          <a:custGeom>
            <a:avLst/>
            <a:gdLst>
              <a:gd name="connsiteX0" fmla="*/ 2286000 w 4572000"/>
              <a:gd name="connsiteY0" fmla="*/ 0 h 4572000"/>
              <a:gd name="connsiteX1" fmla="*/ 4572000 w 4572000"/>
              <a:gd name="connsiteY1" fmla="*/ 2286000 h 4572000"/>
              <a:gd name="connsiteX2" fmla="*/ 2286000 w 4572000"/>
              <a:gd name="connsiteY2" fmla="*/ 4572000 h 4572000"/>
              <a:gd name="connsiteX3" fmla="*/ 0 w 4572000"/>
              <a:gd name="connsiteY3" fmla="*/ 2286000 h 4572000"/>
              <a:gd name="connsiteX4" fmla="*/ 2286000 w 4572000"/>
              <a:gd name="connsiteY4" fmla="*/ 0 h 4572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572000" h="4572000">
                <a:moveTo>
                  <a:pt x="2286000" y="0"/>
                </a:moveTo>
                <a:cubicBezTo>
                  <a:pt x="3548523" y="0"/>
                  <a:pt x="4572000" y="1023477"/>
                  <a:pt x="4572000" y="2286000"/>
                </a:cubicBezTo>
                <a:cubicBezTo>
                  <a:pt x="4572000" y="3548523"/>
                  <a:pt x="3548523" y="4572000"/>
                  <a:pt x="2286000" y="4572000"/>
                </a:cubicBezTo>
                <a:cubicBezTo>
                  <a:pt x="1023477" y="4572000"/>
                  <a:pt x="0" y="3548523"/>
                  <a:pt x="0" y="2286000"/>
                </a:cubicBezTo>
                <a:cubicBezTo>
                  <a:pt x="0" y="1023477"/>
                  <a:pt x="1023477" y="0"/>
                  <a:pt x="2286000" y="0"/>
                </a:cubicBezTo>
                <a:close/>
              </a:path>
            </a:pathLst>
          </a:custGeom>
          <a:noFill/>
          <a:ln w="6350">
            <a:solidFill>
              <a:schemeClr val="bg1">
                <a:lumMod val="65000"/>
              </a:schemeClr>
            </a:solidFill>
          </a:ln>
          <a:effectLst/>
        </p:spPr>
      </p:pic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177B86E9-222D-4757-BE64-59540DB794E6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1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8ABCD18B-D4E0-41E4-8162-7E83CB11DAE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131949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i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Picture 24">
            <a:extLst>
              <a:ext uri="{FF2B5EF4-FFF2-40B4-BE49-F238E27FC236}">
                <a16:creationId xmlns:a16="http://schemas.microsoft.com/office/drawing/2014/main" id="{292D9CA8-FA74-4E19-A847-B04F90FC15A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8750" b="25000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6A9211E-289E-4822-AE7F-7B95A873EBBD}"/>
              </a:ext>
            </a:extLst>
          </p:cNvPr>
          <p:cNvSpPr txBox="1"/>
          <p:nvPr userDrawn="1"/>
        </p:nvSpPr>
        <p:spPr>
          <a:xfrm>
            <a:off x="1837677" y="5802204"/>
            <a:ext cx="451437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dirty="0"/>
              <a:t>Darshan Institute of Engineering &amp; Technology, Rajkot</a:t>
            </a:r>
          </a:p>
        </p:txBody>
      </p:sp>
      <p:sp>
        <p:nvSpPr>
          <p:cNvPr id="22" name="Freeform 13">
            <a:extLst>
              <a:ext uri="{FF2B5EF4-FFF2-40B4-BE49-F238E27FC236}">
                <a16:creationId xmlns:a16="http://schemas.microsoft.com/office/drawing/2014/main" id="{EB889181-F145-4E62-A282-E5B77978D1F3}"/>
              </a:ext>
            </a:extLst>
          </p:cNvPr>
          <p:cNvSpPr>
            <a:spLocks/>
          </p:cNvSpPr>
          <p:nvPr userDrawn="1"/>
        </p:nvSpPr>
        <p:spPr bwMode="auto">
          <a:xfrm>
            <a:off x="2554514" y="1"/>
            <a:ext cx="5255702" cy="1335004"/>
          </a:xfrm>
          <a:custGeom>
            <a:avLst/>
            <a:gdLst>
              <a:gd name="T0" fmla="*/ 2048 w 2048"/>
              <a:gd name="T1" fmla="*/ 0 h 517"/>
              <a:gd name="T2" fmla="*/ 1934 w 2048"/>
              <a:gd name="T3" fmla="*/ 72 h 517"/>
              <a:gd name="T4" fmla="*/ 0 w 2048"/>
              <a:gd name="T5" fmla="*/ 0 h 517"/>
              <a:gd name="T6" fmla="*/ 2048 w 2048"/>
              <a:gd name="T7" fmla="*/ 0 h 517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517">
                <a:moveTo>
                  <a:pt x="2048" y="0"/>
                </a:moveTo>
                <a:cubicBezTo>
                  <a:pt x="2011" y="25"/>
                  <a:pt x="1973" y="49"/>
                  <a:pt x="1934" y="72"/>
                </a:cubicBezTo>
                <a:cubicBezTo>
                  <a:pt x="1177" y="517"/>
                  <a:pt x="332" y="480"/>
                  <a:pt x="0" y="0"/>
                </a:cubicBezTo>
                <a:lnTo>
                  <a:pt x="2048" y="0"/>
                </a:ln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 dirty="0"/>
          </a:p>
        </p:txBody>
      </p:sp>
      <p:sp>
        <p:nvSpPr>
          <p:cNvPr id="23" name="Freeform 17">
            <a:extLst>
              <a:ext uri="{FF2B5EF4-FFF2-40B4-BE49-F238E27FC236}">
                <a16:creationId xmlns:a16="http://schemas.microsoft.com/office/drawing/2014/main" id="{5E9DA42E-B221-4BBE-B651-F7171591BCD7}"/>
              </a:ext>
            </a:extLst>
          </p:cNvPr>
          <p:cNvSpPr>
            <a:spLocks/>
          </p:cNvSpPr>
          <p:nvPr userDrawn="1"/>
        </p:nvSpPr>
        <p:spPr bwMode="auto">
          <a:xfrm>
            <a:off x="0" y="5905331"/>
            <a:ext cx="1901425" cy="952668"/>
          </a:xfrm>
          <a:custGeom>
            <a:avLst/>
            <a:gdLst>
              <a:gd name="T0" fmla="*/ 2048 w 2048"/>
              <a:gd name="T1" fmla="*/ 1024 h 1024"/>
              <a:gd name="T2" fmla="*/ 0 w 2048"/>
              <a:gd name="T3" fmla="*/ 1024 h 1024"/>
              <a:gd name="T4" fmla="*/ 0 w 2048"/>
              <a:gd name="T5" fmla="*/ 0 h 1024"/>
              <a:gd name="T6" fmla="*/ 2048 w 2048"/>
              <a:gd name="T7" fmla="*/ 1024 h 102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2048" h="1024">
                <a:moveTo>
                  <a:pt x="2048" y="1024"/>
                </a:moveTo>
                <a:cubicBezTo>
                  <a:pt x="0" y="1024"/>
                  <a:pt x="0" y="1024"/>
                  <a:pt x="0" y="1024"/>
                </a:cubicBezTo>
                <a:cubicBezTo>
                  <a:pt x="0" y="0"/>
                  <a:pt x="0" y="0"/>
                  <a:pt x="0" y="0"/>
                </a:cubicBezTo>
                <a:cubicBezTo>
                  <a:pt x="880" y="66"/>
                  <a:pt x="1621" y="411"/>
                  <a:pt x="2048" y="1024"/>
                </a:cubicBezTo>
                <a:close/>
              </a:path>
            </a:pathLst>
          </a:custGeom>
          <a:gradFill>
            <a:gsLst>
              <a:gs pos="10000">
                <a:srgbClr val="890E4F"/>
              </a:gs>
              <a:gs pos="100000">
                <a:srgbClr val="D81A60"/>
              </a:gs>
            </a:gsLst>
            <a:lin ang="10800000" scaled="1"/>
          </a:gra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endParaRPr lang="en-US"/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73D6466C-3EE8-434C-B5AB-98205AEEA67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print">
            <a:duotone>
              <a:schemeClr val="bg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08334" y="4602222"/>
            <a:ext cx="3383666" cy="2255777"/>
          </a:xfrm>
          <a:prstGeom prst="rect">
            <a:avLst/>
          </a:prstGeom>
        </p:spPr>
      </p:pic>
      <p:pic>
        <p:nvPicPr>
          <p:cNvPr id="33" name="Picture 32">
            <a:extLst>
              <a:ext uri="{FF2B5EF4-FFF2-40B4-BE49-F238E27FC236}">
                <a16:creationId xmlns:a16="http://schemas.microsoft.com/office/drawing/2014/main" id="{3CAA64A4-91BA-448F-9474-7895F9C6DBD1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0861" y="2096941"/>
            <a:ext cx="2813885" cy="2119207"/>
          </a:xfrm>
          <a:prstGeom prst="rect">
            <a:avLst/>
          </a:prstGeom>
        </p:spPr>
      </p:pic>
      <p:cxnSp>
        <p:nvCxnSpPr>
          <p:cNvPr id="45" name="Straight Connector 44">
            <a:extLst>
              <a:ext uri="{FF2B5EF4-FFF2-40B4-BE49-F238E27FC236}">
                <a16:creationId xmlns:a16="http://schemas.microsoft.com/office/drawing/2014/main" id="{E79C5D16-8087-4587-9A0A-A0570C73E0E7}"/>
              </a:ext>
            </a:extLst>
          </p:cNvPr>
          <p:cNvCxnSpPr/>
          <p:nvPr/>
        </p:nvCxnSpPr>
        <p:spPr>
          <a:xfrm>
            <a:off x="1926694" y="6124097"/>
            <a:ext cx="4356000" cy="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itle 1">
            <a:extLst>
              <a:ext uri="{FF2B5EF4-FFF2-40B4-BE49-F238E27FC236}">
                <a16:creationId xmlns:a16="http://schemas.microsoft.com/office/drawing/2014/main" id="{A73F48F6-739E-4659-B107-DABA716A2F34}"/>
              </a:ext>
            </a:extLst>
          </p:cNvPr>
          <p:cNvSpPr>
            <a:spLocks noGrp="1"/>
          </p:cNvSpPr>
          <p:nvPr userDrawn="1">
            <p:ph type="ctrTitle"/>
          </p:nvPr>
        </p:nvSpPr>
        <p:spPr>
          <a:xfrm>
            <a:off x="559490" y="1122364"/>
            <a:ext cx="7035300" cy="2578780"/>
          </a:xfrm>
        </p:spPr>
        <p:txBody>
          <a:bodyPr wrap="square" anchor="t">
            <a:noAutofit/>
          </a:bodyPr>
          <a:lstStyle>
            <a:lvl1pPr algn="l">
              <a:defRPr lang="en-US" sz="6600" b="1" kern="1200" dirty="0">
                <a:solidFill>
                  <a:schemeClr val="tx1">
                    <a:lumMod val="90000"/>
                    <a:lumOff val="10000"/>
                  </a:schemeClr>
                </a:solidFill>
                <a:effectLst>
                  <a:outerShdw blurRad="50800" dist="38100" dir="2700000" algn="tl" rotWithShape="0">
                    <a:prstClr val="black">
                      <a:alpha val="40000"/>
                    </a:prstClr>
                  </a:outerShdw>
                </a:effectLst>
                <a:latin typeface="+mj-lt"/>
                <a:ea typeface="Segoe UI Black" panose="020B0A02040204020203" pitchFamily="34" charset="0"/>
                <a:cs typeface="+mn-cs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9812EDA6-C656-492A-A9CA-44B03C639132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232297"/>
            <a:ext cx="182880" cy="182880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627AEF91-6492-4B0C-A844-2296473B58DE}"/>
              </a:ext>
            </a:extLst>
          </p:cNvPr>
          <p:cNvPicPr>
            <a:picLocks noChangeAspect="1"/>
          </p:cNvPicPr>
          <p:nvPr userDrawn="1"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98063" y="6505320"/>
            <a:ext cx="182880" cy="182880"/>
          </a:xfrm>
          <a:prstGeom prst="rect">
            <a:avLst/>
          </a:prstGeom>
        </p:spPr>
      </p:pic>
      <p:sp>
        <p:nvSpPr>
          <p:cNvPr id="28" name="Text Placeholder 2">
            <a:extLst>
              <a:ext uri="{FF2B5EF4-FFF2-40B4-BE49-F238E27FC236}">
                <a16:creationId xmlns:a16="http://schemas.microsoft.com/office/drawing/2014/main" id="{828AA7FF-D902-41DB-A12A-45135201E8C2}"/>
              </a:ext>
            </a:extLst>
          </p:cNvPr>
          <p:cNvSpPr>
            <a:spLocks noGrp="1"/>
          </p:cNvSpPr>
          <p:nvPr userDrawn="1">
            <p:ph type="body" sz="quarter" idx="11" hasCustomPrompt="1"/>
          </p:nvPr>
        </p:nvSpPr>
        <p:spPr>
          <a:xfrm>
            <a:off x="2180943" y="6175935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Email Address</a:t>
            </a:r>
          </a:p>
        </p:txBody>
      </p:sp>
      <p:sp>
        <p:nvSpPr>
          <p:cNvPr id="29" name="Text Placeholder 2">
            <a:extLst>
              <a:ext uri="{FF2B5EF4-FFF2-40B4-BE49-F238E27FC236}">
                <a16:creationId xmlns:a16="http://schemas.microsoft.com/office/drawing/2014/main" id="{F1EDDD62-43C6-4DEE-BBD9-CD0004E7EB03}"/>
              </a:ext>
            </a:extLst>
          </p:cNvPr>
          <p:cNvSpPr>
            <a:spLocks noGrp="1"/>
          </p:cNvSpPr>
          <p:nvPr userDrawn="1">
            <p:ph type="body" sz="quarter" idx="12" hasCustomPrompt="1"/>
          </p:nvPr>
        </p:nvSpPr>
        <p:spPr>
          <a:xfrm>
            <a:off x="2183874" y="646021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b="0" kern="1200" baseline="0" dirty="0">
                <a:solidFill>
                  <a:schemeClr val="tx1"/>
                </a:solidFill>
                <a:latin typeface="Roboto Condensed Light" panose="02000000000000000000" pitchFamily="2" charset="0"/>
                <a:ea typeface="Roboto Condensed Light" panose="02000000000000000000" pitchFamily="2" charset="0"/>
                <a:cs typeface="+mn-cs"/>
              </a:defRPr>
            </a:lvl1pPr>
          </a:lstStyle>
          <a:p>
            <a:pPr lvl="0"/>
            <a:r>
              <a:rPr lang="en-US" dirty="0"/>
              <a:t>Click to edit Phone No.</a:t>
            </a:r>
          </a:p>
        </p:txBody>
      </p:sp>
      <p:sp>
        <p:nvSpPr>
          <p:cNvPr id="40" name="Text Placeholder 2">
            <a:extLst>
              <a:ext uri="{FF2B5EF4-FFF2-40B4-BE49-F238E27FC236}">
                <a16:creationId xmlns:a16="http://schemas.microsoft.com/office/drawing/2014/main" id="{A2C7AAB1-B948-41DB-961F-028BB57DF573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37678" y="5537768"/>
            <a:ext cx="3735998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6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Department Name</a:t>
            </a:r>
          </a:p>
        </p:txBody>
      </p:sp>
      <p:sp>
        <p:nvSpPr>
          <p:cNvPr id="53" name="Text Placeholder 2">
            <a:extLst>
              <a:ext uri="{FF2B5EF4-FFF2-40B4-BE49-F238E27FC236}">
                <a16:creationId xmlns:a16="http://schemas.microsoft.com/office/drawing/2014/main" id="{C96060B2-EF39-4FB2-9CFA-77C6391DCF8F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1837677" y="5273332"/>
            <a:ext cx="5581039" cy="290081"/>
          </a:xfrm>
        </p:spPr>
        <p:txBody>
          <a:bodyPr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1" kern="1200" dirty="0">
                <a:gradFill flip="none" rotWithShape="1">
                  <a:gsLst>
                    <a:gs pos="10000">
                      <a:srgbClr val="890E4F"/>
                    </a:gs>
                    <a:gs pos="100000">
                      <a:srgbClr val="D81A60"/>
                    </a:gs>
                  </a:gsLst>
                  <a:lin ang="0" scaled="1"/>
                  <a:tileRect/>
                </a:gradFill>
                <a:effectLst/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here your Author Name (i.e. Prof. Jay R </a:t>
            </a:r>
            <a:r>
              <a:rPr lang="en-US" dirty="0" err="1"/>
              <a:t>Dhamsaniya</a:t>
            </a:r>
            <a:r>
              <a:rPr lang="en-US" dirty="0"/>
              <a:t>)</a:t>
            </a:r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1917B14A-5130-41DB-8F00-6C6611C994DF}"/>
              </a:ext>
            </a:extLst>
          </p:cNvPr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95842" y="307556"/>
            <a:ext cx="3573889" cy="821995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34C1356C-E4AA-4B27-A93C-BE84F5D9C60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8" cstate="print">
            <a:extLst>
              <a:ext uri="{BEBA8EAE-BF5A-486C-A8C5-ECC9F3942E4B}">
                <a14:imgProps xmlns:a14="http://schemas.microsoft.com/office/drawing/2010/main">
                  <a14:imgLayer r:embed="rId9">
                    <a14:imgEffect>
                      <a14:brightnessContrast contrast="-4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rcRect l="62023" t="18062" r="2731" b="17724"/>
          <a:stretch/>
        </p:blipFill>
        <p:spPr>
          <a:xfrm>
            <a:off x="63248" y="837717"/>
            <a:ext cx="1087893" cy="772151"/>
          </a:xfrm>
          <a:prstGeom prst="rect">
            <a:avLst/>
          </a:prstGeom>
        </p:spPr>
      </p:pic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070A7F06-98AB-45B4-A79D-A6DF8C25DC8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581756" y="20384"/>
            <a:ext cx="4646358" cy="734653"/>
          </a:xfrm>
        </p:spPr>
        <p:txBody>
          <a:bodyPr anchor="ctr">
            <a:noAutofit/>
          </a:bodyPr>
          <a:lstStyle>
            <a:lvl1pPr mar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1800" b="0" kern="1200" dirty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</a:lstStyle>
          <a:p>
            <a:pPr lvl="0"/>
            <a:r>
              <a:rPr lang="en-US" dirty="0"/>
              <a:t>Write Subject Name (Short Name)</a:t>
            </a:r>
          </a:p>
          <a:p>
            <a:pPr lvl="0"/>
            <a:r>
              <a:rPr lang="en-US" dirty="0"/>
              <a:t>GTU # Subject Code</a:t>
            </a:r>
          </a:p>
        </p:txBody>
      </p:sp>
      <p:pic>
        <p:nvPicPr>
          <p:cNvPr id="21" name="Picture 20" descr="User icon Royalty Free Vector Image - VectorStock">
            <a:extLst>
              <a:ext uri="{FF2B5EF4-FFF2-40B4-BE49-F238E27FC236}">
                <a16:creationId xmlns:a16="http://schemas.microsoft.com/office/drawing/2014/main" id="{A2F1AAAC-C051-4A31-837B-4A9977722A44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10" cstate="print">
            <a:lum bright="70000" contrast="-7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30" t="21389" r="26030" b="34222"/>
          <a:stretch>
            <a:fillRect/>
          </a:stretch>
        </p:blipFill>
        <p:spPr bwMode="auto">
          <a:xfrm>
            <a:off x="353568" y="5211250"/>
            <a:ext cx="1353600" cy="1353600"/>
          </a:xfrm>
          <a:custGeom>
            <a:avLst/>
            <a:gdLst>
              <a:gd name="connsiteX0" fmla="*/ 1522095 w 3044190"/>
              <a:gd name="connsiteY0" fmla="*/ 0 h 3044190"/>
              <a:gd name="connsiteX1" fmla="*/ 3044190 w 3044190"/>
              <a:gd name="connsiteY1" fmla="*/ 1522095 h 3044190"/>
              <a:gd name="connsiteX2" fmla="*/ 1522095 w 3044190"/>
              <a:gd name="connsiteY2" fmla="*/ 3044190 h 3044190"/>
              <a:gd name="connsiteX3" fmla="*/ 0 w 3044190"/>
              <a:gd name="connsiteY3" fmla="*/ 1522095 h 3044190"/>
              <a:gd name="connsiteX4" fmla="*/ 1522095 w 3044190"/>
              <a:gd name="connsiteY4" fmla="*/ 0 h 30441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044190" h="3044190">
                <a:moveTo>
                  <a:pt x="1522095" y="0"/>
                </a:moveTo>
                <a:cubicBezTo>
                  <a:pt x="2362725" y="0"/>
                  <a:pt x="3044190" y="681465"/>
                  <a:pt x="3044190" y="1522095"/>
                </a:cubicBezTo>
                <a:cubicBezTo>
                  <a:pt x="3044190" y="2362725"/>
                  <a:pt x="2362725" y="3044190"/>
                  <a:pt x="1522095" y="3044190"/>
                </a:cubicBezTo>
                <a:cubicBezTo>
                  <a:pt x="681465" y="3044190"/>
                  <a:pt x="0" y="2362725"/>
                  <a:pt x="0" y="1522095"/>
                </a:cubicBezTo>
                <a:cubicBezTo>
                  <a:pt x="0" y="681465"/>
                  <a:pt x="681465" y="0"/>
                  <a:pt x="1522095" y="0"/>
                </a:cubicBezTo>
                <a:close/>
              </a:path>
            </a:pathLst>
          </a:custGeom>
          <a:noFill/>
          <a:ln w="12700">
            <a:solidFill>
              <a:schemeClr val="bg1">
                <a:lumMod val="7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Picture Placeholder 29">
            <a:extLst>
              <a:ext uri="{FF2B5EF4-FFF2-40B4-BE49-F238E27FC236}">
                <a16:creationId xmlns:a16="http://schemas.microsoft.com/office/drawing/2014/main" id="{ADF34BDA-AFB4-4120-81EF-C0AB56D388C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353569" y="5211251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  <p:txBody>
          <a:bodyPr wrap="square">
            <a:noAutofit/>
          </a:bodyPr>
          <a:lstStyle>
            <a:lvl1pPr>
              <a:defRPr sz="18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0502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BF5063B-909B-4A7F-B502-7802280439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27DDF1-16E2-4622-B8FD-0148CD5CE0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7EA166-F18A-4D32-AA1F-AE475D49103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CD21B45-1703-4330-B544-825BD8F37AF2}" type="datetimeFigureOut">
              <a:rPr lang="en-US" smtClean="0"/>
              <a:t>12/10/2024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05C5379-5B41-4775-9279-F9F7608E662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1A4B342-6FD5-4BB7-B9AE-3C5081C089F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1F3C7-36DD-4595-AA08-2525D86280B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195466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92" r:id="rId2"/>
    <p:sldLayoutId id="2147483670" r:id="rId3"/>
    <p:sldLayoutId id="2147483687" r:id="rId4"/>
    <p:sldLayoutId id="2147483688" r:id="rId5"/>
    <p:sldLayoutId id="2147483671" r:id="rId6"/>
    <p:sldLayoutId id="2147483672" r:id="rId7"/>
    <p:sldLayoutId id="2147483689" r:id="rId8"/>
    <p:sldLayoutId id="2147483690" r:id="rId9"/>
    <p:sldLayoutId id="2147483673" r:id="rId10"/>
    <p:sldLayoutId id="2147483691" r:id="rId11"/>
    <p:sldLayoutId id="2147483674" r:id="rId12"/>
    <p:sldLayoutId id="2147483676" r:id="rId13"/>
    <p:sldLayoutId id="2147483677" r:id="rId14"/>
    <p:sldLayoutId id="2147483678" r:id="rId15"/>
    <p:sldLayoutId id="2147483679" r:id="rId16"/>
    <p:sldLayoutId id="2147483681" r:id="rId17"/>
    <p:sldLayoutId id="2147483683" r:id="rId18"/>
    <p:sldLayoutId id="2147483682" r:id="rId19"/>
    <p:sldLayoutId id="2147483684" r:id="rId20"/>
    <p:sldLayoutId id="2147483685" r:id="rId21"/>
    <p:sldLayoutId id="2147483686" r:id="rId2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0.emf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jpeg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sv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4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4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8.jpeg"/><Relationship Id="rId1" Type="http://schemas.openxmlformats.org/officeDocument/2006/relationships/slideLayout" Target="../slideLayouts/slideLayout4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0A5353-D4D5-43D7-A039-6CFC6871D64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91374" y="1019474"/>
            <a:ext cx="7060510" cy="2497450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0"/>
              </a:spcBef>
            </a:pPr>
            <a:r>
              <a:rPr lang="en-US" sz="4800" b="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Unit-1</a:t>
            </a:r>
            <a:r>
              <a:rPr lang="en-US" dirty="0"/>
              <a:t> </a:t>
            </a:r>
            <a:br>
              <a:rPr lang="en-US" dirty="0"/>
            </a:br>
            <a:r>
              <a:rPr lang="en-US" sz="4800" b="0" dirty="0"/>
              <a:t>Introduction to </a:t>
            </a:r>
            <a:r>
              <a:rPr lang="en-US" sz="4800" dirty="0"/>
              <a:t>Machine Learning </a:t>
            </a:r>
          </a:p>
          <a:p>
            <a:pPr>
              <a:lnSpc>
                <a:spcPct val="100000"/>
              </a:lnSpc>
              <a:spcBef>
                <a:spcPts val="0"/>
              </a:spcBef>
            </a:pP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4D4005A-4647-4086-9144-7BCC7DFEFB1B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/>
        <p:txBody>
          <a:bodyPr/>
          <a:lstStyle/>
          <a:p>
            <a:r>
              <a:rPr lang="en-US" dirty="0" err="1"/>
              <a:t>jayesh.vagadiya@darshan.ac.in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F817D43-889A-4049-ACFD-9B3B648B6A91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/>
        <p:txBody>
          <a:bodyPr/>
          <a:lstStyle/>
          <a:p>
            <a:r>
              <a:rPr lang="en-US" dirty="0"/>
              <a:t>9537133260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786D614-6447-4787-8025-9C902A1B734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837678" y="5546560"/>
            <a:ext cx="3735998" cy="290081"/>
          </a:xfrm>
        </p:spPr>
        <p:txBody>
          <a:bodyPr/>
          <a:lstStyle/>
          <a:p>
            <a:r>
              <a:rPr lang="en-US" dirty="0"/>
              <a:t>Computer Engineering Department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F7AB9BC-FE08-46B2-A19C-803CB5DF0CD1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dirty="0"/>
              <a:t>Prof. Jayesh D. </a:t>
            </a:r>
            <a:r>
              <a:rPr lang="en-US" dirty="0" err="1"/>
              <a:t>vagadiya</a:t>
            </a:r>
            <a:endParaRPr lang="en-US" dirty="0"/>
          </a:p>
        </p:txBody>
      </p:sp>
      <p:sp>
        <p:nvSpPr>
          <p:cNvPr id="1027" name="Text Placeholder 1026">
            <a:extLst>
              <a:ext uri="{FF2B5EF4-FFF2-40B4-BE49-F238E27FC236}">
                <a16:creationId xmlns:a16="http://schemas.microsoft.com/office/drawing/2014/main" id="{D1F0AA94-EAF3-4868-942A-0125EFC5C764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sz="2000" b="1" dirty="0"/>
              <a:t>Machine Learning </a:t>
            </a:r>
            <a:r>
              <a:rPr lang="en-US" sz="2000" dirty="0">
                <a:latin typeface="Roboto Condensed Light" panose="02000000000000000000" pitchFamily="2" charset="0"/>
                <a:ea typeface="Roboto Condensed Light" panose="02000000000000000000" pitchFamily="2" charset="0"/>
              </a:rPr>
              <a:t>(ML)</a:t>
            </a:r>
          </a:p>
          <a:p>
            <a:pPr>
              <a:lnSpc>
                <a:spcPct val="100000"/>
              </a:lnSpc>
            </a:pPr>
            <a:r>
              <a:rPr lang="en-IN" sz="1800" dirty="0">
                <a:effectLst/>
                <a:latin typeface="Calibri" panose="020F0502020204030204" pitchFamily="34" charset="0"/>
                <a:ea typeface="Calibri" panose="020F0502020204030204" pitchFamily="34" charset="0"/>
              </a:rPr>
              <a:t>2301CS621 </a:t>
            </a:r>
            <a:r>
              <a:rPr lang="en-IN" sz="2000" dirty="0">
                <a:effectLst/>
              </a:rPr>
              <a:t> </a:t>
            </a:r>
            <a:endParaRPr lang="en-US" sz="2000" dirty="0">
              <a:latin typeface="Roboto Condensed Light" panose="02000000000000000000" pitchFamily="2" charset="0"/>
              <a:ea typeface="Roboto Condensed Light" panose="02000000000000000000" pitchFamily="2" charset="0"/>
            </a:endParaRPr>
          </a:p>
        </p:txBody>
      </p:sp>
      <p:sp>
        <p:nvSpPr>
          <p:cNvPr id="11" name="AutoShape 3">
            <a:extLst>
              <a:ext uri="{FF2B5EF4-FFF2-40B4-BE49-F238E27FC236}">
                <a16:creationId xmlns:a16="http://schemas.microsoft.com/office/drawing/2014/main" id="{3D1B70E7-2396-452E-A00A-D1D4AA1E56DF}"/>
              </a:ext>
            </a:extLst>
          </p:cNvPr>
          <p:cNvSpPr>
            <a:spLocks noChangeAspect="1" noChangeArrowheads="1" noTextEdit="1"/>
          </p:cNvSpPr>
          <p:nvPr/>
        </p:nvSpPr>
        <p:spPr bwMode="auto">
          <a:xfrm>
            <a:off x="5573676" y="-3055324"/>
            <a:ext cx="7721600" cy="145732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7453A6AA-5BE7-25F7-2841-55E5AC4CF8F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/>
      </p:sp>
      <p:pic>
        <p:nvPicPr>
          <p:cNvPr id="9" name="Picture Placeholder 4">
            <a:extLst>
              <a:ext uri="{FF2B5EF4-FFF2-40B4-BE49-F238E27FC236}">
                <a16:creationId xmlns:a16="http://schemas.microsoft.com/office/drawing/2014/main" id="{C9D17E62-5C4C-182E-001B-DBEFCFD2D429}"/>
              </a:ext>
            </a:extLst>
          </p:cNvPr>
          <p:cNvPicPr>
            <a:picLocks noChangeAspect="1"/>
          </p:cNvPicPr>
          <p:nvPr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353569" y="5211250"/>
            <a:ext cx="1353599" cy="1353599"/>
          </a:xfrm>
          <a:custGeom>
            <a:avLst/>
            <a:gdLst>
              <a:gd name="connsiteX0" fmla="*/ 1945481 w 3890962"/>
              <a:gd name="connsiteY0" fmla="*/ 0 h 3890962"/>
              <a:gd name="connsiteX1" fmla="*/ 3890962 w 3890962"/>
              <a:gd name="connsiteY1" fmla="*/ 1945481 h 3890962"/>
              <a:gd name="connsiteX2" fmla="*/ 1945481 w 3890962"/>
              <a:gd name="connsiteY2" fmla="*/ 3890962 h 3890962"/>
              <a:gd name="connsiteX3" fmla="*/ 0 w 3890962"/>
              <a:gd name="connsiteY3" fmla="*/ 1945481 h 3890962"/>
              <a:gd name="connsiteX4" fmla="*/ 1945481 w 3890962"/>
              <a:gd name="connsiteY4" fmla="*/ 0 h 38909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890962" h="3890962">
                <a:moveTo>
                  <a:pt x="1945481" y="0"/>
                </a:moveTo>
                <a:cubicBezTo>
                  <a:pt x="3019940" y="0"/>
                  <a:pt x="3890962" y="871022"/>
                  <a:pt x="3890962" y="1945481"/>
                </a:cubicBezTo>
                <a:cubicBezTo>
                  <a:pt x="3890962" y="3019940"/>
                  <a:pt x="3019940" y="3890962"/>
                  <a:pt x="1945481" y="3890962"/>
                </a:cubicBezTo>
                <a:cubicBezTo>
                  <a:pt x="871022" y="3890962"/>
                  <a:pt x="0" y="3019940"/>
                  <a:pt x="0" y="1945481"/>
                </a:cubicBezTo>
                <a:cubicBezTo>
                  <a:pt x="0" y="871022"/>
                  <a:pt x="871022" y="0"/>
                  <a:pt x="1945481" y="0"/>
                </a:cubicBezTo>
                <a:close/>
              </a:path>
            </a:pathLst>
          </a:custGeom>
          <a:ln>
            <a:solidFill>
              <a:schemeClr val="bg1">
                <a:lumMod val="65000"/>
              </a:schemeClr>
            </a:solidFill>
          </a:ln>
        </p:spPr>
      </p:pic>
    </p:spTree>
    <p:extLst>
      <p:ext uri="{BB962C8B-B14F-4D97-AF65-F5344CB8AC3E}">
        <p14:creationId xmlns:p14="http://schemas.microsoft.com/office/powerpoint/2010/main" val="6610019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D9EBF344-4A7B-4C4A-AF6D-6441BD040AB3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91446" y="0"/>
            <a:ext cx="0" cy="682906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CA925EF2-D58F-4AC0-ACED-F747CC08D69F}"/>
              </a:ext>
            </a:extLst>
          </p:cNvPr>
          <p:cNvCxnSpPr>
            <a:cxnSpLocks/>
          </p:cNvCxnSpPr>
          <p:nvPr/>
        </p:nvCxnSpPr>
        <p:spPr>
          <a:xfrm>
            <a:off x="1191446" y="5063613"/>
            <a:ext cx="0" cy="179438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4BD1E24D-7739-4C4F-8234-2614FB54ADBC}"/>
              </a:ext>
            </a:extLst>
          </p:cNvPr>
          <p:cNvSpPr/>
          <p:nvPr/>
        </p:nvSpPr>
        <p:spPr>
          <a:xfrm>
            <a:off x="954165" y="682906"/>
            <a:ext cx="474562" cy="474562"/>
          </a:xfrm>
          <a:prstGeom prst="ellipse">
            <a:avLst/>
          </a:prstGeom>
          <a:solidFill>
            <a:schemeClr val="tx2"/>
          </a:solidFill>
          <a:ln>
            <a:solidFill>
              <a:schemeClr val="bg1">
                <a:lumMod val="65000"/>
              </a:schemeClr>
            </a:solidFill>
          </a:ln>
        </p:spPr>
        <p:style>
          <a:lnRef idx="2">
            <a:schemeClr val="accent3">
              <a:shade val="50000"/>
            </a:schemeClr>
          </a:lnRef>
          <a:fillRef idx="1">
            <a:schemeClr val="accent3"/>
          </a:fillRef>
          <a:effectRef idx="0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ym typeface="Wingdings 2" panose="05020102010507070707" pitchFamily="18" charset="2"/>
              </a:rPr>
              <a:t></a:t>
            </a:r>
            <a:endParaRPr lang="en-US" sz="2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0F422F9-3B3A-4A97-ADB3-F83B13E11C16}"/>
              </a:ext>
            </a:extLst>
          </p:cNvPr>
          <p:cNvSpPr txBox="1"/>
          <p:nvPr/>
        </p:nvSpPr>
        <p:spPr>
          <a:xfrm>
            <a:off x="1527893" y="720132"/>
            <a:ext cx="117532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dirty="0">
                <a:solidFill>
                  <a:schemeClr val="bg1"/>
                </a:solidFill>
              </a:rPr>
              <a:t>Looping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34260FD-CAA3-43A0-977C-7E4B57013872}"/>
              </a:ext>
            </a:extLst>
          </p:cNvPr>
          <p:cNvCxnSpPr>
            <a:cxnSpLocks/>
          </p:cNvCxnSpPr>
          <p:nvPr/>
        </p:nvCxnSpPr>
        <p:spPr>
          <a:xfrm>
            <a:off x="1191446" y="1157468"/>
            <a:ext cx="0" cy="3979075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BDA2F9A4-6988-4274-8384-12496EC9D59D}"/>
              </a:ext>
            </a:extLst>
          </p:cNvPr>
          <p:cNvSpPr txBox="1"/>
          <p:nvPr/>
        </p:nvSpPr>
        <p:spPr>
          <a:xfrm>
            <a:off x="1458963" y="731706"/>
            <a:ext cx="8810452" cy="67095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/>
              <a:t>Topics to be covered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Motivation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Machine Learning - Statistic/Insight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Machine Learning - Big Picture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Traditional Programing Vs Machine Learning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Why Use Machine Learning?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When to Use Machine Learning ?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ML Terminology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Machine Learning Project life cycle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Classification of ML Techniques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Type of Machine Learning Algorithms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100" dirty="0">
                <a:solidFill>
                  <a:schemeClr val="accent6"/>
                </a:solidFill>
              </a:rPr>
              <a:t>Main Challenges of Machine Learning</a:t>
            </a: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accent6"/>
              </a:solidFill>
            </a:endParaRPr>
          </a:p>
          <a:p>
            <a:pPr marL="742950" lvl="1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endParaRPr lang="en-US" sz="2100" dirty="0">
              <a:solidFill>
                <a:schemeClr val="accent6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16305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506B63-A9D2-7DEC-3344-4E0751BD16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– Market size	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1DE00636-BC7A-D171-87D9-C43D4A3A9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7467" y="1025164"/>
            <a:ext cx="8235244" cy="509396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5A838578-72A7-B423-5C30-CC06016C4C9C}"/>
              </a:ext>
            </a:extLst>
          </p:cNvPr>
          <p:cNvSpPr txBox="1"/>
          <p:nvPr/>
        </p:nvSpPr>
        <p:spPr>
          <a:xfrm>
            <a:off x="897467" y="6119129"/>
            <a:ext cx="721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Ref:https</a:t>
            </a:r>
            <a:r>
              <a:rPr lang="en-US" sz="1100" dirty="0"/>
              <a:t>://</a:t>
            </a:r>
            <a:r>
              <a:rPr lang="en-US" sz="1100" dirty="0" err="1"/>
              <a:t>www.statista.com</a:t>
            </a:r>
            <a:r>
              <a:rPr lang="en-US" sz="1100" dirty="0"/>
              <a:t>/outlook/</a:t>
            </a:r>
            <a:r>
              <a:rPr lang="en-US" sz="1100" dirty="0" err="1"/>
              <a:t>tmo</a:t>
            </a:r>
            <a:r>
              <a:rPr lang="en-US" sz="1100" dirty="0"/>
              <a:t>/artificial-intelligence/machine-learning/</a:t>
            </a:r>
            <a:r>
              <a:rPr lang="en-US" sz="1100" dirty="0" err="1"/>
              <a:t>worldwide#global-comparison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26032334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1D082A-336F-5092-6077-CA218BE669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– Market size share by industry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8566AA-DBA5-7F76-18D0-F754815C386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284" y="908620"/>
            <a:ext cx="8183738" cy="5307532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ABC8E21-2D71-230B-89DA-6E9944FC3259}"/>
              </a:ext>
            </a:extLst>
          </p:cNvPr>
          <p:cNvSpPr txBox="1"/>
          <p:nvPr/>
        </p:nvSpPr>
        <p:spPr>
          <a:xfrm>
            <a:off x="452261" y="6282766"/>
            <a:ext cx="7219244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 err="1"/>
              <a:t>Ref:https</a:t>
            </a:r>
            <a:r>
              <a:rPr lang="en-US" sz="1100" dirty="0"/>
              <a:t>://</a:t>
            </a:r>
            <a:r>
              <a:rPr lang="en-US" sz="1100" dirty="0" err="1"/>
              <a:t>www.statista.com</a:t>
            </a:r>
            <a:r>
              <a:rPr lang="en-US" sz="1100" dirty="0"/>
              <a:t>/outlook/</a:t>
            </a:r>
            <a:r>
              <a:rPr lang="en-US" sz="1100" dirty="0" err="1"/>
              <a:t>tmo</a:t>
            </a:r>
            <a:r>
              <a:rPr lang="en-US" sz="1100" dirty="0"/>
              <a:t>/artificial-intelligence/machine-learning/</a:t>
            </a:r>
            <a:r>
              <a:rPr lang="en-US" sz="1100" dirty="0" err="1"/>
              <a:t>worldwide#global-comparison</a:t>
            </a:r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31407333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B4ED99-554D-6312-88B3-96205296AC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- Statistic/Insight</a:t>
            </a:r>
          </a:p>
        </p:txBody>
      </p: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5BE5B6C8-DFE1-B555-25A8-198F8B18A9B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27910685"/>
              </p:ext>
            </p:extLst>
          </p:nvPr>
        </p:nvGraphicFramePr>
        <p:xfrm>
          <a:off x="327378" y="968021"/>
          <a:ext cx="9787466" cy="4924838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2455895">
                  <a:extLst>
                    <a:ext uri="{9D8B030D-6E8A-4147-A177-3AD203B41FA5}">
                      <a16:colId xmlns:a16="http://schemas.microsoft.com/office/drawing/2014/main" val="3567681047"/>
                    </a:ext>
                  </a:extLst>
                </a:gridCol>
                <a:gridCol w="7331571">
                  <a:extLst>
                    <a:ext uri="{9D8B030D-6E8A-4147-A177-3AD203B41FA5}">
                      <a16:colId xmlns:a16="http://schemas.microsoft.com/office/drawing/2014/main" val="2631472704"/>
                    </a:ext>
                  </a:extLst>
                </a:gridCol>
              </a:tblGrid>
              <a:tr h="5440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Category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>
                              <a:lumMod val="90000"/>
                              <a:lumOff val="10000"/>
                            </a:schemeClr>
                          </a:solidFill>
                        </a:rPr>
                        <a:t>Statistic/Insight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919435"/>
                  </a:ext>
                </a:extLst>
              </a:tr>
              <a:tr h="544096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Adoption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48% of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businesses globally use machine learning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41952"/>
                  </a:ext>
                </a:extLst>
              </a:tr>
              <a:tr h="734147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Use Cases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- 57% of companies use machine learning to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improve the consumer experience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</a:p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- 49% use it for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marketing and sales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519469"/>
                  </a:ext>
                </a:extLst>
              </a:tr>
              <a:tr h="54409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Market Growth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The machine learning market is expected to grow at a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CAGR of 38.8% 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from 2022 to 2029.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57825884"/>
                  </a:ext>
                </a:extLst>
              </a:tr>
              <a:tr h="734147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Employment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Employment opportunities for machine learning engineers are expected to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grow at a rate of 22% 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globally from 2020 to 2030.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899173383"/>
                  </a:ext>
                </a:extLst>
              </a:tr>
              <a:tr h="54409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AI Adoption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91.5% of top companies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invest in artificial intelligence.</a:t>
                      </a:r>
                      <a:endParaRPr lang="en-US" dirty="0">
                        <a:solidFill>
                          <a:srgbClr val="C0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45738412"/>
                  </a:ext>
                </a:extLst>
              </a:tr>
              <a:tr h="54409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AI in Financial Services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IBM identifies financial services as the </a:t>
                      </a:r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leading sector for AI adoption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1949535"/>
                  </a:ext>
                </a:extLst>
              </a:tr>
              <a:tr h="544096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Process Automation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rgbClr val="C00000"/>
                          </a:solidFill>
                          <a:effectLst/>
                        </a:rPr>
                        <a:t>Process automation </a:t>
                      </a:r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is the most common application for AI and machine learning.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42241469"/>
                  </a:ext>
                </a:extLst>
              </a:tr>
            </a:tbl>
          </a:graphicData>
        </a:graphic>
      </p:graphicFrame>
      <p:sp>
        <p:nvSpPr>
          <p:cNvPr id="18" name="TextBox 17">
            <a:extLst>
              <a:ext uri="{FF2B5EF4-FFF2-40B4-BE49-F238E27FC236}">
                <a16:creationId xmlns:a16="http://schemas.microsoft.com/office/drawing/2014/main" id="{742A4162-50D2-302D-80F9-7FF7DC8FF885}"/>
              </a:ext>
            </a:extLst>
          </p:cNvPr>
          <p:cNvSpPr txBox="1"/>
          <p:nvPr/>
        </p:nvSpPr>
        <p:spPr>
          <a:xfrm>
            <a:off x="327378" y="6018874"/>
            <a:ext cx="10103555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Ref: https://learn.g2.com/machine-learning-statistics#:~:text=57%25%20of%20companies%20and%20businesses,businesses%20globally%20use%20machine%20learning.</a:t>
            </a:r>
          </a:p>
        </p:txBody>
      </p:sp>
    </p:spTree>
    <p:extLst>
      <p:ext uri="{BB962C8B-B14F-4D97-AF65-F5344CB8AC3E}">
        <p14:creationId xmlns:p14="http://schemas.microsoft.com/office/powerpoint/2010/main" val="3218039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DA05BB-832C-14C0-D0F1-D63869AE2E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Big Picture</a:t>
            </a:r>
          </a:p>
        </p:txBody>
      </p:sp>
      <p:sp>
        <p:nvSpPr>
          <p:cNvPr id="4" name="Oval 3">
            <a:extLst>
              <a:ext uri="{FF2B5EF4-FFF2-40B4-BE49-F238E27FC236}">
                <a16:creationId xmlns:a16="http://schemas.microsoft.com/office/drawing/2014/main" id="{029044F9-78BD-5B4A-C216-EF497F768322}"/>
              </a:ext>
            </a:extLst>
          </p:cNvPr>
          <p:cNvSpPr/>
          <p:nvPr/>
        </p:nvSpPr>
        <p:spPr>
          <a:xfrm>
            <a:off x="316087" y="1018822"/>
            <a:ext cx="4549423" cy="4820355"/>
          </a:xfrm>
          <a:prstGeom prst="ellipse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2">
                  <a:lumMod val="75000"/>
                </a:schemeClr>
              </a:solidFill>
            </a:endParaRPr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90293822-ABCB-7FAA-50CA-9FD3E02BB489}"/>
              </a:ext>
            </a:extLst>
          </p:cNvPr>
          <p:cNvSpPr/>
          <p:nvPr/>
        </p:nvSpPr>
        <p:spPr>
          <a:xfrm>
            <a:off x="1185334" y="2731911"/>
            <a:ext cx="2686756" cy="3074811"/>
          </a:xfrm>
          <a:prstGeom prst="ellipse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B938CA20-5CAE-7A59-D19F-DE2147A35D87}"/>
              </a:ext>
            </a:extLst>
          </p:cNvPr>
          <p:cNvSpPr/>
          <p:nvPr/>
        </p:nvSpPr>
        <p:spPr>
          <a:xfrm>
            <a:off x="1549397" y="3980744"/>
            <a:ext cx="2082801" cy="1825978"/>
          </a:xfrm>
          <a:prstGeom prst="ellipse">
            <a:avLst/>
          </a:prstGeom>
          <a:solidFill>
            <a:schemeClr val="tx2">
              <a:lumMod val="5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1FAEB83-9140-630B-C396-DCA4F8DB7CEE}"/>
              </a:ext>
            </a:extLst>
          </p:cNvPr>
          <p:cNvSpPr txBox="1"/>
          <p:nvPr/>
        </p:nvSpPr>
        <p:spPr>
          <a:xfrm>
            <a:off x="1682045" y="1690701"/>
            <a:ext cx="206178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Artificial intelligence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4F25534E-4BB3-FF07-ACC9-E002A229FF71}"/>
              </a:ext>
            </a:extLst>
          </p:cNvPr>
          <p:cNvSpPr txBox="1"/>
          <p:nvPr/>
        </p:nvSpPr>
        <p:spPr>
          <a:xfrm>
            <a:off x="1626862" y="3308866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Machine Learning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E2C5E2-F64D-408F-EE0B-7E8FC0B87FBF}"/>
              </a:ext>
            </a:extLst>
          </p:cNvPr>
          <p:cNvSpPr txBox="1"/>
          <p:nvPr/>
        </p:nvSpPr>
        <p:spPr>
          <a:xfrm>
            <a:off x="1785559" y="4709067"/>
            <a:ext cx="148630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1">
                    <a:lumMod val="10000"/>
                    <a:lumOff val="90000"/>
                  </a:schemeClr>
                </a:solidFill>
              </a:rPr>
              <a:t>Deep Learning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9697019-CEFC-4732-BBAB-9CB0234B5B15}"/>
              </a:ext>
            </a:extLst>
          </p:cNvPr>
          <p:cNvSpPr txBox="1"/>
          <p:nvPr/>
        </p:nvSpPr>
        <p:spPr>
          <a:xfrm>
            <a:off x="5429955" y="1218644"/>
            <a:ext cx="6491111" cy="401479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A technique which enables </a:t>
            </a:r>
            <a:r>
              <a:rPr lang="en-IN" dirty="0">
                <a:solidFill>
                  <a:srgbClr val="C00000"/>
                </a:solidFill>
              </a:rPr>
              <a:t>machines to mimic human </a:t>
            </a:r>
            <a:r>
              <a:rPr lang="en-IN" dirty="0"/>
              <a:t>behaviour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ACA6AFA-006A-5F6B-D507-16516665AE7A}"/>
              </a:ext>
            </a:extLst>
          </p:cNvPr>
          <p:cNvSpPr txBox="1"/>
          <p:nvPr/>
        </p:nvSpPr>
        <p:spPr>
          <a:xfrm>
            <a:off x="5429955" y="2531171"/>
            <a:ext cx="6491111" cy="702588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Subset of Al technique which use </a:t>
            </a:r>
            <a:r>
              <a:rPr lang="en-IN" dirty="0">
                <a:solidFill>
                  <a:srgbClr val="C00000"/>
                </a:solidFill>
              </a:rPr>
              <a:t>statistical methods to enable machines to improve</a:t>
            </a:r>
            <a:r>
              <a:rPr lang="en-IN" dirty="0"/>
              <a:t> with experience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B8028932-B3B0-938E-57B9-DBC164E311A0}"/>
              </a:ext>
            </a:extLst>
          </p:cNvPr>
          <p:cNvSpPr txBox="1"/>
          <p:nvPr/>
        </p:nvSpPr>
        <p:spPr>
          <a:xfrm>
            <a:off x="5429955" y="4144807"/>
            <a:ext cx="6491111" cy="702588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r>
              <a:rPr lang="en-IN" dirty="0"/>
              <a:t>Subset of ML </a:t>
            </a:r>
            <a:r>
              <a:rPr lang="en-IN" dirty="0">
                <a:solidFill>
                  <a:srgbClr val="C00000"/>
                </a:solidFill>
              </a:rPr>
              <a:t>which make the computation of multi-layer neural network feasible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5E69A42B-732F-97BF-C73B-13FE89E5FE13}"/>
              </a:ext>
            </a:extLst>
          </p:cNvPr>
          <p:cNvSpPr/>
          <p:nvPr/>
        </p:nvSpPr>
        <p:spPr>
          <a:xfrm>
            <a:off x="5429956" y="903111"/>
            <a:ext cx="2077156" cy="31553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Artificial intelligence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D341C6DB-98E0-FD7C-1B7E-937BFFAB2842}"/>
              </a:ext>
            </a:extLst>
          </p:cNvPr>
          <p:cNvSpPr/>
          <p:nvPr/>
        </p:nvSpPr>
        <p:spPr>
          <a:xfrm>
            <a:off x="5429956" y="2209993"/>
            <a:ext cx="2077156" cy="31553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Machine Learning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38A23D99-9ACD-3E0F-D223-566797740254}"/>
              </a:ext>
            </a:extLst>
          </p:cNvPr>
          <p:cNvSpPr/>
          <p:nvPr/>
        </p:nvSpPr>
        <p:spPr>
          <a:xfrm>
            <a:off x="5429956" y="3822977"/>
            <a:ext cx="2077156" cy="315533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Deep Learning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9EB64F4-59FB-A074-CD32-21F3EFD00376}"/>
              </a:ext>
            </a:extLst>
          </p:cNvPr>
          <p:cNvSpPr txBox="1"/>
          <p:nvPr/>
        </p:nvSpPr>
        <p:spPr>
          <a:xfrm>
            <a:off x="-293511" y="4831644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64883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/>
      <p:bldP spid="8" grpId="0"/>
      <p:bldP spid="9" grpId="0"/>
      <p:bldP spid="10" grpId="0" animBg="1"/>
      <p:bldP spid="12" grpId="0" animBg="1"/>
      <p:bldP spid="13" grpId="0" animBg="1"/>
      <p:bldP spid="15" grpId="0" animBg="1"/>
      <p:bldP spid="16" grpId="0" animBg="1"/>
      <p:bldP spid="17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FE5E8-1349-FC20-F98B-01811F7635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Traditional Programing Vs Machine Learning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35A9EB84-5B30-7BF6-BB27-798096952610}"/>
              </a:ext>
            </a:extLst>
          </p:cNvPr>
          <p:cNvSpPr/>
          <p:nvPr/>
        </p:nvSpPr>
        <p:spPr>
          <a:xfrm>
            <a:off x="812800" y="1535289"/>
            <a:ext cx="1456267" cy="54186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8453DFB5-2CC2-A5EB-FD05-392E45159501}"/>
              </a:ext>
            </a:extLst>
          </p:cNvPr>
          <p:cNvSpPr/>
          <p:nvPr/>
        </p:nvSpPr>
        <p:spPr>
          <a:xfrm>
            <a:off x="812800" y="2901244"/>
            <a:ext cx="1456267" cy="5418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14D92F6-809C-BA9C-B634-2C04929FF748}"/>
              </a:ext>
            </a:extLst>
          </p:cNvPr>
          <p:cNvSpPr/>
          <p:nvPr/>
        </p:nvSpPr>
        <p:spPr>
          <a:xfrm>
            <a:off x="6096000" y="2229556"/>
            <a:ext cx="1456267" cy="54186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cxnSp>
        <p:nvCxnSpPr>
          <p:cNvPr id="9" name="Elbow Connector 8">
            <a:extLst>
              <a:ext uri="{FF2B5EF4-FFF2-40B4-BE49-F238E27FC236}">
                <a16:creationId xmlns:a16="http://schemas.microsoft.com/office/drawing/2014/main" id="{9EFBE75C-A493-CEB4-4873-BC9BA04A58C2}"/>
              </a:ext>
            </a:extLst>
          </p:cNvPr>
          <p:cNvCxnSpPr>
            <a:cxnSpLocks/>
            <a:stCxn id="4" idx="3"/>
          </p:cNvCxnSpPr>
          <p:nvPr/>
        </p:nvCxnSpPr>
        <p:spPr>
          <a:xfrm>
            <a:off x="2269067" y="1806223"/>
            <a:ext cx="931333" cy="694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Elbow Connector 9">
            <a:extLst>
              <a:ext uri="{FF2B5EF4-FFF2-40B4-BE49-F238E27FC236}">
                <a16:creationId xmlns:a16="http://schemas.microsoft.com/office/drawing/2014/main" id="{4D451BB8-C642-4D4F-B2B9-49985267E285}"/>
              </a:ext>
            </a:extLst>
          </p:cNvPr>
          <p:cNvCxnSpPr>
            <a:cxnSpLocks/>
          </p:cNvCxnSpPr>
          <p:nvPr/>
        </p:nvCxnSpPr>
        <p:spPr>
          <a:xfrm flipV="1">
            <a:off x="2269067" y="2500490"/>
            <a:ext cx="931333" cy="694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B22507E8-7282-9AA1-3559-5BB655C041B8}"/>
              </a:ext>
            </a:extLst>
          </p:cNvPr>
          <p:cNvCxnSpPr>
            <a:cxnSpLocks/>
            <a:endCxn id="7" idx="1"/>
          </p:cNvCxnSpPr>
          <p:nvPr/>
        </p:nvCxnSpPr>
        <p:spPr>
          <a:xfrm>
            <a:off x="4368800" y="2500490"/>
            <a:ext cx="172720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Rectangle 13">
            <a:extLst>
              <a:ext uri="{FF2B5EF4-FFF2-40B4-BE49-F238E27FC236}">
                <a16:creationId xmlns:a16="http://schemas.microsoft.com/office/drawing/2014/main" id="{A08371AD-4E1C-FC2D-CC90-D7CCF34C0156}"/>
              </a:ext>
            </a:extLst>
          </p:cNvPr>
          <p:cNvSpPr/>
          <p:nvPr/>
        </p:nvSpPr>
        <p:spPr>
          <a:xfrm>
            <a:off x="812800" y="4267199"/>
            <a:ext cx="1456267" cy="54186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Data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215FF1BF-1D82-5E7E-7763-A8D3DBFBA685}"/>
              </a:ext>
            </a:extLst>
          </p:cNvPr>
          <p:cNvSpPr/>
          <p:nvPr/>
        </p:nvSpPr>
        <p:spPr>
          <a:xfrm>
            <a:off x="812800" y="5633154"/>
            <a:ext cx="1456267" cy="541867"/>
          </a:xfrm>
          <a:prstGeom prst="rect">
            <a:avLst/>
          </a:prstGeom>
          <a:solidFill>
            <a:schemeClr val="accent3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Output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BE9EB743-2106-469A-5617-284A207F3DA3}"/>
              </a:ext>
            </a:extLst>
          </p:cNvPr>
          <p:cNvSpPr/>
          <p:nvPr/>
        </p:nvSpPr>
        <p:spPr>
          <a:xfrm>
            <a:off x="6096000" y="4961466"/>
            <a:ext cx="1456267" cy="541867"/>
          </a:xfrm>
          <a:prstGeom prst="rect">
            <a:avLst/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Program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1D2D787A-EF2C-082B-671E-2394F1D91D1E}"/>
              </a:ext>
            </a:extLst>
          </p:cNvPr>
          <p:cNvCxnSpPr>
            <a:cxnSpLocks/>
            <a:stCxn id="14" idx="3"/>
          </p:cNvCxnSpPr>
          <p:nvPr/>
        </p:nvCxnSpPr>
        <p:spPr>
          <a:xfrm>
            <a:off x="2269067" y="4538133"/>
            <a:ext cx="931333" cy="694267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Elbow Connector 18">
            <a:extLst>
              <a:ext uri="{FF2B5EF4-FFF2-40B4-BE49-F238E27FC236}">
                <a16:creationId xmlns:a16="http://schemas.microsoft.com/office/drawing/2014/main" id="{6BF88094-26DC-97DB-8A50-DAA26EF4E1BC}"/>
              </a:ext>
            </a:extLst>
          </p:cNvPr>
          <p:cNvCxnSpPr>
            <a:cxnSpLocks/>
          </p:cNvCxnSpPr>
          <p:nvPr/>
        </p:nvCxnSpPr>
        <p:spPr>
          <a:xfrm flipV="1">
            <a:off x="2269067" y="5232400"/>
            <a:ext cx="931333" cy="694265"/>
          </a:xfrm>
          <a:prstGeom prst="bentConnector3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834AA0BC-F3DE-5553-DFD2-9F928BB430C5}"/>
              </a:ext>
            </a:extLst>
          </p:cNvPr>
          <p:cNvCxnSpPr>
            <a:cxnSpLocks/>
            <a:endCxn id="17" idx="1"/>
          </p:cNvCxnSpPr>
          <p:nvPr/>
        </p:nvCxnSpPr>
        <p:spPr>
          <a:xfrm>
            <a:off x="4368800" y="5232399"/>
            <a:ext cx="1727200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" name="Graphic 21" descr="Monitor">
            <a:extLst>
              <a:ext uri="{FF2B5EF4-FFF2-40B4-BE49-F238E27FC236}">
                <a16:creationId xmlns:a16="http://schemas.microsoft.com/office/drawing/2014/main" id="{A22651D2-077A-2024-B9F7-FA9B38D43A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095978" y="1851379"/>
            <a:ext cx="1456266" cy="1456266"/>
          </a:xfrm>
          <a:prstGeom prst="rect">
            <a:avLst/>
          </a:prstGeom>
        </p:spPr>
      </p:pic>
      <p:pic>
        <p:nvPicPr>
          <p:cNvPr id="25" name="Graphic 24" descr="Monitor">
            <a:extLst>
              <a:ext uri="{FF2B5EF4-FFF2-40B4-BE49-F238E27FC236}">
                <a16:creationId xmlns:a16="http://schemas.microsoft.com/office/drawing/2014/main" id="{FABCEDBD-76E9-3D25-2807-883867246E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3098800" y="4504266"/>
            <a:ext cx="1456266" cy="1456266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5E3D0BFB-AB47-447B-17D7-1E1C9DF57DE1}"/>
              </a:ext>
            </a:extLst>
          </p:cNvPr>
          <p:cNvSpPr txBox="1"/>
          <p:nvPr/>
        </p:nvSpPr>
        <p:spPr>
          <a:xfrm>
            <a:off x="3291261" y="2315823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083534E-CA3F-8AB9-39EB-946704ECEF9F}"/>
              </a:ext>
            </a:extLst>
          </p:cNvPr>
          <p:cNvSpPr txBox="1"/>
          <p:nvPr/>
        </p:nvSpPr>
        <p:spPr>
          <a:xfrm>
            <a:off x="3276874" y="4989688"/>
            <a:ext cx="107753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Computer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45BB632E-0EA4-B097-923B-9E4B1AB1091C}"/>
              </a:ext>
            </a:extLst>
          </p:cNvPr>
          <p:cNvSpPr/>
          <p:nvPr/>
        </p:nvSpPr>
        <p:spPr>
          <a:xfrm>
            <a:off x="7974189" y="2171349"/>
            <a:ext cx="3310425" cy="65828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US" sz="2400" dirty="0"/>
              <a:t>Traditional Programing 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DBE77D2-B4B2-2630-8EF1-9995A0D4A29B}"/>
              </a:ext>
            </a:extLst>
          </p:cNvPr>
          <p:cNvSpPr/>
          <p:nvPr/>
        </p:nvSpPr>
        <p:spPr>
          <a:xfrm>
            <a:off x="7974190" y="4885266"/>
            <a:ext cx="3310425" cy="65828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US" sz="2400" dirty="0"/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13803899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7" grpId="0" animBg="1"/>
      <p:bldP spid="14" grpId="0" animBg="1"/>
      <p:bldP spid="15" grpId="0" animBg="1"/>
      <p:bldP spid="17" grpId="0" animBg="1"/>
      <p:bldP spid="28" grpId="0"/>
      <p:bldP spid="29" grpId="0"/>
      <p:bldP spid="3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4F8455C-B7BE-5774-6022-43C5CB67FC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1B9C0AF3-FE10-81DC-05E1-AF6A89B65CB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34" y="2281917"/>
            <a:ext cx="817995" cy="722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EF88F8B-6AE2-DDCB-7FC8-ECAFC3C9FA3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12" y="2293793"/>
            <a:ext cx="966051" cy="71795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779D536-B644-B7F9-739B-1AAC564FF69F}"/>
              </a:ext>
            </a:extLst>
          </p:cNvPr>
          <p:cNvSpPr/>
          <p:nvPr/>
        </p:nvSpPr>
        <p:spPr>
          <a:xfrm>
            <a:off x="4964806" y="2688508"/>
            <a:ext cx="2034384" cy="176127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2"/>
                </a:solidFill>
              </a:rPr>
              <a:t> Algorithm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A2DE18B4-F566-6038-431E-887BF62DD5E9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3263184" y="3569146"/>
            <a:ext cx="1701622" cy="33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962E1D09-BBE0-20BF-6948-5ABFB7B56B7D}"/>
              </a:ext>
            </a:extLst>
          </p:cNvPr>
          <p:cNvSpPr/>
          <p:nvPr/>
        </p:nvSpPr>
        <p:spPr>
          <a:xfrm>
            <a:off x="154379" y="1721923"/>
            <a:ext cx="3108805" cy="3761408"/>
          </a:xfrm>
          <a:prstGeom prst="rect">
            <a:avLst/>
          </a:prstGeom>
          <a:solidFill>
            <a:srgbClr val="00BBD3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64BE0A4-C6DB-A2FE-1AAA-F8244B25C03A}"/>
              </a:ext>
            </a:extLst>
          </p:cNvPr>
          <p:cNvSpPr txBox="1"/>
          <p:nvPr/>
        </p:nvSpPr>
        <p:spPr>
          <a:xfrm>
            <a:off x="131567" y="1374669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BA0585C-88BD-B34B-4F38-7C1A5A20C14D}"/>
              </a:ext>
            </a:extLst>
          </p:cNvPr>
          <p:cNvSpPr txBox="1"/>
          <p:nvPr/>
        </p:nvSpPr>
        <p:spPr>
          <a:xfrm>
            <a:off x="339957" y="1971161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3D94AF-01F4-33F8-BDCA-F500F7D3966E}"/>
              </a:ext>
            </a:extLst>
          </p:cNvPr>
          <p:cNvSpPr txBox="1"/>
          <p:nvPr/>
        </p:nvSpPr>
        <p:spPr>
          <a:xfrm>
            <a:off x="1321661" y="196647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F19D8DCE-0588-94AF-3F17-AEB96B3F2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37372" y="2307480"/>
            <a:ext cx="817995" cy="72253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675A1A55-22CA-5D57-7840-AD92D8B4B256}"/>
              </a:ext>
            </a:extLst>
          </p:cNvPr>
          <p:cNvSpPr txBox="1"/>
          <p:nvPr/>
        </p:nvSpPr>
        <p:spPr>
          <a:xfrm>
            <a:off x="2456695" y="1996724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BA34B54-4EA2-726D-9CD3-215B41633F9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7035" y="3482235"/>
            <a:ext cx="966051" cy="717956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DF4A8BB1-6A79-1B3F-8B6F-D183569C8389}"/>
              </a:ext>
            </a:extLst>
          </p:cNvPr>
          <p:cNvSpPr txBox="1"/>
          <p:nvPr/>
        </p:nvSpPr>
        <p:spPr>
          <a:xfrm>
            <a:off x="271084" y="315492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708705B-4B51-DB0E-18B1-68A0B68D30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4039" y="3495373"/>
            <a:ext cx="966051" cy="717956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540E967A-5684-A1AB-6D07-0D9DE10261AD}"/>
              </a:ext>
            </a:extLst>
          </p:cNvPr>
          <p:cNvSpPr txBox="1"/>
          <p:nvPr/>
        </p:nvSpPr>
        <p:spPr>
          <a:xfrm>
            <a:off x="1318088" y="3168059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83347F66-DF7B-BBE3-7FEE-17ED8311684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93747" y="3510570"/>
            <a:ext cx="817995" cy="722538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id="{AC0BCBC0-E034-AD94-F6F2-726694DDE40D}"/>
              </a:ext>
            </a:extLst>
          </p:cNvPr>
          <p:cNvSpPr txBox="1"/>
          <p:nvPr/>
        </p:nvSpPr>
        <p:spPr>
          <a:xfrm>
            <a:off x="2413070" y="3199814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3E267332-32FE-F752-F041-1972352608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62" y="4658691"/>
            <a:ext cx="817995" cy="722538"/>
          </a:xfrm>
          <a:prstGeom prst="rect">
            <a:avLst/>
          </a:prstGeom>
        </p:spPr>
      </p:pic>
      <p:sp>
        <p:nvSpPr>
          <p:cNvPr id="21" name="TextBox 20">
            <a:extLst>
              <a:ext uri="{FF2B5EF4-FFF2-40B4-BE49-F238E27FC236}">
                <a16:creationId xmlns:a16="http://schemas.microsoft.com/office/drawing/2014/main" id="{86DE7A15-2D7B-5B02-6947-B68F5EC465DB}"/>
              </a:ext>
            </a:extLst>
          </p:cNvPr>
          <p:cNvSpPr txBox="1"/>
          <p:nvPr/>
        </p:nvSpPr>
        <p:spPr>
          <a:xfrm>
            <a:off x="339985" y="4347935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8FD66099-0677-7428-D12C-316BC71057B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2991" y="4680022"/>
            <a:ext cx="817995" cy="722538"/>
          </a:xfrm>
          <a:prstGeom prst="rect">
            <a:avLst/>
          </a:prstGeom>
        </p:spPr>
      </p:pic>
      <p:sp>
        <p:nvSpPr>
          <p:cNvPr id="23" name="TextBox 22">
            <a:extLst>
              <a:ext uri="{FF2B5EF4-FFF2-40B4-BE49-F238E27FC236}">
                <a16:creationId xmlns:a16="http://schemas.microsoft.com/office/drawing/2014/main" id="{01E6B3C1-D5B0-02BA-44D1-F104ED40FBB3}"/>
              </a:ext>
            </a:extLst>
          </p:cNvPr>
          <p:cNvSpPr txBox="1"/>
          <p:nvPr/>
        </p:nvSpPr>
        <p:spPr>
          <a:xfrm>
            <a:off x="1402314" y="4369266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A0A1F55E-7E11-53FF-D3EB-582D3B4EF5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54787" y="4680022"/>
            <a:ext cx="817995" cy="722538"/>
          </a:xfrm>
          <a:prstGeom prst="rect">
            <a:avLst/>
          </a:prstGeom>
        </p:spPr>
      </p:pic>
      <p:sp>
        <p:nvSpPr>
          <p:cNvPr id="25" name="TextBox 24">
            <a:extLst>
              <a:ext uri="{FF2B5EF4-FFF2-40B4-BE49-F238E27FC236}">
                <a16:creationId xmlns:a16="http://schemas.microsoft.com/office/drawing/2014/main" id="{36D85A56-2BDF-73FF-F472-82D1F3D4110F}"/>
              </a:ext>
            </a:extLst>
          </p:cNvPr>
          <p:cNvSpPr txBox="1"/>
          <p:nvPr/>
        </p:nvSpPr>
        <p:spPr>
          <a:xfrm>
            <a:off x="2374110" y="4369266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93F6744C-4ACC-3C2D-FE1E-A52EDC57B219}"/>
              </a:ext>
            </a:extLst>
          </p:cNvPr>
          <p:cNvSpPr txBox="1"/>
          <p:nvPr/>
        </p:nvSpPr>
        <p:spPr>
          <a:xfrm>
            <a:off x="830976" y="5561981"/>
            <a:ext cx="152638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Input Data Set </a:t>
            </a:r>
          </a:p>
          <a:p>
            <a:r>
              <a:rPr lang="en-US" dirty="0">
                <a:solidFill>
                  <a:srgbClr val="C00000"/>
                </a:solidFill>
              </a:rPr>
              <a:t>for Learning</a:t>
            </a:r>
          </a:p>
        </p:txBody>
      </p:sp>
      <p:pic>
        <p:nvPicPr>
          <p:cNvPr id="27" name="Picture 26">
            <a:extLst>
              <a:ext uri="{FF2B5EF4-FFF2-40B4-BE49-F238E27FC236}">
                <a16:creationId xmlns:a16="http://schemas.microsoft.com/office/drawing/2014/main" id="{FD0A5CE8-2B3E-0EB9-BEBD-B82FC6C38A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73000" y="836797"/>
            <a:ext cx="817995" cy="722538"/>
          </a:xfrm>
          <a:prstGeom prst="rect">
            <a:avLst/>
          </a:prstGeom>
        </p:spPr>
      </p:pic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CF676C22-DB05-0040-0453-AD0AD03F5484}"/>
              </a:ext>
            </a:extLst>
          </p:cNvPr>
          <p:cNvCxnSpPr>
            <a:stCxn id="27" idx="2"/>
            <a:endCxn id="6" idx="0"/>
          </p:cNvCxnSpPr>
          <p:nvPr/>
        </p:nvCxnSpPr>
        <p:spPr>
          <a:xfrm>
            <a:off x="5981998" y="1559335"/>
            <a:ext cx="0" cy="112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510F63D3-5B25-3514-850F-9F121A137255}"/>
              </a:ext>
            </a:extLst>
          </p:cNvPr>
          <p:cNvSpPr txBox="1"/>
          <p:nvPr/>
        </p:nvSpPr>
        <p:spPr>
          <a:xfrm>
            <a:off x="6096000" y="1754763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5A128D22-1B78-D8E5-045D-7767B0A55ED1}"/>
              </a:ext>
            </a:extLst>
          </p:cNvPr>
          <p:cNvCxnSpPr>
            <a:cxnSpLocks/>
          </p:cNvCxnSpPr>
          <p:nvPr/>
        </p:nvCxnSpPr>
        <p:spPr>
          <a:xfrm flipV="1">
            <a:off x="6999190" y="3524253"/>
            <a:ext cx="1586670" cy="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Explosion 2 30">
            <a:extLst>
              <a:ext uri="{FF2B5EF4-FFF2-40B4-BE49-F238E27FC236}">
                <a16:creationId xmlns:a16="http://schemas.microsoft.com/office/drawing/2014/main" id="{41F6CFF6-680A-B75B-A86D-8F7D47423310}"/>
              </a:ext>
            </a:extLst>
          </p:cNvPr>
          <p:cNvSpPr/>
          <p:nvPr/>
        </p:nvSpPr>
        <p:spPr>
          <a:xfrm>
            <a:off x="8811490" y="2579355"/>
            <a:ext cx="2517569" cy="1653753"/>
          </a:xfrm>
          <a:prstGeom prst="irregularSeal2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Its an Apple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465164D5-22E7-9957-FA7A-EB2D215371C0}"/>
              </a:ext>
            </a:extLst>
          </p:cNvPr>
          <p:cNvSpPr txBox="1"/>
          <p:nvPr/>
        </p:nvSpPr>
        <p:spPr>
          <a:xfrm>
            <a:off x="9344839" y="2181390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Prediction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B745BB1-842F-8F26-61AB-DAF7C979C000}"/>
              </a:ext>
            </a:extLst>
          </p:cNvPr>
          <p:cNvSpPr txBox="1"/>
          <p:nvPr/>
        </p:nvSpPr>
        <p:spPr>
          <a:xfrm>
            <a:off x="4368800" y="2009422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347511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0" grpId="0"/>
      <p:bldP spid="11" grpId="0"/>
      <p:bldP spid="13" grpId="0"/>
      <p:bldP spid="15" grpId="0"/>
      <p:bldP spid="17" grpId="0"/>
      <p:bldP spid="19" grpId="0"/>
      <p:bldP spid="21" grpId="0"/>
      <p:bldP spid="23" grpId="0"/>
      <p:bldP spid="25" grpId="0"/>
      <p:bldP spid="26" grpId="0"/>
      <p:bldP spid="29" grpId="0"/>
      <p:bldP spid="31" grpId="0" animBg="1"/>
      <p:bldP spid="3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5CCAA6-169B-F1D4-17EF-EAC7D99392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Definition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3C509C0B-D6A2-DDF9-CADB-2417B89910A2}"/>
              </a:ext>
            </a:extLst>
          </p:cNvPr>
          <p:cNvSpPr/>
          <p:nvPr/>
        </p:nvSpPr>
        <p:spPr>
          <a:xfrm>
            <a:off x="191606" y="910521"/>
            <a:ext cx="2291950" cy="827967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dirty="0"/>
              <a:t>Tom M. Mitchell (1997)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88D0945-556D-8379-60C2-5ADD5DC759C5}"/>
              </a:ext>
            </a:extLst>
          </p:cNvPr>
          <p:cNvSpPr txBox="1"/>
          <p:nvPr/>
        </p:nvSpPr>
        <p:spPr>
          <a:xfrm>
            <a:off x="2651999" y="875964"/>
            <a:ext cx="9269068" cy="1053882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solidFill>
                  <a:srgbClr val="0070C0"/>
                </a:solidFill>
              </a:rPr>
              <a:t>A computer program is said to learn from experience E with respect to some class of tasks  and performance measure P, if its performance at tasks in T, as measured by P, improves with experience E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2B960C42-F9CD-44AF-0205-32080FB9E68D}"/>
              </a:ext>
            </a:extLst>
          </p:cNvPr>
          <p:cNvSpPr/>
          <p:nvPr/>
        </p:nvSpPr>
        <p:spPr>
          <a:xfrm>
            <a:off x="191606" y="2012227"/>
            <a:ext cx="2291950" cy="827967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dirty="0"/>
              <a:t>Arthur Samuel (1959)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F6C6CE32-B80C-E952-9E14-B507C906E88B}"/>
              </a:ext>
            </a:extLst>
          </p:cNvPr>
          <p:cNvSpPr txBox="1"/>
          <p:nvPr/>
        </p:nvSpPr>
        <p:spPr>
          <a:xfrm>
            <a:off x="2651999" y="2009867"/>
            <a:ext cx="9269068" cy="736044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solidFill>
                  <a:srgbClr val="002060"/>
                </a:solidFill>
              </a:rPr>
              <a:t>Machine learning is the field of study that gives computers the ability to learn without being explicitly programmed.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DB382B3D-0AB0-7CCB-26E0-6949D8C978ED}"/>
              </a:ext>
            </a:extLst>
          </p:cNvPr>
          <p:cNvSpPr/>
          <p:nvPr/>
        </p:nvSpPr>
        <p:spPr>
          <a:xfrm>
            <a:off x="191606" y="2994350"/>
            <a:ext cx="2291950" cy="1019324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sz="1400" dirty="0"/>
              <a:t>Ian Goodfellow, </a:t>
            </a:r>
            <a:r>
              <a:rPr lang="en-US" sz="1400" dirty="0" err="1"/>
              <a:t>Yoshua</a:t>
            </a:r>
            <a:r>
              <a:rPr lang="en-US" sz="1400" dirty="0"/>
              <a:t> </a:t>
            </a:r>
            <a:r>
              <a:rPr lang="en-US" sz="1400" dirty="0" err="1"/>
              <a:t>Bengio</a:t>
            </a:r>
            <a:r>
              <a:rPr lang="en-US" sz="1400" dirty="0"/>
              <a:t>, and Aaron Courville </a:t>
            </a:r>
            <a:r>
              <a:rPr lang="en-US" dirty="0"/>
              <a:t>(2016):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ED0630A7-D44F-2233-FC8F-DD191C3CCB24}"/>
              </a:ext>
            </a:extLst>
          </p:cNvPr>
          <p:cNvSpPr txBox="1"/>
          <p:nvPr/>
        </p:nvSpPr>
        <p:spPr>
          <a:xfrm>
            <a:off x="2641600" y="3004228"/>
            <a:ext cx="9269068" cy="736044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solidFill>
                  <a:schemeClr val="accent6">
                    <a:lumMod val="75000"/>
                  </a:schemeClr>
                </a:solidFill>
              </a:rPr>
              <a:t>Machine learning is the science of getting computers to act without being explicitly programmed, by extracting patterns and insights from data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B6D19F6-E775-0FF7-F9DD-D52606F770F1}"/>
              </a:ext>
            </a:extLst>
          </p:cNvPr>
          <p:cNvSpPr/>
          <p:nvPr/>
        </p:nvSpPr>
        <p:spPr>
          <a:xfrm>
            <a:off x="202005" y="4119179"/>
            <a:ext cx="2291950" cy="827967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dirty="0" err="1"/>
              <a:t>Ethem</a:t>
            </a:r>
            <a:r>
              <a:rPr lang="en-US" dirty="0"/>
              <a:t> </a:t>
            </a:r>
            <a:r>
              <a:rPr lang="en-US" dirty="0" err="1"/>
              <a:t>Alpaydin</a:t>
            </a:r>
            <a:r>
              <a:rPr lang="en-US" dirty="0"/>
              <a:t> (2004):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8A0EAD7-8A3B-4C33-7F52-8881755AE948}"/>
              </a:ext>
            </a:extLst>
          </p:cNvPr>
          <p:cNvSpPr txBox="1"/>
          <p:nvPr/>
        </p:nvSpPr>
        <p:spPr>
          <a:xfrm>
            <a:off x="2651999" y="4125110"/>
            <a:ext cx="9269068" cy="418207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solidFill>
                  <a:schemeClr val="accent5">
                    <a:lumMod val="75000"/>
                  </a:schemeClr>
                </a:solidFill>
              </a:rPr>
              <a:t>Machine learning develops algorithms that can learn from and make predictions on data.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A33E98F5-F488-B1E8-9679-C6439F8205D3}"/>
              </a:ext>
            </a:extLst>
          </p:cNvPr>
          <p:cNvSpPr/>
          <p:nvPr/>
        </p:nvSpPr>
        <p:spPr>
          <a:xfrm>
            <a:off x="202005" y="5038885"/>
            <a:ext cx="2291950" cy="827967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pPr algn="ctr"/>
            <a:r>
              <a:rPr lang="en-US" dirty="0"/>
              <a:t>Kevin P. Murphy (2012)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9083E50-4B46-9965-E0E3-AF68785978EA}"/>
              </a:ext>
            </a:extLst>
          </p:cNvPr>
          <p:cNvSpPr txBox="1"/>
          <p:nvPr/>
        </p:nvSpPr>
        <p:spPr>
          <a:xfrm>
            <a:off x="2651999" y="5038885"/>
            <a:ext cx="9269068" cy="736044"/>
          </a:xfrm>
          <a:prstGeom prst="snip1Rect">
            <a:avLst/>
          </a:prstGeom>
          <a:noFill/>
          <a:ln w="12700">
            <a:solidFill>
              <a:schemeClr val="bg1">
                <a:lumMod val="50000"/>
              </a:schemeClr>
            </a:solidFill>
          </a:ln>
        </p:spPr>
        <p:txBody>
          <a:bodyPr wrap="square" rtlCol="0">
            <a:spAutoFit/>
          </a:bodyPr>
          <a:lstStyle/>
          <a:p>
            <a:pPr algn="just"/>
            <a:r>
              <a:rPr lang="en-US" sz="1900" dirty="0">
                <a:solidFill>
                  <a:schemeClr val="accent4">
                    <a:lumMod val="50000"/>
                  </a:schemeClr>
                </a:solidFill>
              </a:rPr>
              <a:t>Machine learning is a set of methods that can automatically detect patterns in data and then use the uncovered patterns to predict future data or other outcomes of interest</a:t>
            </a:r>
          </a:p>
        </p:txBody>
      </p:sp>
    </p:spTree>
    <p:extLst>
      <p:ext uri="{BB962C8B-B14F-4D97-AF65-F5344CB8AC3E}">
        <p14:creationId xmlns:p14="http://schemas.microsoft.com/office/powerpoint/2010/main" val="208067222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17" grpId="0" animBg="1"/>
      <p:bldP spid="18" grpId="0" animBg="1"/>
      <p:bldP spid="21" grpId="0" animBg="1"/>
      <p:bldP spid="22" grpId="0" animBg="1"/>
      <p:bldP spid="23" grpId="0" animBg="1"/>
      <p:bldP spid="24" grpId="0" animBg="1"/>
      <p:bldP spid="27" grpId="0" animBg="1"/>
      <p:bldP spid="2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CE6B-5BAD-304E-DF87-70EC9FF2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Machine Learning?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BCA20-0ABE-1794-73FD-87B21EEFFADD}"/>
              </a:ext>
            </a:extLst>
          </p:cNvPr>
          <p:cNvSpPr/>
          <p:nvPr/>
        </p:nvSpPr>
        <p:spPr>
          <a:xfrm>
            <a:off x="375357" y="3535230"/>
            <a:ext cx="1456267" cy="5418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Study the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BCE2D-88DC-5BBF-28A5-F832F5B6C3D8}"/>
              </a:ext>
            </a:extLst>
          </p:cNvPr>
          <p:cNvSpPr/>
          <p:nvPr/>
        </p:nvSpPr>
        <p:spPr>
          <a:xfrm>
            <a:off x="2288823" y="3535230"/>
            <a:ext cx="1456267" cy="54186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Write rules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4111FD47-7775-2667-2ACD-5AD43CF6402D}"/>
              </a:ext>
            </a:extLst>
          </p:cNvPr>
          <p:cNvSpPr/>
          <p:nvPr/>
        </p:nvSpPr>
        <p:spPr>
          <a:xfrm>
            <a:off x="4326469" y="3391296"/>
            <a:ext cx="1557866" cy="82973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Evaluate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F4ABCA-4A9E-C2FE-54F4-583D7D69E12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831624" y="3806164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19E8D7-0117-DDB3-8251-247EB496E8B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643491" y="3806163"/>
            <a:ext cx="682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1605EB-497B-1A33-4A8C-7AD494B764F8}"/>
              </a:ext>
            </a:extLst>
          </p:cNvPr>
          <p:cNvCxnSpPr>
            <a:cxnSpLocks/>
          </p:cNvCxnSpPr>
          <p:nvPr/>
        </p:nvCxnSpPr>
        <p:spPr>
          <a:xfrm flipV="1">
            <a:off x="5105402" y="2742962"/>
            <a:ext cx="0" cy="629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96E41-8BBD-BB6B-3A24-8B53B4060DA0}"/>
              </a:ext>
            </a:extLst>
          </p:cNvPr>
          <p:cNvSpPr/>
          <p:nvPr/>
        </p:nvSpPr>
        <p:spPr>
          <a:xfrm>
            <a:off x="4377268" y="2181876"/>
            <a:ext cx="1456267" cy="5418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Task Done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B092BF-7EE4-E959-C360-6E13F20BDE22}"/>
              </a:ext>
            </a:extLst>
          </p:cNvPr>
          <p:cNvSpPr/>
          <p:nvPr/>
        </p:nvSpPr>
        <p:spPr>
          <a:xfrm>
            <a:off x="2288823" y="4860662"/>
            <a:ext cx="1456267" cy="5418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Analyze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2026193A-88F8-E54A-0878-7EFCEA1C37A0}"/>
              </a:ext>
            </a:extLst>
          </p:cNvPr>
          <p:cNvCxnSpPr>
            <a:cxnSpLocks/>
            <a:stCxn id="8" idx="2"/>
            <a:endCxn id="16" idx="3"/>
          </p:cNvCxnSpPr>
          <p:nvPr/>
        </p:nvCxnSpPr>
        <p:spPr>
          <a:xfrm rot="5400000">
            <a:off x="3969963" y="3996157"/>
            <a:ext cx="910566" cy="13603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DC580F4E-3959-0D8E-DBF2-FE30B4FF2B10}"/>
              </a:ext>
            </a:extLst>
          </p:cNvPr>
          <p:cNvCxnSpPr>
            <a:cxnSpLocks/>
            <a:stCxn id="16" idx="1"/>
            <a:endCxn id="6" idx="2"/>
          </p:cNvCxnSpPr>
          <p:nvPr/>
        </p:nvCxnSpPr>
        <p:spPr>
          <a:xfrm rot="10800000">
            <a:off x="1103491" y="4077098"/>
            <a:ext cx="1185332" cy="1054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488523-9D94-8276-2E45-5E6854BF5534}"/>
              </a:ext>
            </a:extLst>
          </p:cNvPr>
          <p:cNvSpPr txBox="1"/>
          <p:nvPr/>
        </p:nvSpPr>
        <p:spPr>
          <a:xfrm>
            <a:off x="5331179" y="443269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9191D-EED5-5D56-D9E9-0FB1D641AB35}"/>
              </a:ext>
            </a:extLst>
          </p:cNvPr>
          <p:cNvSpPr txBox="1"/>
          <p:nvPr/>
        </p:nvSpPr>
        <p:spPr>
          <a:xfrm>
            <a:off x="5240868" y="301168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9B35A4-4FBD-D8F0-8DA8-E73A7B23C28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03491" y="2956476"/>
            <a:ext cx="0" cy="57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23AAD8-7475-F2D6-D825-AC1043D7DC07}"/>
              </a:ext>
            </a:extLst>
          </p:cNvPr>
          <p:cNvSpPr txBox="1"/>
          <p:nvPr/>
        </p:nvSpPr>
        <p:spPr>
          <a:xfrm>
            <a:off x="1173766" y="286927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CFAB686-5947-C7CC-5440-EA209142C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265" y="2181876"/>
            <a:ext cx="5651556" cy="426006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Hard-coded</a:t>
            </a:r>
            <a:r>
              <a:rPr lang="en-US" dirty="0"/>
              <a:t> rules</a:t>
            </a:r>
          </a:p>
          <a:p>
            <a:r>
              <a:rPr lang="en-US" dirty="0"/>
              <a:t>Rules </a:t>
            </a:r>
            <a:r>
              <a:rPr lang="en-US" dirty="0">
                <a:solidFill>
                  <a:srgbClr val="C00000"/>
                </a:solidFill>
              </a:rPr>
              <a:t>are static, requires manual updates</a:t>
            </a:r>
            <a:r>
              <a:rPr lang="en-US" dirty="0"/>
              <a:t>.</a:t>
            </a:r>
          </a:p>
          <a:p>
            <a:r>
              <a:rPr lang="en-US" dirty="0"/>
              <a:t>Moderate, prone to </a:t>
            </a:r>
            <a:r>
              <a:rPr lang="en-US" dirty="0">
                <a:solidFill>
                  <a:srgbClr val="C00000"/>
                </a:solidFill>
              </a:rPr>
              <a:t>errors</a:t>
            </a:r>
          </a:p>
          <a:p>
            <a:r>
              <a:rPr lang="en-US" dirty="0"/>
              <a:t>High </a:t>
            </a:r>
            <a:r>
              <a:rPr lang="en-US" dirty="0">
                <a:solidFill>
                  <a:srgbClr val="C00000"/>
                </a:solidFill>
              </a:rPr>
              <a:t>Maintenance of rules</a:t>
            </a:r>
            <a:r>
              <a:rPr lang="en-US" dirty="0"/>
              <a:t>.</a:t>
            </a:r>
          </a:p>
          <a:p>
            <a:r>
              <a:rPr lang="en-US" dirty="0"/>
              <a:t>Poor for </a:t>
            </a:r>
            <a:r>
              <a:rPr lang="en-US" dirty="0">
                <a:solidFill>
                  <a:srgbClr val="C00000"/>
                </a:solidFill>
              </a:rPr>
              <a:t>large datasets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D8293C-8826-3EF9-9955-5447221A8BF1}"/>
              </a:ext>
            </a:extLst>
          </p:cNvPr>
          <p:cNvSpPr/>
          <p:nvPr/>
        </p:nvSpPr>
        <p:spPr>
          <a:xfrm>
            <a:off x="198913" y="819787"/>
            <a:ext cx="7947376" cy="65828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IN" sz="2400" dirty="0">
                <a:solidFill>
                  <a:schemeClr val="bg2"/>
                </a:solidFill>
                <a:latin typeface="Helvetica" pitchFamily="2" charset="0"/>
              </a:rPr>
              <a:t>SPAM FILTER  -&gt; Traditional Programming Techniques.</a:t>
            </a:r>
          </a:p>
        </p:txBody>
      </p:sp>
    </p:spTree>
    <p:extLst>
      <p:ext uri="{BB962C8B-B14F-4D97-AF65-F5344CB8AC3E}">
        <p14:creationId xmlns:p14="http://schemas.microsoft.com/office/powerpoint/2010/main" val="6618900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5" grpId="0" animBg="1"/>
      <p:bldP spid="16" grpId="0" animBg="1"/>
      <p:bldP spid="23" grpId="0"/>
      <p:bldP spid="24" grpId="0"/>
      <p:bldP spid="28" grpId="0"/>
      <p:bldP spid="3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CCCE6B-5BAD-304E-DF87-70EC9FF2A8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Why Use Machine Learning?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AD7BCA20-0ABE-1794-73FD-87B21EEFFADD}"/>
              </a:ext>
            </a:extLst>
          </p:cNvPr>
          <p:cNvSpPr/>
          <p:nvPr/>
        </p:nvSpPr>
        <p:spPr>
          <a:xfrm>
            <a:off x="375357" y="3535230"/>
            <a:ext cx="1456267" cy="5418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>
                <a:solidFill>
                  <a:schemeClr val="tx1"/>
                </a:solidFill>
              </a:rPr>
              <a:t>Study the problem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5FBCE2D-88DC-5BBF-28A5-F832F5B6C3D8}"/>
              </a:ext>
            </a:extLst>
          </p:cNvPr>
          <p:cNvSpPr/>
          <p:nvPr/>
        </p:nvSpPr>
        <p:spPr>
          <a:xfrm>
            <a:off x="2288823" y="3535230"/>
            <a:ext cx="1456267" cy="541867"/>
          </a:xfrm>
          <a:prstGeom prst="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bg2"/>
                </a:solidFill>
              </a:rPr>
              <a:t>Train ML Algo</a:t>
            </a:r>
          </a:p>
        </p:txBody>
      </p:sp>
      <p:sp>
        <p:nvSpPr>
          <p:cNvPr id="8" name="Decision 7">
            <a:extLst>
              <a:ext uri="{FF2B5EF4-FFF2-40B4-BE49-F238E27FC236}">
                <a16:creationId xmlns:a16="http://schemas.microsoft.com/office/drawing/2014/main" id="{4111FD47-7775-2667-2ACD-5AD43CF6402D}"/>
              </a:ext>
            </a:extLst>
          </p:cNvPr>
          <p:cNvSpPr/>
          <p:nvPr/>
        </p:nvSpPr>
        <p:spPr>
          <a:xfrm>
            <a:off x="4326469" y="3391296"/>
            <a:ext cx="1557866" cy="829734"/>
          </a:xfrm>
          <a:prstGeom prst="flowChartDecision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200" dirty="0"/>
              <a:t>Evaluate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45F4ABCA-4A9E-C2FE-54F4-583D7D69E129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1831624" y="3806164"/>
            <a:ext cx="45719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319E8D7-0117-DDB3-8251-247EB496E8B2}"/>
              </a:ext>
            </a:extLst>
          </p:cNvPr>
          <p:cNvCxnSpPr>
            <a:cxnSpLocks/>
            <a:endCxn id="8" idx="1"/>
          </p:cNvCxnSpPr>
          <p:nvPr/>
        </p:nvCxnSpPr>
        <p:spPr>
          <a:xfrm>
            <a:off x="3643491" y="3806163"/>
            <a:ext cx="682978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061605EB-497B-1A33-4A8C-7AD494B764F8}"/>
              </a:ext>
            </a:extLst>
          </p:cNvPr>
          <p:cNvCxnSpPr>
            <a:cxnSpLocks/>
          </p:cNvCxnSpPr>
          <p:nvPr/>
        </p:nvCxnSpPr>
        <p:spPr>
          <a:xfrm flipV="1">
            <a:off x="5105402" y="2742962"/>
            <a:ext cx="0" cy="62935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Rectangle 14">
            <a:extLst>
              <a:ext uri="{FF2B5EF4-FFF2-40B4-BE49-F238E27FC236}">
                <a16:creationId xmlns:a16="http://schemas.microsoft.com/office/drawing/2014/main" id="{CCD96E41-8BBD-BB6B-3A24-8B53B4060DA0}"/>
              </a:ext>
            </a:extLst>
          </p:cNvPr>
          <p:cNvSpPr/>
          <p:nvPr/>
        </p:nvSpPr>
        <p:spPr>
          <a:xfrm>
            <a:off x="4377268" y="2181876"/>
            <a:ext cx="1456267" cy="54186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Task Done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6DB092BF-7EE4-E959-C360-6E13F20BDE22}"/>
              </a:ext>
            </a:extLst>
          </p:cNvPr>
          <p:cNvSpPr/>
          <p:nvPr/>
        </p:nvSpPr>
        <p:spPr>
          <a:xfrm>
            <a:off x="2288823" y="4860662"/>
            <a:ext cx="1456267" cy="54186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Analyze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Error</a:t>
            </a:r>
          </a:p>
        </p:txBody>
      </p:sp>
      <p:cxnSp>
        <p:nvCxnSpPr>
          <p:cNvPr id="18" name="Elbow Connector 17">
            <a:extLst>
              <a:ext uri="{FF2B5EF4-FFF2-40B4-BE49-F238E27FC236}">
                <a16:creationId xmlns:a16="http://schemas.microsoft.com/office/drawing/2014/main" id="{2026193A-88F8-E54A-0878-7EFCEA1C37A0}"/>
              </a:ext>
            </a:extLst>
          </p:cNvPr>
          <p:cNvCxnSpPr>
            <a:cxnSpLocks/>
            <a:stCxn id="8" idx="2"/>
            <a:endCxn id="16" idx="3"/>
          </p:cNvCxnSpPr>
          <p:nvPr/>
        </p:nvCxnSpPr>
        <p:spPr>
          <a:xfrm rot="5400000">
            <a:off x="3969963" y="3996157"/>
            <a:ext cx="910566" cy="1360312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Elbow Connector 19">
            <a:extLst>
              <a:ext uri="{FF2B5EF4-FFF2-40B4-BE49-F238E27FC236}">
                <a16:creationId xmlns:a16="http://schemas.microsoft.com/office/drawing/2014/main" id="{DC580F4E-3959-0D8E-DBF2-FE30B4FF2B10}"/>
              </a:ext>
            </a:extLst>
          </p:cNvPr>
          <p:cNvCxnSpPr>
            <a:cxnSpLocks/>
            <a:stCxn id="16" idx="1"/>
            <a:endCxn id="6" idx="2"/>
          </p:cNvCxnSpPr>
          <p:nvPr/>
        </p:nvCxnSpPr>
        <p:spPr>
          <a:xfrm rot="10800000">
            <a:off x="1103491" y="4077098"/>
            <a:ext cx="1185332" cy="1054499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C7488523-9D94-8276-2E45-5E6854BF5534}"/>
              </a:ext>
            </a:extLst>
          </p:cNvPr>
          <p:cNvSpPr txBox="1"/>
          <p:nvPr/>
        </p:nvSpPr>
        <p:spPr>
          <a:xfrm>
            <a:off x="5331179" y="4432698"/>
            <a:ext cx="62709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Error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DA9191D-EED5-5D56-D9E9-0FB1D641AB35}"/>
              </a:ext>
            </a:extLst>
          </p:cNvPr>
          <p:cNvSpPr txBox="1"/>
          <p:nvPr/>
        </p:nvSpPr>
        <p:spPr>
          <a:xfrm>
            <a:off x="5240868" y="3011686"/>
            <a:ext cx="9380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 Error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A9B35A4-4FBD-D8F0-8DA8-E73A7B23C28C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1103491" y="2956476"/>
            <a:ext cx="0" cy="57875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0D23AAD8-7475-F2D6-D825-AC1043D7DC07}"/>
              </a:ext>
            </a:extLst>
          </p:cNvPr>
          <p:cNvSpPr txBox="1"/>
          <p:nvPr/>
        </p:nvSpPr>
        <p:spPr>
          <a:xfrm>
            <a:off x="1173766" y="2869276"/>
            <a:ext cx="6238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Start</a:t>
            </a:r>
          </a:p>
        </p:txBody>
      </p:sp>
      <p:sp>
        <p:nvSpPr>
          <p:cNvPr id="29" name="Content Placeholder 2">
            <a:extLst>
              <a:ext uri="{FF2B5EF4-FFF2-40B4-BE49-F238E27FC236}">
                <a16:creationId xmlns:a16="http://schemas.microsoft.com/office/drawing/2014/main" id="{CCFAB686-5947-C7CC-5440-EA209142CE9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9265" y="2181876"/>
            <a:ext cx="5651556" cy="4260069"/>
          </a:xfrm>
        </p:spPr>
        <p:txBody>
          <a:bodyPr/>
          <a:lstStyle/>
          <a:p>
            <a:r>
              <a:rPr lang="en-US" dirty="0">
                <a:solidFill>
                  <a:srgbClr val="C00000"/>
                </a:solidFill>
              </a:rPr>
              <a:t>Data-driven patterns</a:t>
            </a:r>
          </a:p>
          <a:p>
            <a:r>
              <a:rPr lang="en-US" dirty="0"/>
              <a:t>Dynamic, </a:t>
            </a:r>
            <a:r>
              <a:rPr lang="en-US" dirty="0">
                <a:solidFill>
                  <a:srgbClr val="C00000"/>
                </a:solidFill>
              </a:rPr>
              <a:t>learns from data</a:t>
            </a:r>
          </a:p>
          <a:p>
            <a:r>
              <a:rPr lang="en-US" dirty="0">
                <a:solidFill>
                  <a:srgbClr val="C00000"/>
                </a:solidFill>
              </a:rPr>
              <a:t>Accuracy High, especially with quality data.</a:t>
            </a:r>
          </a:p>
          <a:p>
            <a:r>
              <a:rPr lang="en-US" dirty="0">
                <a:solidFill>
                  <a:srgbClr val="C00000"/>
                </a:solidFill>
              </a:rPr>
              <a:t>Lower Maintenance </a:t>
            </a:r>
            <a:r>
              <a:rPr lang="en-US" dirty="0"/>
              <a:t>(after initial setup) </a:t>
            </a:r>
          </a:p>
          <a:p>
            <a:r>
              <a:rPr lang="en-US" dirty="0"/>
              <a:t>Scales well </a:t>
            </a:r>
            <a:r>
              <a:rPr lang="en-US" dirty="0">
                <a:solidFill>
                  <a:srgbClr val="C00000"/>
                </a:solidFill>
              </a:rPr>
              <a:t>with more data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CD8293C-8826-3EF9-9955-5447221A8BF1}"/>
              </a:ext>
            </a:extLst>
          </p:cNvPr>
          <p:cNvSpPr/>
          <p:nvPr/>
        </p:nvSpPr>
        <p:spPr>
          <a:xfrm>
            <a:off x="198913" y="819787"/>
            <a:ext cx="7947376" cy="658280"/>
          </a:xfrm>
          <a:prstGeom prst="rect">
            <a:avLst/>
          </a:prstGeom>
          <a:gradFill>
            <a:gsLst>
              <a:gs pos="0">
                <a:srgbClr val="1D3064"/>
              </a:gs>
              <a:gs pos="50000">
                <a:srgbClr val="1D3064"/>
              </a:gs>
              <a:gs pos="100000">
                <a:schemeClr val="tx2"/>
              </a:gs>
            </a:gsLst>
            <a:lin ang="10800000" scaled="1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80000" tIns="180000" rIns="180000" bIns="180000" rtlCol="0" anchor="t"/>
          <a:lstStyle/>
          <a:p>
            <a:r>
              <a:rPr lang="en-IN" sz="2400" dirty="0">
                <a:solidFill>
                  <a:schemeClr val="bg2"/>
                </a:solidFill>
                <a:latin typeface="Helvetica" pitchFamily="2" charset="0"/>
              </a:rPr>
              <a:t>SPAM FILTER  -&gt; The Machine Learning approach</a:t>
            </a:r>
          </a:p>
          <a:p>
            <a:endParaRPr lang="en-IN" sz="2400" dirty="0">
              <a:solidFill>
                <a:schemeClr val="bg2"/>
              </a:solidFill>
              <a:latin typeface="Helvetica" pitchFamily="2" charset="0"/>
            </a:endParaRP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F25C73-BE16-8127-D205-9D1CC947333C}"/>
              </a:ext>
            </a:extLst>
          </p:cNvPr>
          <p:cNvSpPr/>
          <p:nvPr/>
        </p:nvSpPr>
        <p:spPr>
          <a:xfrm>
            <a:off x="2486380" y="2662159"/>
            <a:ext cx="1100668" cy="3917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0B59DE68-6F78-FC01-7F04-368C060F5803}"/>
              </a:ext>
            </a:extLst>
          </p:cNvPr>
          <p:cNvCxnSpPr>
            <a:cxnSpLocks/>
          </p:cNvCxnSpPr>
          <p:nvPr/>
        </p:nvCxnSpPr>
        <p:spPr>
          <a:xfrm>
            <a:off x="3036714" y="3053941"/>
            <a:ext cx="1" cy="4812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19832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>
                      <p:stCondLst>
                        <p:cond delay="indefinite"/>
                      </p:stCondLst>
                      <p:childTnLst>
                        <p:par>
                          <p:cTn id="41" fill="hold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>
                      <p:stCondLst>
                        <p:cond delay="indefinite"/>
                      </p:stCondLst>
                      <p:childTnLst>
                        <p:par>
                          <p:cTn id="61" fill="hold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>
                      <p:stCondLst>
                        <p:cond delay="indefinite"/>
                      </p:stCondLst>
                      <p:childTnLst>
                        <p:par>
                          <p:cTn id="73" fill="hold">
                            <p:stCondLst>
                              <p:cond delay="0"/>
                            </p:stCondLst>
                            <p:childTnLst>
                              <p:par>
                                <p:cTn id="7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>
                      <p:stCondLst>
                        <p:cond delay="indefinite"/>
                      </p:stCondLst>
                      <p:childTnLst>
                        <p:par>
                          <p:cTn id="77" fill="hold">
                            <p:stCondLst>
                              <p:cond delay="0"/>
                            </p:stCondLst>
                            <p:childTnLst>
                              <p:par>
                                <p:cTn id="7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15" grpId="0" animBg="1"/>
      <p:bldP spid="16" grpId="0" animBg="1"/>
      <p:bldP spid="23" grpId="0"/>
      <p:bldP spid="24" grpId="0"/>
      <p:bldP spid="28" grpId="0"/>
      <p:bldP spid="3" grpId="0" animBg="1"/>
      <p:bldP spid="4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CFF3B3-463C-F663-F451-8C12C34A16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to Use Machine Learning 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0EAEE-5832-3D86-DE6C-E9727EB6F9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the Problem Is Too Complex for Coding</a:t>
            </a:r>
          </a:p>
          <a:p>
            <a:r>
              <a:rPr lang="en-US" dirty="0"/>
              <a:t>In a situation where the problem is </a:t>
            </a:r>
            <a:r>
              <a:rPr lang="en-US" dirty="0">
                <a:solidFill>
                  <a:srgbClr val="C00000"/>
                </a:solidFill>
              </a:rPr>
              <a:t>so complex or big that </a:t>
            </a:r>
            <a:r>
              <a:rPr lang="en-US" dirty="0"/>
              <a:t>you cannot hope to write </a:t>
            </a:r>
            <a:r>
              <a:rPr lang="en-US" dirty="0">
                <a:solidFill>
                  <a:srgbClr val="C00000"/>
                </a:solidFill>
              </a:rPr>
              <a:t>all the rules to solve it</a:t>
            </a:r>
            <a:r>
              <a:rPr lang="en-US" dirty="0"/>
              <a:t> and </a:t>
            </a:r>
            <a:r>
              <a:rPr lang="en-US" dirty="0">
                <a:solidFill>
                  <a:srgbClr val="C00000"/>
                </a:solidFill>
              </a:rPr>
              <a:t>where a partial solution is viable </a:t>
            </a:r>
            <a:r>
              <a:rPr lang="en-US" dirty="0"/>
              <a:t>and interesting, you can try to solve the problem with machine learning.</a:t>
            </a:r>
          </a:p>
          <a:p>
            <a:pPr marL="0" indent="0">
              <a:buNone/>
            </a:pPr>
            <a:r>
              <a:rPr lang="en-US" b="1" dirty="0"/>
              <a:t>When the Problem Is Constantly Changing</a:t>
            </a:r>
          </a:p>
          <a:p>
            <a:r>
              <a:rPr lang="en-US" dirty="0"/>
              <a:t>Some </a:t>
            </a:r>
            <a:r>
              <a:rPr lang="en-US" dirty="0">
                <a:solidFill>
                  <a:srgbClr val="C00000"/>
                </a:solidFill>
              </a:rPr>
              <a:t>problems may continuously change with time so that the programming </a:t>
            </a:r>
            <a:r>
              <a:rPr lang="en-US" dirty="0"/>
              <a:t>code must be regularly updated. </a:t>
            </a:r>
          </a:p>
          <a:p>
            <a:r>
              <a:rPr lang="en-US" dirty="0"/>
              <a:t>That results in the frustration of software engineers working on the problem, an increased chance of </a:t>
            </a:r>
            <a:r>
              <a:rPr lang="en-US" dirty="0">
                <a:solidFill>
                  <a:srgbClr val="C00000"/>
                </a:solidFill>
              </a:rPr>
              <a:t>introducing errors, diﬃculties of combining </a:t>
            </a:r>
            <a:r>
              <a:rPr lang="en-US" dirty="0"/>
              <a:t>“previous” and “new” logic, and significant overhead of testing and </a:t>
            </a:r>
            <a:r>
              <a:rPr lang="en-US" dirty="0">
                <a:solidFill>
                  <a:srgbClr val="C00000"/>
                </a:solidFill>
              </a:rPr>
              <a:t>deploying updated solutions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When It Is a Perceptive Problem</a:t>
            </a:r>
          </a:p>
          <a:p>
            <a:r>
              <a:rPr lang="en-US" dirty="0"/>
              <a:t>Today, it’s hard to </a:t>
            </a:r>
            <a:r>
              <a:rPr lang="en-US" dirty="0">
                <a:solidFill>
                  <a:srgbClr val="C00000"/>
                </a:solidFill>
              </a:rPr>
              <a:t>imagine someone trying to solve perceptive problems </a:t>
            </a:r>
            <a:r>
              <a:rPr lang="en-US" dirty="0"/>
              <a:t>such as speech, </a:t>
            </a:r>
            <a:r>
              <a:rPr lang="en-US" dirty="0">
                <a:solidFill>
                  <a:srgbClr val="C00000"/>
                </a:solidFill>
              </a:rPr>
              <a:t>image, and video </a:t>
            </a:r>
            <a:r>
              <a:rPr lang="en-US" dirty="0"/>
              <a:t>recognition without using machine learning</a:t>
            </a:r>
          </a:p>
          <a:p>
            <a:endParaRPr lang="en-US" dirty="0"/>
          </a:p>
          <a:p>
            <a:endParaRPr lang="en-US" dirty="0"/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597017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AFE145-84D4-62A9-BC15-7971E7303B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When to Use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13A4BE-CEE1-6351-7930-80326CEC8F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When It Is an Unstudied Phenomenon</a:t>
            </a:r>
          </a:p>
          <a:p>
            <a:r>
              <a:rPr lang="en-US" dirty="0"/>
              <a:t>If we need to be able to make </a:t>
            </a:r>
            <a:r>
              <a:rPr lang="en-US" dirty="0">
                <a:solidFill>
                  <a:srgbClr val="C00000"/>
                </a:solidFill>
              </a:rPr>
              <a:t>predictions of some phenomenon </a:t>
            </a:r>
            <a:r>
              <a:rPr lang="en-US" dirty="0"/>
              <a:t>that is not well-studied </a:t>
            </a:r>
            <a:r>
              <a:rPr lang="en-US" dirty="0">
                <a:solidFill>
                  <a:srgbClr val="C00000"/>
                </a:solidFill>
              </a:rPr>
              <a:t>scientifically</a:t>
            </a:r>
            <a:r>
              <a:rPr lang="en-US" dirty="0"/>
              <a:t>, but examples of it are </a:t>
            </a:r>
            <a:r>
              <a:rPr lang="en-US" dirty="0">
                <a:solidFill>
                  <a:srgbClr val="C00000"/>
                </a:solidFill>
              </a:rPr>
              <a:t>observable</a:t>
            </a:r>
            <a:r>
              <a:rPr lang="en-US" dirty="0"/>
              <a:t>, then machine learning might be an appropriate.</a:t>
            </a:r>
          </a:p>
          <a:p>
            <a:pPr marL="0" indent="0">
              <a:buNone/>
            </a:pPr>
            <a:r>
              <a:rPr lang="en-US" b="1" dirty="0"/>
              <a:t>When It Is Cost-Eﬀective</a:t>
            </a:r>
          </a:p>
          <a:p>
            <a:r>
              <a:rPr lang="en-US" dirty="0"/>
              <a:t>The cost of training the model includes </a:t>
            </a:r>
            <a:r>
              <a:rPr lang="en-US" dirty="0">
                <a:solidFill>
                  <a:srgbClr val="C00000"/>
                </a:solidFill>
              </a:rPr>
              <a:t>human labor and, in some cases, the expensive hardware</a:t>
            </a:r>
            <a:r>
              <a:rPr lang="en-US" dirty="0"/>
              <a:t> needed to train deep models. Model maintenance includes </a:t>
            </a:r>
            <a:r>
              <a:rPr lang="en-US" dirty="0">
                <a:solidFill>
                  <a:srgbClr val="C00000"/>
                </a:solidFill>
              </a:rPr>
              <a:t>continuously monitoring </a:t>
            </a:r>
            <a:r>
              <a:rPr lang="en-US" dirty="0"/>
              <a:t>the model and </a:t>
            </a:r>
            <a:r>
              <a:rPr lang="en-US" dirty="0">
                <a:solidFill>
                  <a:srgbClr val="C00000"/>
                </a:solidFill>
              </a:rPr>
              <a:t>collecting additional data </a:t>
            </a:r>
            <a:r>
              <a:rPr lang="en-US" dirty="0"/>
              <a:t>to keep the model up to date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25933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2CB143-6A12-4855-E962-B206A7D9E6B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When Not to Use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E8266F-02ED-5066-2923-9FFD393827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Every action of the system or a </a:t>
            </a:r>
            <a:r>
              <a:rPr lang="en-US" dirty="0">
                <a:solidFill>
                  <a:srgbClr val="C00000"/>
                </a:solidFill>
              </a:rPr>
              <a:t>decision made by it must be explainable</a:t>
            </a:r>
            <a:r>
              <a:rPr lang="en-US" dirty="0"/>
              <a:t>.</a:t>
            </a:r>
          </a:p>
          <a:p>
            <a:r>
              <a:rPr lang="en-US" dirty="0"/>
              <a:t>Every change in the </a:t>
            </a:r>
            <a:r>
              <a:rPr lang="en-US" dirty="0">
                <a:solidFill>
                  <a:srgbClr val="C00000"/>
                </a:solidFill>
              </a:rPr>
              <a:t>system’s behavior compared </a:t>
            </a:r>
            <a:r>
              <a:rPr lang="en-US" dirty="0"/>
              <a:t>to its past behavior in a similar situation must be </a:t>
            </a:r>
            <a:r>
              <a:rPr lang="en-US" dirty="0">
                <a:solidFill>
                  <a:srgbClr val="C00000"/>
                </a:solidFill>
              </a:rPr>
              <a:t>explainable</a:t>
            </a:r>
            <a:r>
              <a:rPr lang="en-US" dirty="0"/>
              <a:t>.</a:t>
            </a:r>
          </a:p>
          <a:p>
            <a:r>
              <a:rPr lang="en-US" dirty="0"/>
              <a:t>The cost of an </a:t>
            </a:r>
            <a:r>
              <a:rPr lang="en-US" dirty="0">
                <a:solidFill>
                  <a:srgbClr val="C00000"/>
                </a:solidFill>
              </a:rPr>
              <a:t>error</a:t>
            </a:r>
            <a:r>
              <a:rPr lang="en-US" dirty="0"/>
              <a:t> made by </a:t>
            </a:r>
            <a:r>
              <a:rPr lang="en-US" dirty="0">
                <a:solidFill>
                  <a:srgbClr val="C00000"/>
                </a:solidFill>
              </a:rPr>
              <a:t>the system is too high</a:t>
            </a:r>
            <a:r>
              <a:rPr lang="en-US" dirty="0"/>
              <a:t>.</a:t>
            </a:r>
          </a:p>
          <a:p>
            <a:r>
              <a:rPr lang="en-US" dirty="0"/>
              <a:t>Getting the right data is </a:t>
            </a:r>
            <a:r>
              <a:rPr lang="en-US" dirty="0">
                <a:solidFill>
                  <a:srgbClr val="C00000"/>
                </a:solidFill>
              </a:rPr>
              <a:t>too hard or impossible</a:t>
            </a:r>
            <a:r>
              <a:rPr lang="en-US" dirty="0"/>
              <a:t>.</a:t>
            </a:r>
          </a:p>
          <a:p>
            <a:r>
              <a:rPr lang="en-US" dirty="0"/>
              <a:t>You can solve the problem using </a:t>
            </a:r>
            <a:r>
              <a:rPr lang="en-US" dirty="0">
                <a:solidFill>
                  <a:srgbClr val="C00000"/>
                </a:solidFill>
              </a:rPr>
              <a:t>traditional software development </a:t>
            </a:r>
            <a:r>
              <a:rPr lang="en-US" dirty="0"/>
              <a:t>at a </a:t>
            </a:r>
            <a:r>
              <a:rPr lang="en-US" dirty="0">
                <a:solidFill>
                  <a:srgbClr val="C00000"/>
                </a:solidFill>
              </a:rPr>
              <a:t>lower cost.</a:t>
            </a:r>
          </a:p>
          <a:p>
            <a:r>
              <a:rPr lang="en-US" dirty="0"/>
              <a:t>A simple </a:t>
            </a:r>
            <a:r>
              <a:rPr lang="en-US" dirty="0">
                <a:solidFill>
                  <a:srgbClr val="C00000"/>
                </a:solidFill>
              </a:rPr>
              <a:t>heuristic would </a:t>
            </a:r>
            <a:r>
              <a:rPr lang="en-US" dirty="0"/>
              <a:t>work </a:t>
            </a:r>
            <a:r>
              <a:rPr lang="en-US" dirty="0">
                <a:solidFill>
                  <a:srgbClr val="C00000"/>
                </a:solidFill>
              </a:rPr>
              <a:t>reasonably well</a:t>
            </a:r>
            <a:r>
              <a:rPr lang="en-US" dirty="0"/>
              <a:t>.</a:t>
            </a:r>
          </a:p>
          <a:p>
            <a:r>
              <a:rPr lang="en-US" dirty="0"/>
              <a:t>You build a </a:t>
            </a:r>
            <a:r>
              <a:rPr lang="en-US" dirty="0">
                <a:solidFill>
                  <a:srgbClr val="C00000"/>
                </a:solidFill>
              </a:rPr>
              <a:t>system that will not have to be improved </a:t>
            </a:r>
            <a:r>
              <a:rPr lang="en-US" dirty="0"/>
              <a:t>frequently over time.</a:t>
            </a:r>
          </a:p>
        </p:txBody>
      </p:sp>
    </p:spTree>
    <p:extLst>
      <p:ext uri="{BB962C8B-B14F-4D97-AF65-F5344CB8AC3E}">
        <p14:creationId xmlns:p14="http://schemas.microsoft.com/office/powerpoint/2010/main" val="1278581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0CEA50-14C4-5C3B-B061-F9C569FE32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Terminology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7CC2E06F-4933-B13C-FB28-7C86FC93EEE1}"/>
              </a:ext>
            </a:extLst>
          </p:cNvPr>
          <p:cNvGrpSpPr/>
          <p:nvPr/>
        </p:nvGrpSpPr>
        <p:grpSpPr>
          <a:xfrm>
            <a:off x="356074" y="1122818"/>
            <a:ext cx="1123864" cy="1080000"/>
            <a:chOff x="6339254" y="904356"/>
            <a:chExt cx="1123864" cy="1080000"/>
          </a:xfrm>
        </p:grpSpPr>
        <p:sp>
          <p:nvSpPr>
            <p:cNvPr id="5" name="Snip Diagonal Corner Rectangle 6">
              <a:extLst>
                <a:ext uri="{FF2B5EF4-FFF2-40B4-BE49-F238E27FC236}">
                  <a16:creationId xmlns:a16="http://schemas.microsoft.com/office/drawing/2014/main" id="{5649924A-E8C9-A91E-71E6-60A0200DDDC3}"/>
                </a:ext>
              </a:extLst>
            </p:cNvPr>
            <p:cNvSpPr/>
            <p:nvPr/>
          </p:nvSpPr>
          <p:spPr>
            <a:xfrm>
              <a:off x="6339254" y="904356"/>
              <a:ext cx="1123864" cy="1080000"/>
            </a:xfrm>
            <a:prstGeom prst="snip2DiagRect">
              <a:avLst/>
            </a:prstGeom>
            <a:gradFill flip="none" rotWithShape="1">
              <a:gsLst>
                <a:gs pos="66000">
                  <a:schemeClr val="accent4">
                    <a:lumMod val="75000"/>
                  </a:schemeClr>
                </a:gs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A8814FA5-C9CF-BEBE-C34C-8C1BC0F35DDA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2"/>
            <a:srcRect l="17630" t="15063" r="19552" b="27497"/>
            <a:stretch/>
          </p:blipFill>
          <p:spPr>
            <a:xfrm>
              <a:off x="6393042" y="942548"/>
              <a:ext cx="1005840" cy="974733"/>
            </a:xfrm>
            <a:prstGeom prst="rect">
              <a:avLst/>
            </a:prstGeom>
          </p:spPr>
        </p:pic>
      </p:grpSp>
      <p:sp>
        <p:nvSpPr>
          <p:cNvPr id="7" name="TextBox 6">
            <a:extLst>
              <a:ext uri="{FF2B5EF4-FFF2-40B4-BE49-F238E27FC236}">
                <a16:creationId xmlns:a16="http://schemas.microsoft.com/office/drawing/2014/main" id="{69FE54DA-A47E-DEBE-D9B4-30DDF44EA4AD}"/>
              </a:ext>
            </a:extLst>
          </p:cNvPr>
          <p:cNvSpPr txBox="1"/>
          <p:nvPr/>
        </p:nvSpPr>
        <p:spPr>
          <a:xfrm>
            <a:off x="86023" y="2214277"/>
            <a:ext cx="166624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Algorithm</a:t>
            </a:r>
            <a:r>
              <a:rPr lang="en-US" sz="2800" dirty="0">
                <a:solidFill>
                  <a:srgbClr val="FFC000"/>
                </a:solidFill>
              </a:rPr>
              <a:t> </a:t>
            </a:r>
          </a:p>
        </p:txBody>
      </p:sp>
      <p:sp>
        <p:nvSpPr>
          <p:cNvPr id="8" name="Content Placeholder 1">
            <a:extLst>
              <a:ext uri="{FF2B5EF4-FFF2-40B4-BE49-F238E27FC236}">
                <a16:creationId xmlns:a16="http://schemas.microsoft.com/office/drawing/2014/main" id="{6CB20F7C-9DA2-AF06-E7EE-7F512D34F02A}"/>
              </a:ext>
            </a:extLst>
          </p:cNvPr>
          <p:cNvSpPr txBox="1">
            <a:spLocks/>
          </p:cNvSpPr>
          <p:nvPr/>
        </p:nvSpPr>
        <p:spPr>
          <a:xfrm>
            <a:off x="1958389" y="1025598"/>
            <a:ext cx="9695223" cy="5585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D3064"/>
              </a:buClr>
              <a:buFont typeface="Wingdings 3" panose="05040102010807070707" pitchFamily="18" charset="2"/>
              <a:buChar char="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Wingdings 3" panose="05040102010807070707" pitchFamily="18" charset="2"/>
              <a:buChar char="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6"/>
              </a:buClr>
            </a:pPr>
            <a:r>
              <a:rPr lang="en-US" dirty="0"/>
              <a:t>A method, function, </a:t>
            </a:r>
            <a:r>
              <a:rPr lang="en-US" dirty="0">
                <a:solidFill>
                  <a:srgbClr val="C00000"/>
                </a:solidFill>
              </a:rPr>
              <a:t>or series of instructions </a:t>
            </a:r>
            <a:r>
              <a:rPr lang="en-US" dirty="0"/>
              <a:t>used to </a:t>
            </a:r>
            <a:r>
              <a:rPr lang="en-US" dirty="0">
                <a:solidFill>
                  <a:srgbClr val="C00000"/>
                </a:solidFill>
              </a:rPr>
              <a:t>generate a machine learning model. 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Examples:</a:t>
            </a:r>
            <a:r>
              <a:rPr lang="en-US" b="1" dirty="0"/>
              <a:t> </a:t>
            </a:r>
            <a:r>
              <a:rPr lang="en-US" dirty="0"/>
              <a:t>include </a:t>
            </a:r>
            <a:r>
              <a:rPr lang="en-US" dirty="0">
                <a:solidFill>
                  <a:srgbClr val="C00000"/>
                </a:solidFill>
              </a:rPr>
              <a:t>linear regression, decision trees, support vector machines</a:t>
            </a:r>
            <a:r>
              <a:rPr lang="en-US" dirty="0"/>
              <a:t>, and Naïve Bayes.</a:t>
            </a:r>
          </a:p>
          <a:p>
            <a:pPr>
              <a:buClr>
                <a:schemeClr val="accent6"/>
              </a:buClr>
            </a:pPr>
            <a:endParaRPr lang="en-US" dirty="0"/>
          </a:p>
          <a:p>
            <a:pPr>
              <a:buClr>
                <a:schemeClr val="accent6"/>
              </a:buClr>
            </a:pPr>
            <a:r>
              <a:rPr lang="en-US" dirty="0"/>
              <a:t>A mathematical representation of a </a:t>
            </a:r>
            <a:r>
              <a:rPr lang="en-US" dirty="0">
                <a:solidFill>
                  <a:srgbClr val="C00000"/>
                </a:solidFill>
              </a:rPr>
              <a:t>real-world process learned </a:t>
            </a:r>
            <a:r>
              <a:rPr lang="en-US" dirty="0"/>
              <a:t>from data.</a:t>
            </a:r>
          </a:p>
          <a:p>
            <a:pPr>
              <a:buClr>
                <a:schemeClr val="accent6"/>
              </a:buClr>
            </a:pPr>
            <a:r>
              <a:rPr lang="en-US" dirty="0"/>
              <a:t>A model defines the relationship between </a:t>
            </a:r>
            <a:r>
              <a:rPr lang="en-US" dirty="0">
                <a:solidFill>
                  <a:srgbClr val="C00000"/>
                </a:solidFill>
              </a:rPr>
              <a:t>features and label</a:t>
            </a:r>
            <a:r>
              <a:rPr lang="en-US" dirty="0"/>
              <a:t>. </a:t>
            </a:r>
          </a:p>
          <a:p>
            <a:pPr>
              <a:buClr>
                <a:schemeClr val="accent6"/>
              </a:buClr>
            </a:pPr>
            <a:r>
              <a:rPr lang="en-US" dirty="0"/>
              <a:t>Models are created/learned </a:t>
            </a:r>
            <a:r>
              <a:rPr lang="en-US" dirty="0">
                <a:solidFill>
                  <a:srgbClr val="C00000"/>
                </a:solidFill>
              </a:rPr>
              <a:t>when you train an algorithm on a dataset</a:t>
            </a:r>
            <a:r>
              <a:rPr lang="en-US" dirty="0"/>
              <a:t>.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Example: </a:t>
            </a:r>
            <a:r>
              <a:rPr lang="en-US" dirty="0"/>
              <a:t>A spam filter</a:t>
            </a:r>
          </a:p>
        </p:txBody>
      </p:sp>
      <p:grpSp>
        <p:nvGrpSpPr>
          <p:cNvPr id="9" name="Group 8">
            <a:extLst>
              <a:ext uri="{FF2B5EF4-FFF2-40B4-BE49-F238E27FC236}">
                <a16:creationId xmlns:a16="http://schemas.microsoft.com/office/drawing/2014/main" id="{595E1A8D-44A5-9744-F439-7C7D04685C28}"/>
              </a:ext>
            </a:extLst>
          </p:cNvPr>
          <p:cNvGrpSpPr/>
          <p:nvPr/>
        </p:nvGrpSpPr>
        <p:grpSpPr>
          <a:xfrm>
            <a:off x="408613" y="3166398"/>
            <a:ext cx="1124712" cy="1078992"/>
            <a:chOff x="3671296" y="3101183"/>
            <a:chExt cx="1188720" cy="1097280"/>
          </a:xfrm>
        </p:grpSpPr>
        <p:sp>
          <p:nvSpPr>
            <p:cNvPr id="10" name="Snip Same Side Corner Rectangle 12">
              <a:extLst>
                <a:ext uri="{FF2B5EF4-FFF2-40B4-BE49-F238E27FC236}">
                  <a16:creationId xmlns:a16="http://schemas.microsoft.com/office/drawing/2014/main" id="{6E38ADB7-3EEA-D52F-407E-DB1988840B9B}"/>
                </a:ext>
              </a:extLst>
            </p:cNvPr>
            <p:cNvSpPr/>
            <p:nvPr/>
          </p:nvSpPr>
          <p:spPr>
            <a:xfrm>
              <a:off x="3671296" y="3101183"/>
              <a:ext cx="1188720" cy="1097280"/>
            </a:xfrm>
            <a:prstGeom prst="snip2SameRect">
              <a:avLst/>
            </a:prstGeom>
            <a:solidFill>
              <a:srgbClr val="FD5D3D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F272D68D-226B-4568-C9DD-EEDD28513BE2}"/>
                </a:ext>
              </a:extLst>
            </p:cNvPr>
            <p:cNvGrpSpPr/>
            <p:nvPr/>
          </p:nvGrpSpPr>
          <p:grpSpPr>
            <a:xfrm>
              <a:off x="3808457" y="3146903"/>
              <a:ext cx="914400" cy="1005840"/>
              <a:chOff x="3808457" y="3146903"/>
              <a:chExt cx="914400" cy="1005840"/>
            </a:xfrm>
          </p:grpSpPr>
          <p:pic>
            <p:nvPicPr>
              <p:cNvPr id="12" name="Picture 11">
                <a:extLst>
                  <a:ext uri="{FF2B5EF4-FFF2-40B4-BE49-F238E27FC236}">
                    <a16:creationId xmlns:a16="http://schemas.microsoft.com/office/drawing/2014/main" id="{D417D99F-0888-0336-FCC1-96BD3F19625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3"/>
              <a:srcRect l="8526" t="6586" r="9905" b="9335"/>
              <a:stretch/>
            </p:blipFill>
            <p:spPr>
              <a:xfrm>
                <a:off x="3808457" y="3146903"/>
                <a:ext cx="914400" cy="1005840"/>
              </a:xfrm>
              <a:prstGeom prst="rect">
                <a:avLst/>
              </a:prstGeom>
            </p:spPr>
          </p:pic>
          <p:pic>
            <p:nvPicPr>
              <p:cNvPr id="13" name="Picture 12">
                <a:extLst>
                  <a:ext uri="{FF2B5EF4-FFF2-40B4-BE49-F238E27FC236}">
                    <a16:creationId xmlns:a16="http://schemas.microsoft.com/office/drawing/2014/main" id="{AE2151A1-1ADC-120D-6BFA-43F9D313E806}"/>
                  </a:ext>
                </a:extLst>
              </p:cNvPr>
              <p:cNvPicPr>
                <a:picLocks noChangeAspect="1"/>
              </p:cNvPicPr>
              <p:nvPr/>
            </p:nvPicPr>
            <p:blipFill rotWithShape="1">
              <a:blip r:embed="rId4"/>
              <a:srcRect l="48762" t="10354" r="9827" b="31920"/>
              <a:stretch/>
            </p:blipFill>
            <p:spPr>
              <a:xfrm>
                <a:off x="4098251" y="3463029"/>
                <a:ext cx="334811" cy="498052"/>
              </a:xfrm>
              <a:prstGeom prst="rect">
                <a:avLst/>
              </a:prstGeom>
            </p:spPr>
          </p:pic>
        </p:grp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2DC9838F-642D-2018-7150-1B67C7034B10}"/>
              </a:ext>
            </a:extLst>
          </p:cNvPr>
          <p:cNvSpPr txBox="1"/>
          <p:nvPr/>
        </p:nvSpPr>
        <p:spPr>
          <a:xfrm>
            <a:off x="250331" y="4242767"/>
            <a:ext cx="1440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Model</a:t>
            </a:r>
            <a:r>
              <a:rPr lang="en-US" sz="2800" dirty="0">
                <a:solidFill>
                  <a:srgbClr val="FFC000"/>
                </a:solidFill>
              </a:rPr>
              <a:t>  </a:t>
            </a:r>
          </a:p>
        </p:txBody>
      </p:sp>
    </p:spTree>
    <p:extLst>
      <p:ext uri="{BB962C8B-B14F-4D97-AF65-F5344CB8AC3E}">
        <p14:creationId xmlns:p14="http://schemas.microsoft.com/office/powerpoint/2010/main" val="311841384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14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EE1291-D0F4-E828-F4F6-F33249520D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Terminology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E017B47-F085-67FD-A7EB-AA65DB43D2DD}"/>
              </a:ext>
            </a:extLst>
          </p:cNvPr>
          <p:cNvSpPr txBox="1"/>
          <p:nvPr/>
        </p:nvSpPr>
        <p:spPr>
          <a:xfrm>
            <a:off x="357654" y="2081568"/>
            <a:ext cx="1440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Feature</a:t>
            </a:r>
            <a:r>
              <a:rPr lang="en-US" sz="2800" dirty="0">
                <a:solidFill>
                  <a:srgbClr val="FFC000"/>
                </a:solidFill>
              </a:rPr>
              <a:t>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F714569A-796A-7866-1B04-9FE57F0F6895}"/>
              </a:ext>
            </a:extLst>
          </p:cNvPr>
          <p:cNvSpPr txBox="1"/>
          <p:nvPr/>
        </p:nvSpPr>
        <p:spPr>
          <a:xfrm>
            <a:off x="357654" y="4799183"/>
            <a:ext cx="1440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Label</a:t>
            </a:r>
            <a:r>
              <a:rPr lang="en-US" sz="2800" dirty="0">
                <a:solidFill>
                  <a:srgbClr val="FFC000"/>
                </a:solidFill>
              </a:rPr>
              <a:t> 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C83F2853-90CB-828D-6DDF-7F50C7F4CE27}"/>
              </a:ext>
            </a:extLst>
          </p:cNvPr>
          <p:cNvGrpSpPr/>
          <p:nvPr/>
        </p:nvGrpSpPr>
        <p:grpSpPr>
          <a:xfrm>
            <a:off x="549079" y="1186220"/>
            <a:ext cx="1177652" cy="954846"/>
            <a:chOff x="3753412" y="2677291"/>
            <a:chExt cx="1188720" cy="1188720"/>
          </a:xfrm>
        </p:grpSpPr>
        <p:sp>
          <p:nvSpPr>
            <p:cNvPr id="7" name="Round Diagonal Corner Rectangle 18">
              <a:extLst>
                <a:ext uri="{FF2B5EF4-FFF2-40B4-BE49-F238E27FC236}">
                  <a16:creationId xmlns:a16="http://schemas.microsoft.com/office/drawing/2014/main" id="{05B1E4CF-BC16-F021-66A5-33ED4A02686D}"/>
                </a:ext>
              </a:extLst>
            </p:cNvPr>
            <p:cNvSpPr/>
            <p:nvPr/>
          </p:nvSpPr>
          <p:spPr>
            <a:xfrm>
              <a:off x="3753412" y="2723011"/>
              <a:ext cx="1188720" cy="1097280"/>
            </a:xfrm>
            <a:prstGeom prst="round2DiagRect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>
                <a:solidFill>
                  <a:srgbClr val="FF0000"/>
                </a:solidFill>
              </a:endParaRPr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4EEBA5B2-17BC-DE10-5E39-CDC737D035E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3753412" y="2677291"/>
              <a:ext cx="1162537" cy="118872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7DAD065C-913B-963B-5BFF-3C2AD103F62A}"/>
              </a:ext>
            </a:extLst>
          </p:cNvPr>
          <p:cNvGrpSpPr/>
          <p:nvPr/>
        </p:nvGrpSpPr>
        <p:grpSpPr>
          <a:xfrm>
            <a:off x="490191" y="3975155"/>
            <a:ext cx="1158381" cy="702636"/>
            <a:chOff x="4443991" y="1663817"/>
            <a:chExt cx="1124712" cy="998171"/>
          </a:xfrm>
        </p:grpSpPr>
        <p:sp>
          <p:nvSpPr>
            <p:cNvPr id="10" name="Teardrop 9">
              <a:extLst>
                <a:ext uri="{FF2B5EF4-FFF2-40B4-BE49-F238E27FC236}">
                  <a16:creationId xmlns:a16="http://schemas.microsoft.com/office/drawing/2014/main" id="{0555A43B-C038-BED5-191D-93D52779E0CE}"/>
                </a:ext>
              </a:extLst>
            </p:cNvPr>
            <p:cNvSpPr/>
            <p:nvPr/>
          </p:nvSpPr>
          <p:spPr>
            <a:xfrm rot="13487575">
              <a:off x="4443991" y="1663817"/>
              <a:ext cx="1124712" cy="998171"/>
            </a:xfrm>
            <a:prstGeom prst="teardrop">
              <a:avLst/>
            </a:prstGeom>
            <a:gradFill flip="none" rotWithShape="1">
              <a:gsLst>
                <a:gs pos="66000">
                  <a:schemeClr val="accent4">
                    <a:lumMod val="75000"/>
                  </a:schemeClr>
                </a:gs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A5637207-57FD-97D6-3F0A-26FD0DDCD07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671961" y="1717535"/>
              <a:ext cx="640080" cy="889601"/>
            </a:xfrm>
            <a:prstGeom prst="rect">
              <a:avLst/>
            </a:prstGeom>
          </p:spPr>
        </p:pic>
      </p:grpSp>
      <p:sp>
        <p:nvSpPr>
          <p:cNvPr id="20" name="Content Placeholder 1">
            <a:extLst>
              <a:ext uri="{FF2B5EF4-FFF2-40B4-BE49-F238E27FC236}">
                <a16:creationId xmlns:a16="http://schemas.microsoft.com/office/drawing/2014/main" id="{5B7B2A22-D7A3-2845-BFF8-C36F69BDA3F4}"/>
              </a:ext>
            </a:extLst>
          </p:cNvPr>
          <p:cNvSpPr txBox="1">
            <a:spLocks/>
          </p:cNvSpPr>
          <p:nvPr/>
        </p:nvSpPr>
        <p:spPr>
          <a:xfrm>
            <a:off x="2014943" y="1133521"/>
            <a:ext cx="9819403" cy="55854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rgbClr val="1D3064"/>
              </a:buClr>
              <a:buFont typeface="Wingdings 3" panose="05040102010807070707" pitchFamily="18" charset="2"/>
              <a:buChar char="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Wingdings 3" panose="05040102010807070707" pitchFamily="18" charset="2"/>
              <a:buChar char="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Wingdings" panose="05000000000000000000" pitchFamily="2" charset="2"/>
              <a:buChar char="§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Arial" panose="020B0604020202020204" pitchFamily="34" charset="0"/>
              <a:buChar char="•"/>
              <a:defRPr lang="en-US" sz="24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rgbClr val="1D3064"/>
              </a:buClr>
              <a:buFont typeface="Arial" panose="020B0604020202020204" pitchFamily="34" charset="0"/>
              <a:buChar char="•"/>
              <a:def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Clr>
                <a:schemeClr val="accent6"/>
              </a:buClr>
            </a:pPr>
            <a:r>
              <a:rPr lang="en-US" dirty="0"/>
              <a:t>With respect to a dataset, a feature </a:t>
            </a:r>
            <a:r>
              <a:rPr lang="en-US" dirty="0">
                <a:solidFill>
                  <a:srgbClr val="C00000"/>
                </a:solidFill>
              </a:rPr>
              <a:t>represents an attribute </a:t>
            </a:r>
            <a:r>
              <a:rPr lang="en-US" dirty="0"/>
              <a:t>and value combination. </a:t>
            </a:r>
          </a:p>
          <a:p>
            <a:pPr>
              <a:buClr>
                <a:schemeClr val="accent6"/>
              </a:buClr>
            </a:pPr>
            <a:r>
              <a:rPr lang="en-US" dirty="0"/>
              <a:t>A Feature is the input </a:t>
            </a:r>
            <a:r>
              <a:rPr lang="en-US" dirty="0">
                <a:solidFill>
                  <a:srgbClr val="C00000"/>
                </a:solidFill>
              </a:rPr>
              <a:t>used for prediction or classification</a:t>
            </a:r>
            <a:r>
              <a:rPr lang="en-US" dirty="0"/>
              <a:t>. </a:t>
            </a:r>
          </a:p>
          <a:p>
            <a:pPr>
              <a:buClr>
                <a:schemeClr val="accent6"/>
              </a:buClr>
            </a:pPr>
            <a:r>
              <a:rPr lang="en-US" dirty="0"/>
              <a:t>Input variables for the model 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 : </a:t>
            </a:r>
            <a:r>
              <a:rPr lang="en-US" dirty="0"/>
              <a:t>"email length" and "presence of keywords”</a:t>
            </a:r>
          </a:p>
          <a:p>
            <a:pPr marL="0" indent="0">
              <a:buClr>
                <a:schemeClr val="accent6"/>
              </a:buClr>
              <a:buNone/>
            </a:pPr>
            <a:endParaRPr lang="en-US" dirty="0"/>
          </a:p>
          <a:p>
            <a:pPr>
              <a:buClr>
                <a:schemeClr val="accent6"/>
              </a:buClr>
            </a:pPr>
            <a:r>
              <a:rPr lang="en-US" dirty="0"/>
              <a:t>In supervised learning, a </a:t>
            </a:r>
            <a:r>
              <a:rPr lang="en-US" dirty="0">
                <a:solidFill>
                  <a:srgbClr val="C00000"/>
                </a:solidFill>
              </a:rPr>
              <a:t>label is the "answer" or "result" </a:t>
            </a:r>
            <a:r>
              <a:rPr lang="en-US" dirty="0"/>
              <a:t>portion of an Model.</a:t>
            </a:r>
          </a:p>
          <a:p>
            <a:pPr>
              <a:buClr>
                <a:schemeClr val="accent6"/>
              </a:buClr>
            </a:pPr>
            <a:r>
              <a:rPr lang="en-US" dirty="0">
                <a:solidFill>
                  <a:srgbClr val="C00000"/>
                </a:solidFill>
              </a:rPr>
              <a:t>Target outcomes</a:t>
            </a:r>
            <a:r>
              <a:rPr lang="en-US" dirty="0"/>
              <a:t>.</a:t>
            </a:r>
          </a:p>
          <a:p>
            <a:pPr>
              <a:buClr>
                <a:schemeClr val="accent6"/>
              </a:buClr>
            </a:pPr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Example: </a:t>
            </a:r>
            <a:r>
              <a:rPr lang="en-US" dirty="0"/>
              <a:t>"Spam" or "Not Spam"</a:t>
            </a:r>
          </a:p>
        </p:txBody>
      </p:sp>
    </p:spTree>
    <p:extLst>
      <p:ext uri="{BB962C8B-B14F-4D97-AF65-F5344CB8AC3E}">
        <p14:creationId xmlns:p14="http://schemas.microsoft.com/office/powerpoint/2010/main" val="1899621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20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32BB84-7533-8E79-7635-8BA4C60F09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ML Terminology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EFC18DD-327E-BA5C-91DC-700FFA5981E6}"/>
              </a:ext>
            </a:extLst>
          </p:cNvPr>
          <p:cNvSpPr txBox="1"/>
          <p:nvPr/>
        </p:nvSpPr>
        <p:spPr>
          <a:xfrm>
            <a:off x="194791" y="1950620"/>
            <a:ext cx="1440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Training   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753E37B-F810-30BD-9063-59C1619AF737}"/>
              </a:ext>
            </a:extLst>
          </p:cNvPr>
          <p:cNvSpPr txBox="1"/>
          <p:nvPr/>
        </p:nvSpPr>
        <p:spPr>
          <a:xfrm>
            <a:off x="104430" y="4945502"/>
            <a:ext cx="144043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800" dirty="0">
                <a:solidFill>
                  <a:schemeClr val="tx2">
                    <a:lumMod val="75000"/>
                  </a:schemeClr>
                </a:solidFill>
              </a:rPr>
              <a:t>Testing</a:t>
            </a:r>
            <a:r>
              <a:rPr lang="en-US" sz="2800" dirty="0">
                <a:solidFill>
                  <a:srgbClr val="FFC000"/>
                </a:solidFill>
              </a:rPr>
              <a:t>  </a:t>
            </a: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9A87E06-7109-CF47-2DAC-F3E1093B3403}"/>
              </a:ext>
            </a:extLst>
          </p:cNvPr>
          <p:cNvGrpSpPr/>
          <p:nvPr/>
        </p:nvGrpSpPr>
        <p:grpSpPr>
          <a:xfrm>
            <a:off x="305124" y="1061638"/>
            <a:ext cx="1151182" cy="958338"/>
            <a:chOff x="4760259" y="1903673"/>
            <a:chExt cx="1369996" cy="1296727"/>
          </a:xfrm>
        </p:grpSpPr>
        <p:sp>
          <p:nvSpPr>
            <p:cNvPr id="7" name="Bevel 15">
              <a:extLst>
                <a:ext uri="{FF2B5EF4-FFF2-40B4-BE49-F238E27FC236}">
                  <a16:creationId xmlns:a16="http://schemas.microsoft.com/office/drawing/2014/main" id="{E21AE489-1CCC-79EF-ED72-CE80472DB11F}"/>
                </a:ext>
              </a:extLst>
            </p:cNvPr>
            <p:cNvSpPr/>
            <p:nvPr/>
          </p:nvSpPr>
          <p:spPr>
            <a:xfrm>
              <a:off x="4760259" y="1903673"/>
              <a:ext cx="1369996" cy="1296727"/>
            </a:xfrm>
            <a:prstGeom prst="bevel">
              <a:avLst/>
            </a:prstGeom>
            <a:solidFill>
              <a:srgbClr val="FF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158B7573-2566-43ED-E65E-EE4C1BC9FDF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4915779" y="2009101"/>
              <a:ext cx="1097280" cy="1097280"/>
            </a:xfrm>
            <a:prstGeom prst="rect">
              <a:avLst/>
            </a:prstGeom>
          </p:spPr>
        </p:pic>
      </p:grpSp>
      <p:grpSp>
        <p:nvGrpSpPr>
          <p:cNvPr id="9" name="Group 8">
            <a:extLst>
              <a:ext uri="{FF2B5EF4-FFF2-40B4-BE49-F238E27FC236}">
                <a16:creationId xmlns:a16="http://schemas.microsoft.com/office/drawing/2014/main" id="{412822D4-51D2-8C1C-977E-FAB46D1F1456}"/>
              </a:ext>
            </a:extLst>
          </p:cNvPr>
          <p:cNvGrpSpPr/>
          <p:nvPr/>
        </p:nvGrpSpPr>
        <p:grpSpPr>
          <a:xfrm>
            <a:off x="121359" y="4174145"/>
            <a:ext cx="1309042" cy="744597"/>
            <a:chOff x="5724603" y="2575021"/>
            <a:chExt cx="1737360" cy="1080000"/>
          </a:xfrm>
        </p:grpSpPr>
        <p:sp>
          <p:nvSpPr>
            <p:cNvPr id="10" name="Rounded Rectangle 25">
              <a:extLst>
                <a:ext uri="{FF2B5EF4-FFF2-40B4-BE49-F238E27FC236}">
                  <a16:creationId xmlns:a16="http://schemas.microsoft.com/office/drawing/2014/main" id="{FB292937-7E3C-B792-0D22-B07C4DCE7FCA}"/>
                </a:ext>
              </a:extLst>
            </p:cNvPr>
            <p:cNvSpPr/>
            <p:nvPr/>
          </p:nvSpPr>
          <p:spPr>
            <a:xfrm>
              <a:off x="5724603" y="2575021"/>
              <a:ext cx="1737360" cy="1080000"/>
            </a:xfrm>
            <a:prstGeom prst="roundRect">
              <a:avLst>
                <a:gd name="adj" fmla="val 50000"/>
              </a:avLst>
            </a:prstGeom>
            <a:gradFill flip="none" rotWithShape="1">
              <a:gsLst>
                <a:gs pos="66000">
                  <a:schemeClr val="accent4">
                    <a:lumMod val="75000"/>
                  </a:schemeClr>
                </a:gs>
                <a:gs pos="0">
                  <a:schemeClr val="accent4"/>
                </a:gs>
                <a:gs pos="100000">
                  <a:schemeClr val="accent4">
                    <a:lumMod val="75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1" name="Picture 10">
              <a:extLst>
                <a:ext uri="{FF2B5EF4-FFF2-40B4-BE49-F238E27FC236}">
                  <a16:creationId xmlns:a16="http://schemas.microsoft.com/office/drawing/2014/main" id="{C5706409-D496-8044-6794-F680816AFD74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</a:blip>
            <a:stretch>
              <a:fillRect/>
            </a:stretch>
          </p:blipFill>
          <p:spPr>
            <a:xfrm>
              <a:off x="6090363" y="2612101"/>
              <a:ext cx="1005840" cy="1005840"/>
            </a:xfrm>
            <a:prstGeom prst="rect">
              <a:avLst/>
            </a:prstGeom>
          </p:spPr>
        </p:pic>
      </p:grpSp>
      <p:sp>
        <p:nvSpPr>
          <p:cNvPr id="12" name="Content Placeholder 1">
            <a:extLst>
              <a:ext uri="{FF2B5EF4-FFF2-40B4-BE49-F238E27FC236}">
                <a16:creationId xmlns:a16="http://schemas.microsoft.com/office/drawing/2014/main" id="{13C770A1-0909-8EF5-731C-2758DA3BECC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33417" y="1079562"/>
            <a:ext cx="10005427" cy="5585402"/>
          </a:xfrm>
        </p:spPr>
        <p:txBody>
          <a:bodyPr>
            <a:normAutofit/>
          </a:bodyPr>
          <a:lstStyle/>
          <a:p>
            <a:r>
              <a:rPr lang="en-US" dirty="0"/>
              <a:t>Data used to </a:t>
            </a:r>
            <a:r>
              <a:rPr lang="en-US" dirty="0">
                <a:solidFill>
                  <a:srgbClr val="C00000"/>
                </a:solidFill>
              </a:rPr>
              <a:t>teach</a:t>
            </a:r>
            <a:r>
              <a:rPr lang="en-US" dirty="0"/>
              <a:t> the model .</a:t>
            </a:r>
          </a:p>
          <a:p>
            <a:r>
              <a:rPr lang="en-US" dirty="0"/>
              <a:t>Training means </a:t>
            </a:r>
            <a:r>
              <a:rPr lang="en-US" dirty="0">
                <a:solidFill>
                  <a:srgbClr val="C00000"/>
                </a:solidFill>
              </a:rPr>
              <a:t>creating or learning </a:t>
            </a:r>
            <a:r>
              <a:rPr lang="en-US" dirty="0"/>
              <a:t>the model. </a:t>
            </a:r>
          </a:p>
          <a:p>
            <a:pPr>
              <a:buClr>
                <a:schemeClr val="accent6"/>
              </a:buClr>
            </a:pPr>
            <a:r>
              <a:rPr lang="en-US" dirty="0"/>
              <a:t>During training the model </a:t>
            </a:r>
            <a:r>
              <a:rPr lang="en-US" dirty="0">
                <a:solidFill>
                  <a:srgbClr val="C00000"/>
                </a:solidFill>
              </a:rPr>
              <a:t>is given labeled examples</a:t>
            </a:r>
            <a:r>
              <a:rPr lang="en-US" dirty="0"/>
              <a:t>. </a:t>
            </a:r>
          </a:p>
          <a:p>
            <a:pPr>
              <a:buClr>
                <a:schemeClr val="accent6"/>
              </a:buClr>
            </a:pPr>
            <a:r>
              <a:rPr lang="en-US" dirty="0"/>
              <a:t>Training enables the model to gradually </a:t>
            </a:r>
            <a:r>
              <a:rPr lang="en-US" dirty="0">
                <a:solidFill>
                  <a:srgbClr val="C00000"/>
                </a:solidFill>
              </a:rPr>
              <a:t>learn the relationships between features and label</a:t>
            </a:r>
            <a:r>
              <a:rPr lang="en-US" dirty="0"/>
              <a:t>. 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</a:t>
            </a:r>
            <a:r>
              <a:rPr lang="en-US" dirty="0"/>
              <a:t>: set of emails labeled as spam or not for training.</a:t>
            </a:r>
          </a:p>
          <a:p>
            <a:endParaRPr lang="en-US" dirty="0"/>
          </a:p>
          <a:p>
            <a:r>
              <a:rPr lang="en-US" dirty="0"/>
              <a:t>Data used to </a:t>
            </a:r>
            <a:r>
              <a:rPr lang="en-US" dirty="0">
                <a:solidFill>
                  <a:srgbClr val="C00000"/>
                </a:solidFill>
              </a:rPr>
              <a:t>evaluate</a:t>
            </a:r>
            <a:r>
              <a:rPr lang="en-US" dirty="0"/>
              <a:t> the model.</a:t>
            </a:r>
          </a:p>
          <a:p>
            <a:r>
              <a:rPr lang="en-US" dirty="0"/>
              <a:t>Testing means </a:t>
            </a:r>
            <a:r>
              <a:rPr lang="en-US" dirty="0">
                <a:solidFill>
                  <a:srgbClr val="C00000"/>
                </a:solidFill>
              </a:rPr>
              <a:t>applying the trained model to unlabeled </a:t>
            </a:r>
            <a:r>
              <a:rPr lang="en-US" dirty="0"/>
              <a:t>examples. </a:t>
            </a:r>
          </a:p>
          <a:p>
            <a:pPr>
              <a:buClr>
                <a:schemeClr val="accent6"/>
              </a:buClr>
            </a:pPr>
            <a:r>
              <a:rPr lang="en-US" dirty="0"/>
              <a:t>That is, you use the trained model to make useful predictions.</a:t>
            </a:r>
          </a:p>
          <a:p>
            <a:r>
              <a:rPr lang="en-US" b="1" dirty="0">
                <a:solidFill>
                  <a:schemeClr val="tx2">
                    <a:lumMod val="75000"/>
                  </a:schemeClr>
                </a:solidFill>
              </a:rPr>
              <a:t>Example: </a:t>
            </a:r>
            <a:r>
              <a:rPr lang="en-US" dirty="0"/>
              <a:t>unseen emails</a:t>
            </a:r>
          </a:p>
        </p:txBody>
      </p:sp>
    </p:spTree>
    <p:extLst>
      <p:ext uri="{BB962C8B-B14F-4D97-AF65-F5344CB8AC3E}">
        <p14:creationId xmlns:p14="http://schemas.microsoft.com/office/powerpoint/2010/main" val="5689108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7D3FEF-5AAB-0523-8F0F-8D15B97F27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Project life cycle</a:t>
            </a:r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AA77CC36-E044-D34E-DB94-0B06D0BCB662}"/>
              </a:ext>
            </a:extLst>
          </p:cNvPr>
          <p:cNvCxnSpPr>
            <a:cxnSpLocks/>
          </p:cNvCxnSpPr>
          <p:nvPr/>
        </p:nvCxnSpPr>
        <p:spPr>
          <a:xfrm>
            <a:off x="485422" y="2374601"/>
            <a:ext cx="72997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9EC8BF30-D9F5-7E01-B731-0B35406B9541}"/>
              </a:ext>
            </a:extLst>
          </p:cNvPr>
          <p:cNvSpPr txBox="1"/>
          <p:nvPr/>
        </p:nvSpPr>
        <p:spPr>
          <a:xfrm>
            <a:off x="-52372" y="2482836"/>
            <a:ext cx="1220086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>
                <a:effectLst/>
                <a:latin typeface="Helvetica" pitchFamily="2" charset="0"/>
              </a:rPr>
              <a:t>Business problem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ECD89CC-D1A5-8336-6E7E-C4259FFD85C6}"/>
              </a:ext>
            </a:extLst>
          </p:cNvPr>
          <p:cNvCxnSpPr>
            <a:cxnSpLocks/>
            <a:stCxn id="44" idx="3"/>
            <a:endCxn id="28" idx="1"/>
          </p:cNvCxnSpPr>
          <p:nvPr/>
        </p:nvCxnSpPr>
        <p:spPr>
          <a:xfrm>
            <a:off x="2884249" y="2374602"/>
            <a:ext cx="977137" cy="2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Elbow Connector 24">
            <a:extLst>
              <a:ext uri="{FF2B5EF4-FFF2-40B4-BE49-F238E27FC236}">
                <a16:creationId xmlns:a16="http://schemas.microsoft.com/office/drawing/2014/main" id="{D99B9DDA-333C-1AFA-B9DB-0FFFE3ED2FE2}"/>
              </a:ext>
            </a:extLst>
          </p:cNvPr>
          <p:cNvCxnSpPr>
            <a:cxnSpLocks/>
            <a:stCxn id="36" idx="3"/>
            <a:endCxn id="21" idx="3"/>
          </p:cNvCxnSpPr>
          <p:nvPr/>
        </p:nvCxnSpPr>
        <p:spPr>
          <a:xfrm>
            <a:off x="11402121" y="2374602"/>
            <a:ext cx="12700" cy="2546520"/>
          </a:xfrm>
          <a:prstGeom prst="bentConnector3">
            <a:avLst>
              <a:gd name="adj1" fmla="val 18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ounded Rectangle 29">
            <a:extLst>
              <a:ext uri="{FF2B5EF4-FFF2-40B4-BE49-F238E27FC236}">
                <a16:creationId xmlns:a16="http://schemas.microsoft.com/office/drawing/2014/main" id="{2EAFA086-0892-2913-77FA-FF15D1D74EB4}"/>
              </a:ext>
            </a:extLst>
          </p:cNvPr>
          <p:cNvSpPr/>
          <p:nvPr/>
        </p:nvSpPr>
        <p:spPr>
          <a:xfrm>
            <a:off x="7789168" y="4492264"/>
            <a:ext cx="1658679" cy="8628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effectLst/>
                <a:latin typeface="Helvetica" pitchFamily="2" charset="0"/>
              </a:rPr>
              <a:t>Model serving</a:t>
            </a:r>
          </a:p>
        </p:txBody>
      </p:sp>
      <p:sp>
        <p:nvSpPr>
          <p:cNvPr id="31" name="Rounded Rectangle 30">
            <a:extLst>
              <a:ext uri="{FF2B5EF4-FFF2-40B4-BE49-F238E27FC236}">
                <a16:creationId xmlns:a16="http://schemas.microsoft.com/office/drawing/2014/main" id="{62C851B2-4DE9-9528-E057-8DF5FE00DA4A}"/>
              </a:ext>
            </a:extLst>
          </p:cNvPr>
          <p:cNvSpPr/>
          <p:nvPr/>
        </p:nvSpPr>
        <p:spPr>
          <a:xfrm>
            <a:off x="5825277" y="4492264"/>
            <a:ext cx="1658679" cy="862801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effectLst/>
                <a:latin typeface="Helvetica" pitchFamily="2" charset="0"/>
              </a:rPr>
              <a:t>Model monitoring</a:t>
            </a:r>
          </a:p>
        </p:txBody>
      </p:sp>
      <p:sp>
        <p:nvSpPr>
          <p:cNvPr id="32" name="Rounded Rectangle 31">
            <a:extLst>
              <a:ext uri="{FF2B5EF4-FFF2-40B4-BE49-F238E27FC236}">
                <a16:creationId xmlns:a16="http://schemas.microsoft.com/office/drawing/2014/main" id="{8EB4E076-4F89-5DB4-EAA7-9F17793BC363}"/>
              </a:ext>
            </a:extLst>
          </p:cNvPr>
          <p:cNvSpPr/>
          <p:nvPr/>
        </p:nvSpPr>
        <p:spPr>
          <a:xfrm>
            <a:off x="3861386" y="4492264"/>
            <a:ext cx="1658679" cy="86280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>
                    <a:lumMod val="90000"/>
                    <a:lumOff val="10000"/>
                  </a:schemeClr>
                </a:solidFill>
                <a:effectLst/>
                <a:latin typeface="Helvetica" pitchFamily="2" charset="0"/>
              </a:rPr>
              <a:t>Model maintenance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3534D67E-605E-F102-F302-392FF81B924C}"/>
              </a:ext>
            </a:extLst>
          </p:cNvPr>
          <p:cNvCxnSpPr>
            <a:cxnSpLocks/>
            <a:stCxn id="21" idx="1"/>
            <a:endCxn id="30" idx="3"/>
          </p:cNvCxnSpPr>
          <p:nvPr/>
        </p:nvCxnSpPr>
        <p:spPr>
          <a:xfrm flipH="1">
            <a:off x="9447847" y="4921122"/>
            <a:ext cx="295595" cy="254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DAD8A092-0C5A-9706-5EA5-DBFC91B73944}"/>
              </a:ext>
            </a:extLst>
          </p:cNvPr>
          <p:cNvCxnSpPr>
            <a:cxnSpLocks/>
            <a:stCxn id="30" idx="1"/>
            <a:endCxn id="31" idx="3"/>
          </p:cNvCxnSpPr>
          <p:nvPr/>
        </p:nvCxnSpPr>
        <p:spPr>
          <a:xfrm flipH="1">
            <a:off x="7483956" y="4923665"/>
            <a:ext cx="305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589DD62F-301E-1433-C296-937D21496C1D}"/>
              </a:ext>
            </a:extLst>
          </p:cNvPr>
          <p:cNvCxnSpPr>
            <a:cxnSpLocks/>
          </p:cNvCxnSpPr>
          <p:nvPr/>
        </p:nvCxnSpPr>
        <p:spPr>
          <a:xfrm flipH="1">
            <a:off x="5520065" y="4921122"/>
            <a:ext cx="30521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>
            <a:extLst>
              <a:ext uri="{FF2B5EF4-FFF2-40B4-BE49-F238E27FC236}">
                <a16:creationId xmlns:a16="http://schemas.microsoft.com/office/drawing/2014/main" id="{53388C0A-25A0-47F7-3443-153A12FA9604}"/>
              </a:ext>
            </a:extLst>
          </p:cNvPr>
          <p:cNvSpPr/>
          <p:nvPr/>
        </p:nvSpPr>
        <p:spPr>
          <a:xfrm>
            <a:off x="9743442" y="4489721"/>
            <a:ext cx="1658679" cy="862802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bg1"/>
                </a:solidFill>
                <a:effectLst/>
                <a:latin typeface="Helvetica" pitchFamily="2" charset="0"/>
              </a:rPr>
              <a:t>Model Deployment</a:t>
            </a:r>
          </a:p>
        </p:txBody>
      </p:sp>
      <p:sp>
        <p:nvSpPr>
          <p:cNvPr id="26" name="Rounded Rectangle 25">
            <a:extLst>
              <a:ext uri="{FF2B5EF4-FFF2-40B4-BE49-F238E27FC236}">
                <a16:creationId xmlns:a16="http://schemas.microsoft.com/office/drawing/2014/main" id="{DB9C78D0-2DAC-BF5C-A928-4D7B7150DF3F}"/>
              </a:ext>
            </a:extLst>
          </p:cNvPr>
          <p:cNvSpPr/>
          <p:nvPr/>
        </p:nvSpPr>
        <p:spPr>
          <a:xfrm>
            <a:off x="7789168" y="1945744"/>
            <a:ext cx="1658679" cy="86280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effectLst/>
                <a:latin typeface="Helvetica" pitchFamily="2" charset="0"/>
              </a:rPr>
              <a:t>Model training</a:t>
            </a:r>
          </a:p>
        </p:txBody>
      </p:sp>
      <p:sp>
        <p:nvSpPr>
          <p:cNvPr id="27" name="Rounded Rectangle 26">
            <a:extLst>
              <a:ext uri="{FF2B5EF4-FFF2-40B4-BE49-F238E27FC236}">
                <a16:creationId xmlns:a16="http://schemas.microsoft.com/office/drawing/2014/main" id="{966D5B51-5B75-1F9A-743B-034504A7B182}"/>
              </a:ext>
            </a:extLst>
          </p:cNvPr>
          <p:cNvSpPr/>
          <p:nvPr/>
        </p:nvSpPr>
        <p:spPr>
          <a:xfrm>
            <a:off x="5825277" y="1945744"/>
            <a:ext cx="1658679" cy="862801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effectLst/>
                <a:latin typeface="Helvetica" pitchFamily="2" charset="0"/>
              </a:rPr>
              <a:t>Feature engineering</a:t>
            </a:r>
          </a:p>
        </p:txBody>
      </p:sp>
      <p:sp>
        <p:nvSpPr>
          <p:cNvPr id="28" name="Rounded Rectangle 27">
            <a:extLst>
              <a:ext uri="{FF2B5EF4-FFF2-40B4-BE49-F238E27FC236}">
                <a16:creationId xmlns:a16="http://schemas.microsoft.com/office/drawing/2014/main" id="{F1EF035F-3827-3DF2-F929-DFC8F0A1DF0A}"/>
              </a:ext>
            </a:extLst>
          </p:cNvPr>
          <p:cNvSpPr/>
          <p:nvPr/>
        </p:nvSpPr>
        <p:spPr>
          <a:xfrm>
            <a:off x="3861386" y="1945744"/>
            <a:ext cx="1658679" cy="862801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effectLst/>
                <a:latin typeface="Helvetica" pitchFamily="2" charset="0"/>
              </a:rPr>
              <a:t>Data collection &amp; preparation</a:t>
            </a:r>
          </a:p>
        </p:txBody>
      </p: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D5F96F2A-A4F6-B3D6-48F9-8800A93786A5}"/>
              </a:ext>
            </a:extLst>
          </p:cNvPr>
          <p:cNvCxnSpPr>
            <a:cxnSpLocks/>
          </p:cNvCxnSpPr>
          <p:nvPr/>
        </p:nvCxnSpPr>
        <p:spPr>
          <a:xfrm>
            <a:off x="5520065" y="2374602"/>
            <a:ext cx="257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C1074A0-7EBE-6E80-C921-4F31BABADFB7}"/>
              </a:ext>
            </a:extLst>
          </p:cNvPr>
          <p:cNvSpPr/>
          <p:nvPr/>
        </p:nvSpPr>
        <p:spPr>
          <a:xfrm>
            <a:off x="9743442" y="1943201"/>
            <a:ext cx="1658679" cy="862802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solidFill>
                  <a:schemeClr val="tx1"/>
                </a:solidFill>
                <a:effectLst/>
                <a:latin typeface="Helvetica" pitchFamily="2" charset="0"/>
              </a:rPr>
              <a:t>Model evaluation</a:t>
            </a:r>
          </a:p>
        </p:txBody>
      </p:sp>
      <p:cxnSp>
        <p:nvCxnSpPr>
          <p:cNvPr id="39" name="Straight Arrow Connector 38">
            <a:extLst>
              <a:ext uri="{FF2B5EF4-FFF2-40B4-BE49-F238E27FC236}">
                <a16:creationId xmlns:a16="http://schemas.microsoft.com/office/drawing/2014/main" id="{F45703D7-D61D-E1F5-0284-9FABD2DA194F}"/>
              </a:ext>
            </a:extLst>
          </p:cNvPr>
          <p:cNvCxnSpPr>
            <a:cxnSpLocks/>
          </p:cNvCxnSpPr>
          <p:nvPr/>
        </p:nvCxnSpPr>
        <p:spPr>
          <a:xfrm>
            <a:off x="7507759" y="2374602"/>
            <a:ext cx="257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>
            <a:extLst>
              <a:ext uri="{FF2B5EF4-FFF2-40B4-BE49-F238E27FC236}">
                <a16:creationId xmlns:a16="http://schemas.microsoft.com/office/drawing/2014/main" id="{636D1ABF-04DA-68B8-9D4B-28FA120CD8E9}"/>
              </a:ext>
            </a:extLst>
          </p:cNvPr>
          <p:cNvCxnSpPr>
            <a:cxnSpLocks/>
          </p:cNvCxnSpPr>
          <p:nvPr/>
        </p:nvCxnSpPr>
        <p:spPr>
          <a:xfrm>
            <a:off x="9447847" y="2374602"/>
            <a:ext cx="257605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ounded Rectangle 43">
            <a:extLst>
              <a:ext uri="{FF2B5EF4-FFF2-40B4-BE49-F238E27FC236}">
                <a16:creationId xmlns:a16="http://schemas.microsoft.com/office/drawing/2014/main" id="{E0F67CAB-E33A-095F-08C0-7D3A50FB40D0}"/>
              </a:ext>
            </a:extLst>
          </p:cNvPr>
          <p:cNvSpPr/>
          <p:nvPr/>
        </p:nvSpPr>
        <p:spPr>
          <a:xfrm>
            <a:off x="1225570" y="1943201"/>
            <a:ext cx="1658679" cy="862801"/>
          </a:xfrm>
          <a:prstGeom prst="roundRect">
            <a:avLst/>
          </a:prstGeom>
          <a:solidFill>
            <a:schemeClr val="tx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dirty="0">
                <a:effectLst/>
                <a:latin typeface="Helvetica" pitchFamily="2" charset="0"/>
              </a:rPr>
              <a:t>Goal Definition</a:t>
            </a:r>
          </a:p>
        </p:txBody>
      </p: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F6BEE99B-F958-91E8-1467-44C4BBCB9A34}"/>
              </a:ext>
            </a:extLst>
          </p:cNvPr>
          <p:cNvCxnSpPr>
            <a:stCxn id="32" idx="0"/>
            <a:endCxn id="28" idx="2"/>
          </p:cNvCxnSpPr>
          <p:nvPr/>
        </p:nvCxnSpPr>
        <p:spPr>
          <a:xfrm flipV="1">
            <a:off x="4690726" y="2808545"/>
            <a:ext cx="0" cy="1683719"/>
          </a:xfrm>
          <a:prstGeom prst="straightConnector1">
            <a:avLst/>
          </a:prstGeom>
          <a:ln w="9525" cap="flat" cmpd="sng" algn="ctr">
            <a:solidFill>
              <a:schemeClr val="accent6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cxnSp>
        <p:nvCxnSpPr>
          <p:cNvPr id="53" name="Elbow Connector 52">
            <a:extLst>
              <a:ext uri="{FF2B5EF4-FFF2-40B4-BE49-F238E27FC236}">
                <a16:creationId xmlns:a16="http://schemas.microsoft.com/office/drawing/2014/main" id="{0FC67F4B-7E82-A595-4D44-68CF7783FDF2}"/>
              </a:ext>
            </a:extLst>
          </p:cNvPr>
          <p:cNvCxnSpPr>
            <a:cxnSpLocks/>
            <a:stCxn id="36" idx="2"/>
            <a:endCxn id="27" idx="2"/>
          </p:cNvCxnSpPr>
          <p:nvPr/>
        </p:nvCxnSpPr>
        <p:spPr>
          <a:xfrm rot="5400000">
            <a:off x="8612429" y="848192"/>
            <a:ext cx="2542" cy="3918165"/>
          </a:xfrm>
          <a:prstGeom prst="bentConnector3">
            <a:avLst>
              <a:gd name="adj1" fmla="val 909291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Elbow Connector 64">
            <a:extLst>
              <a:ext uri="{FF2B5EF4-FFF2-40B4-BE49-F238E27FC236}">
                <a16:creationId xmlns:a16="http://schemas.microsoft.com/office/drawing/2014/main" id="{F55391E0-4BE6-9677-A9EA-3F52BB37F0A0}"/>
              </a:ext>
            </a:extLst>
          </p:cNvPr>
          <p:cNvCxnSpPr>
            <a:cxnSpLocks/>
            <a:endCxn id="28" idx="2"/>
          </p:cNvCxnSpPr>
          <p:nvPr/>
        </p:nvCxnSpPr>
        <p:spPr>
          <a:xfrm rot="10800000" flipV="1">
            <a:off x="4690727" y="2775517"/>
            <a:ext cx="5882057" cy="33027"/>
          </a:xfrm>
          <a:prstGeom prst="bentConnector4">
            <a:avLst>
              <a:gd name="adj1" fmla="val -40"/>
              <a:gd name="adj2" fmla="val 79216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Left Brace 78">
            <a:extLst>
              <a:ext uri="{FF2B5EF4-FFF2-40B4-BE49-F238E27FC236}">
                <a16:creationId xmlns:a16="http://schemas.microsoft.com/office/drawing/2014/main" id="{4399E804-17D1-BA6E-643C-3C2326087F33}"/>
              </a:ext>
            </a:extLst>
          </p:cNvPr>
          <p:cNvSpPr/>
          <p:nvPr/>
        </p:nvSpPr>
        <p:spPr>
          <a:xfrm rot="5400000">
            <a:off x="1482763" y="471647"/>
            <a:ext cx="213700" cy="258926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TextBox 79">
            <a:extLst>
              <a:ext uri="{FF2B5EF4-FFF2-40B4-BE49-F238E27FC236}">
                <a16:creationId xmlns:a16="http://schemas.microsoft.com/office/drawing/2014/main" id="{F9786980-8B25-8393-5DA7-8175A3E674F8}"/>
              </a:ext>
            </a:extLst>
          </p:cNvPr>
          <p:cNvSpPr txBox="1"/>
          <p:nvPr/>
        </p:nvSpPr>
        <p:spPr>
          <a:xfrm>
            <a:off x="294979" y="1350234"/>
            <a:ext cx="2882520" cy="3231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500" dirty="0">
                <a:effectLst/>
                <a:latin typeface="Helvetica" pitchFamily="2" charset="0"/>
              </a:rPr>
              <a:t>business analyst &amp; data analyst</a:t>
            </a:r>
          </a:p>
        </p:txBody>
      </p:sp>
      <p:sp>
        <p:nvSpPr>
          <p:cNvPr id="81" name="Left Brace 80">
            <a:extLst>
              <a:ext uri="{FF2B5EF4-FFF2-40B4-BE49-F238E27FC236}">
                <a16:creationId xmlns:a16="http://schemas.microsoft.com/office/drawing/2014/main" id="{29D8425C-A644-D62E-0B71-1AFF6D283569}"/>
              </a:ext>
            </a:extLst>
          </p:cNvPr>
          <p:cNvSpPr/>
          <p:nvPr/>
        </p:nvSpPr>
        <p:spPr>
          <a:xfrm rot="5400000">
            <a:off x="4528801" y="961398"/>
            <a:ext cx="211158" cy="1545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62353DFB-B2DD-969A-A0DA-B000F03E9ACD}"/>
              </a:ext>
            </a:extLst>
          </p:cNvPr>
          <p:cNvSpPr txBox="1"/>
          <p:nvPr/>
        </p:nvSpPr>
        <p:spPr>
          <a:xfrm>
            <a:off x="3249464" y="1319619"/>
            <a:ext cx="276069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effectLst/>
                <a:latin typeface="Helvetica" pitchFamily="2" charset="0"/>
              </a:rPr>
              <a:t>data engineer &amp; data </a:t>
            </a:r>
            <a:r>
              <a:rPr lang="en-IN" sz="1600" dirty="0" err="1">
                <a:effectLst/>
                <a:latin typeface="Helvetica" pitchFamily="2" charset="0"/>
              </a:rPr>
              <a:t>labeler</a:t>
            </a:r>
            <a:endParaRPr lang="en-IN" sz="1600" dirty="0">
              <a:effectLst/>
              <a:latin typeface="Helvetica" pitchFamily="2" charset="0"/>
            </a:endParaRPr>
          </a:p>
        </p:txBody>
      </p:sp>
      <p:sp>
        <p:nvSpPr>
          <p:cNvPr id="83" name="Left Brace 82">
            <a:extLst>
              <a:ext uri="{FF2B5EF4-FFF2-40B4-BE49-F238E27FC236}">
                <a16:creationId xmlns:a16="http://schemas.microsoft.com/office/drawing/2014/main" id="{F44AA56F-5E7B-839F-4753-62989D3F5A0B}"/>
              </a:ext>
            </a:extLst>
          </p:cNvPr>
          <p:cNvSpPr/>
          <p:nvPr/>
        </p:nvSpPr>
        <p:spPr>
          <a:xfrm rot="5400000">
            <a:off x="8483612" y="-249207"/>
            <a:ext cx="227634" cy="395070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TextBox 83">
            <a:extLst>
              <a:ext uri="{FF2B5EF4-FFF2-40B4-BE49-F238E27FC236}">
                <a16:creationId xmlns:a16="http://schemas.microsoft.com/office/drawing/2014/main" id="{FC9D402E-9DEF-56FE-6109-07C4A47C83CB}"/>
              </a:ext>
            </a:extLst>
          </p:cNvPr>
          <p:cNvSpPr txBox="1"/>
          <p:nvPr/>
        </p:nvSpPr>
        <p:spPr>
          <a:xfrm>
            <a:off x="6622072" y="1303134"/>
            <a:ext cx="3950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effectLst/>
                <a:latin typeface="Helvetica" pitchFamily="2" charset="0"/>
              </a:rPr>
              <a:t>data analyst</a:t>
            </a:r>
          </a:p>
        </p:txBody>
      </p:sp>
      <p:sp>
        <p:nvSpPr>
          <p:cNvPr id="85" name="Left Brace 84">
            <a:extLst>
              <a:ext uri="{FF2B5EF4-FFF2-40B4-BE49-F238E27FC236}">
                <a16:creationId xmlns:a16="http://schemas.microsoft.com/office/drawing/2014/main" id="{CD491E36-4C86-27B7-5599-1647042C5F2D}"/>
              </a:ext>
            </a:extLst>
          </p:cNvPr>
          <p:cNvSpPr/>
          <p:nvPr/>
        </p:nvSpPr>
        <p:spPr>
          <a:xfrm rot="16200000">
            <a:off x="8357699" y="3597700"/>
            <a:ext cx="227634" cy="3950707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FFDD03D2-8731-81CE-7EFC-F29ED613DA5A}"/>
              </a:ext>
            </a:extLst>
          </p:cNvPr>
          <p:cNvSpPr txBox="1"/>
          <p:nvPr/>
        </p:nvSpPr>
        <p:spPr>
          <a:xfrm>
            <a:off x="6496162" y="5596129"/>
            <a:ext cx="395070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IN" sz="1600" dirty="0">
                <a:effectLst/>
                <a:latin typeface="Helvetica" pitchFamily="2" charset="0"/>
              </a:rPr>
              <a:t>DevOps</a:t>
            </a:r>
          </a:p>
        </p:txBody>
      </p:sp>
      <p:sp>
        <p:nvSpPr>
          <p:cNvPr id="88" name="Left Brace 87">
            <a:extLst>
              <a:ext uri="{FF2B5EF4-FFF2-40B4-BE49-F238E27FC236}">
                <a16:creationId xmlns:a16="http://schemas.microsoft.com/office/drawing/2014/main" id="{43EF36C0-25AE-82C1-D7A5-E4177AA6C60C}"/>
              </a:ext>
            </a:extLst>
          </p:cNvPr>
          <p:cNvSpPr/>
          <p:nvPr/>
        </p:nvSpPr>
        <p:spPr>
          <a:xfrm rot="16200000">
            <a:off x="4641490" y="4791818"/>
            <a:ext cx="211158" cy="1545993"/>
          </a:xfrm>
          <a:prstGeom prst="lef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>
            <a:extLst>
              <a:ext uri="{FF2B5EF4-FFF2-40B4-BE49-F238E27FC236}">
                <a16:creationId xmlns:a16="http://schemas.microsoft.com/office/drawing/2014/main" id="{658A7999-B5C3-3F98-B94E-B4C04256FE91}"/>
              </a:ext>
            </a:extLst>
          </p:cNvPr>
          <p:cNvSpPr txBox="1"/>
          <p:nvPr/>
        </p:nvSpPr>
        <p:spPr>
          <a:xfrm>
            <a:off x="3700338" y="5559529"/>
            <a:ext cx="261321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600" dirty="0">
                <a:effectLst/>
                <a:latin typeface="Helvetica" pitchFamily="2" charset="0"/>
              </a:rPr>
              <a:t>data analyst &amp; data </a:t>
            </a:r>
            <a:r>
              <a:rPr lang="en-IN" sz="1600" dirty="0" err="1">
                <a:effectLst/>
                <a:latin typeface="Helvetica" pitchFamily="2" charset="0"/>
              </a:rPr>
              <a:t>labeler</a:t>
            </a:r>
            <a:endParaRPr lang="en-IN" sz="1600" dirty="0">
              <a:effectLst/>
              <a:latin typeface="Helvetica" pitchFamily="2" charset="0"/>
            </a:endParaRPr>
          </a:p>
        </p:txBody>
      </p:sp>
      <p:sp>
        <p:nvSpPr>
          <p:cNvPr id="90" name="Rectangle 89">
            <a:extLst>
              <a:ext uri="{FF2B5EF4-FFF2-40B4-BE49-F238E27FC236}">
                <a16:creationId xmlns:a16="http://schemas.microsoft.com/office/drawing/2014/main" id="{129D6090-5FB7-71F2-3A32-2883214DF20F}"/>
              </a:ext>
            </a:extLst>
          </p:cNvPr>
          <p:cNvSpPr/>
          <p:nvPr/>
        </p:nvSpPr>
        <p:spPr>
          <a:xfrm>
            <a:off x="3249464" y="936978"/>
            <a:ext cx="8626447" cy="4919170"/>
          </a:xfrm>
          <a:prstGeom prst="rect">
            <a:avLst/>
          </a:prstGeom>
          <a:noFill/>
          <a:ln w="9525" cap="flat" cmpd="sng" algn="ctr">
            <a:solidFill>
              <a:schemeClr val="accent1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>
            <a:extLst>
              <a:ext uri="{FF2B5EF4-FFF2-40B4-BE49-F238E27FC236}">
                <a16:creationId xmlns:a16="http://schemas.microsoft.com/office/drawing/2014/main" id="{4F15B33F-2F6C-1C83-F5EE-1A915AC48C0C}"/>
              </a:ext>
            </a:extLst>
          </p:cNvPr>
          <p:cNvSpPr txBox="1"/>
          <p:nvPr/>
        </p:nvSpPr>
        <p:spPr>
          <a:xfrm>
            <a:off x="3177499" y="5970294"/>
            <a:ext cx="180369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Machine Learning</a:t>
            </a:r>
          </a:p>
        </p:txBody>
      </p:sp>
    </p:spTree>
    <p:extLst>
      <p:ext uri="{BB962C8B-B14F-4D97-AF65-F5344CB8AC3E}">
        <p14:creationId xmlns:p14="http://schemas.microsoft.com/office/powerpoint/2010/main" val="41317959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>
                      <p:stCondLst>
                        <p:cond delay="indefinite"/>
                      </p:stCondLst>
                      <p:childTnLst>
                        <p:par>
                          <p:cTn id="124" fill="hold">
                            <p:stCondLst>
                              <p:cond delay="0"/>
                            </p:stCondLst>
                            <p:childTnLst>
                              <p:par>
                                <p:cTn id="1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>
                      <p:stCondLst>
                        <p:cond delay="indefinite"/>
                      </p:stCondLst>
                      <p:childTnLst>
                        <p:par>
                          <p:cTn id="128" fill="hold">
                            <p:stCondLst>
                              <p:cond delay="0"/>
                            </p:stCondLst>
                            <p:childTnLst>
                              <p:par>
                                <p:cTn id="1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>
                      <p:stCondLst>
                        <p:cond delay="indefinite"/>
                      </p:stCondLst>
                      <p:childTnLst>
                        <p:par>
                          <p:cTn id="132" fill="hold">
                            <p:stCondLst>
                              <p:cond delay="0"/>
                            </p:stCondLst>
                            <p:childTnLst>
                              <p:par>
                                <p:cTn id="1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30" grpId="0" animBg="1"/>
      <p:bldP spid="31" grpId="0" animBg="1"/>
      <p:bldP spid="32" grpId="0" animBg="1"/>
      <p:bldP spid="21" grpId="0" animBg="1"/>
      <p:bldP spid="26" grpId="0" animBg="1"/>
      <p:bldP spid="27" grpId="0" animBg="1"/>
      <p:bldP spid="28" grpId="0" animBg="1"/>
      <p:bldP spid="36" grpId="0" animBg="1"/>
      <p:bldP spid="44" grpId="0" animBg="1"/>
      <p:bldP spid="79" grpId="0" animBg="1"/>
      <p:bldP spid="80" grpId="0"/>
      <p:bldP spid="81" grpId="0" animBg="1"/>
      <p:bldP spid="82" grpId="0"/>
      <p:bldP spid="83" grpId="0" animBg="1"/>
      <p:bldP spid="84" grpId="0"/>
      <p:bldP spid="85" grpId="0" animBg="1"/>
      <p:bldP spid="87" grpId="0"/>
      <p:bldP spid="88" grpId="0" animBg="1"/>
      <p:bldP spid="89" grpId="0"/>
      <p:bldP spid="90" grpId="0" animBg="1"/>
      <p:bldP spid="91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6811A-7B8D-563A-93AA-A5A10CDF7F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Project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AEF53A-16ED-0BE9-EB01-A168C3DD8CF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Problem Definition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Define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business or research problem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Identify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objectives, success metrics, and constraints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N" dirty="0">
              <a:solidFill>
                <a:srgbClr val="000000"/>
              </a:solidFill>
            </a:endParaRPr>
          </a:p>
          <a:p>
            <a:pPr lvl="1"/>
            <a:r>
              <a:rPr lang="en-US" dirty="0"/>
              <a:t>Understand the potential </a:t>
            </a:r>
            <a:r>
              <a:rPr lang="en-US" dirty="0">
                <a:solidFill>
                  <a:srgbClr val="C00000"/>
                </a:solidFill>
              </a:rPr>
              <a:t>impact of ML on solving the problem</a:t>
            </a:r>
            <a:r>
              <a:rPr lang="en-US" dirty="0"/>
              <a:t>.</a:t>
            </a: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Data Collection &amp; Preparation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Gather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relevant data from various sources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(databases, APIs, web scraping, etc.).</a:t>
            </a:r>
            <a:endParaRPr lang="en-IN" b="1" dirty="0">
              <a:solidFill>
                <a:srgbClr val="000000"/>
              </a:solidFill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Ensure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data aligns with the problem's needs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in terms of scope, quality, and scale.</a:t>
            </a: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Clean the data: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Handle missing values, remove duplicates, and address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inconsistencies.</a:t>
            </a:r>
            <a:endParaRPr lang="en-IN" b="1" dirty="0">
              <a:solidFill>
                <a:srgbClr val="000000"/>
              </a:solidFill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Normalize or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standardize features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to ensure compatibility with ML algorithms.</a:t>
            </a: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Split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dataset into training, validation, and testing subsets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  <a:endParaRPr lang="en-IN" b="1" dirty="0">
              <a:solidFill>
                <a:srgbClr val="000000"/>
              </a:solidFill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Perform exploratory data analysis (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EDA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) to understand data distributions and patterns.</a:t>
            </a:r>
            <a:endParaRPr lang="en-IN" b="1" i="0" u="none" strike="noStrike" dirty="0">
              <a:solidFill>
                <a:srgbClr val="000000"/>
              </a:solidFill>
              <a:effectLst/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Feature Engineering</a:t>
            </a:r>
          </a:p>
          <a:p>
            <a:pPr lvl="1"/>
            <a:r>
              <a:rPr lang="en-IN" dirty="0">
                <a:solidFill>
                  <a:srgbClr val="000000"/>
                </a:solidFill>
              </a:rPr>
              <a:t>Select or create meaningful </a:t>
            </a:r>
            <a:r>
              <a:rPr lang="en-IN" dirty="0">
                <a:solidFill>
                  <a:srgbClr val="C00000"/>
                </a:solidFill>
              </a:rPr>
              <a:t>features from raw data to improve model performance</a:t>
            </a:r>
            <a:r>
              <a:rPr lang="en-IN" dirty="0">
                <a:solidFill>
                  <a:srgbClr val="000000"/>
                </a:solidFill>
              </a:rPr>
              <a:t>.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Techniques include: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Feature selection , Feature transformation , Feature creation </a:t>
            </a:r>
            <a:endParaRPr lang="en-IN" b="1" dirty="0">
              <a:solidFill>
                <a:srgbClr val="C00000"/>
              </a:solidFill>
            </a:endParaRPr>
          </a:p>
          <a:p>
            <a:pPr lvl="1"/>
            <a:endParaRPr lang="en-IN" b="1" dirty="0">
              <a:solidFill>
                <a:srgbClr val="000000"/>
              </a:solidFill>
            </a:endParaRPr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021142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165008-FA8F-C3E2-A288-99C03904C8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Project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DEAF6C-90CE-2EAB-8A40-5D5EA1F8AC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Training</a:t>
            </a:r>
          </a:p>
          <a:p>
            <a:pPr lvl="1"/>
            <a:r>
              <a:rPr lang="en-US" dirty="0"/>
              <a:t>Train the model </a:t>
            </a:r>
            <a:r>
              <a:rPr lang="en-US" dirty="0">
                <a:solidFill>
                  <a:srgbClr val="C00000"/>
                </a:solidFill>
              </a:rPr>
              <a:t>using the training dataset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Optimize model </a:t>
            </a:r>
            <a:r>
              <a:rPr lang="en-US" dirty="0">
                <a:solidFill>
                  <a:srgbClr val="C00000"/>
                </a:solidFill>
              </a:rPr>
              <a:t>parameters using techniques like gradient descent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Monitor performance using metrics </a:t>
            </a:r>
            <a:r>
              <a:rPr lang="en-US" dirty="0">
                <a:solidFill>
                  <a:srgbClr val="C00000"/>
                </a:solidFill>
              </a:rPr>
              <a:t>like accuracy, precision, recall</a:t>
            </a:r>
            <a:r>
              <a:rPr lang="en-US" dirty="0"/>
              <a:t>, etc.</a:t>
            </a:r>
          </a:p>
          <a:p>
            <a:pPr lvl="1"/>
            <a:endParaRPr lang="en-US" dirty="0"/>
          </a:p>
          <a:p>
            <a:r>
              <a:rPr lang="en-US" b="1" dirty="0"/>
              <a:t>Model Evaluation</a:t>
            </a:r>
          </a:p>
          <a:p>
            <a:pPr lvl="1"/>
            <a:r>
              <a:rPr lang="en-US" dirty="0"/>
              <a:t>Evaluate the model on the </a:t>
            </a:r>
            <a:r>
              <a:rPr lang="en-US" dirty="0">
                <a:solidFill>
                  <a:srgbClr val="C00000"/>
                </a:solidFill>
              </a:rPr>
              <a:t>validation dataset to tune hyperparameters</a:t>
            </a:r>
            <a:r>
              <a:rPr lang="en-US" dirty="0"/>
              <a:t>.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Assess performance using appropriate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metrics </a:t>
            </a:r>
            <a:r>
              <a:rPr lang="en-US" dirty="0">
                <a:solidFill>
                  <a:srgbClr val="C00000"/>
                </a:solidFill>
              </a:rPr>
              <a:t>accuracy, precision, recall</a:t>
            </a:r>
            <a:r>
              <a:rPr lang="en-US" dirty="0"/>
              <a:t>, etc.</a:t>
            </a: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Perform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cross-validation for robust evaluation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lvl="1"/>
            <a:endParaRPr lang="en-IN" dirty="0">
              <a:solidFill>
                <a:srgbClr val="000000"/>
              </a:solidFill>
            </a:endParaRPr>
          </a:p>
          <a:p>
            <a:r>
              <a:rPr lang="en-IN" b="1" i="0" u="none" strike="noStrike" dirty="0">
                <a:solidFill>
                  <a:srgbClr val="000000"/>
                </a:solidFill>
                <a:effectLst/>
              </a:rPr>
              <a:t>Model Deployment</a:t>
            </a:r>
            <a:endParaRPr lang="en-IN" dirty="0">
              <a:solidFill>
                <a:srgbClr val="000000"/>
              </a:solidFill>
            </a:endParaRPr>
          </a:p>
          <a:p>
            <a:pPr lvl="1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Integrate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trained model into production environments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pPr lvl="1"/>
            <a:r>
              <a:rPr lang="en-US" dirty="0"/>
              <a:t>Options for deployment: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Batch processing </a:t>
            </a:r>
            <a:r>
              <a:rPr lang="en-US" dirty="0"/>
              <a:t>(offline).</a:t>
            </a:r>
          </a:p>
          <a:p>
            <a:pPr lvl="2"/>
            <a:r>
              <a:rPr lang="en-US" dirty="0">
                <a:solidFill>
                  <a:srgbClr val="C00000"/>
                </a:solidFill>
              </a:rPr>
              <a:t>Real-time inference </a:t>
            </a:r>
            <a:r>
              <a:rPr lang="en-US" dirty="0"/>
              <a:t>(APIs, cloud services).</a:t>
            </a:r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34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66C3E5-E3C5-928A-E876-8E40113CE4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Project life cycle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54A553-BAEE-F735-B8FD-0E710545D6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Model Serving</a:t>
            </a:r>
          </a:p>
          <a:p>
            <a:pPr lvl="1"/>
            <a:r>
              <a:rPr lang="en-US" dirty="0"/>
              <a:t>Ensures the </a:t>
            </a:r>
            <a:r>
              <a:rPr lang="en-US" dirty="0">
                <a:solidFill>
                  <a:srgbClr val="C00000"/>
                </a:solidFill>
              </a:rPr>
              <a:t>model is operational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accessible to users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Serving in </a:t>
            </a:r>
            <a:r>
              <a:rPr lang="en-US" dirty="0">
                <a:solidFill>
                  <a:srgbClr val="C00000"/>
                </a:solidFill>
              </a:rPr>
              <a:t>Batch Mode - In batch serving</a:t>
            </a:r>
            <a:r>
              <a:rPr lang="en-US" dirty="0"/>
              <a:t>, predictions are generated for a large dataset all at once and stored for later use.</a:t>
            </a:r>
          </a:p>
          <a:p>
            <a:pPr lvl="1"/>
            <a:r>
              <a:rPr lang="en-US" dirty="0"/>
              <a:t>In on-demand serving, </a:t>
            </a:r>
            <a:r>
              <a:rPr lang="en-US" dirty="0">
                <a:solidFill>
                  <a:srgbClr val="C00000"/>
                </a:solidFill>
              </a:rPr>
              <a:t>predictions are generated dynamically </a:t>
            </a:r>
            <a:r>
              <a:rPr lang="en-US" dirty="0"/>
              <a:t>in response to a specific user request.</a:t>
            </a:r>
          </a:p>
          <a:p>
            <a:pPr lvl="1"/>
            <a:endParaRPr lang="en-US" dirty="0"/>
          </a:p>
          <a:p>
            <a:r>
              <a:rPr lang="en-US" b="1" dirty="0"/>
              <a:t>Model Monitoring</a:t>
            </a:r>
          </a:p>
          <a:p>
            <a:pPr lvl="1"/>
            <a:r>
              <a:rPr lang="en-US" dirty="0"/>
              <a:t>Model </a:t>
            </a:r>
            <a:r>
              <a:rPr lang="en-US" dirty="0">
                <a:solidFill>
                  <a:srgbClr val="C00000"/>
                </a:solidFill>
              </a:rPr>
              <a:t>Monitoring detects performance issues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changing data distributions</a:t>
            </a:r>
            <a:r>
              <a:rPr lang="en-US" dirty="0"/>
              <a:t>.</a:t>
            </a:r>
          </a:p>
          <a:p>
            <a:pPr lvl="1"/>
            <a:r>
              <a:rPr lang="en-US" dirty="0"/>
              <a:t>The process of tracking a deployed model’s performance, accuracy, and reliability in production.</a:t>
            </a:r>
          </a:p>
          <a:p>
            <a:pPr lvl="1"/>
            <a:endParaRPr lang="en-US" dirty="0"/>
          </a:p>
          <a:p>
            <a:r>
              <a:rPr lang="en-US" b="1" dirty="0"/>
              <a:t>Model Maintenance</a:t>
            </a:r>
          </a:p>
          <a:p>
            <a:pPr lvl="1"/>
            <a:r>
              <a:rPr lang="en-US" dirty="0"/>
              <a:t>Model Maintenance </a:t>
            </a:r>
            <a:r>
              <a:rPr lang="en-US" dirty="0">
                <a:solidFill>
                  <a:srgbClr val="C00000"/>
                </a:solidFill>
              </a:rPr>
              <a:t>addresses issues found during monitoring </a:t>
            </a:r>
            <a:r>
              <a:rPr lang="en-US" dirty="0"/>
              <a:t>and </a:t>
            </a:r>
            <a:r>
              <a:rPr lang="en-US" dirty="0">
                <a:solidFill>
                  <a:srgbClr val="C00000"/>
                </a:solidFill>
              </a:rPr>
              <a:t>improves the model's accuracy </a:t>
            </a:r>
            <a:r>
              <a:rPr lang="en-US" dirty="0"/>
              <a:t>and reliability.</a:t>
            </a:r>
          </a:p>
          <a:p>
            <a:pPr lvl="1"/>
            <a:r>
              <a:rPr lang="en-US" dirty="0"/>
              <a:t>Activities aimed at ensuring the model remains </a:t>
            </a:r>
            <a:r>
              <a:rPr lang="en-US" dirty="0">
                <a:solidFill>
                  <a:srgbClr val="C00000"/>
                </a:solidFill>
              </a:rPr>
              <a:t>accurate, relevant, and efficient over time</a:t>
            </a:r>
            <a:r>
              <a:rPr lang="en-US" dirty="0"/>
              <a:t>.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48941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B23F0D-0AFC-357E-920F-966B5653C2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Classification of ML Techniques</a:t>
            </a:r>
            <a:endParaRPr lang="en-US" dirty="0"/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3EA34208-B1C5-C884-6C6D-30A2CD83E4C0}"/>
              </a:ext>
            </a:extLst>
          </p:cNvPr>
          <p:cNvSpPr/>
          <p:nvPr/>
        </p:nvSpPr>
        <p:spPr>
          <a:xfrm>
            <a:off x="4839032" y="915562"/>
            <a:ext cx="2191871" cy="11887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Machine Learning 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E75B2E89-A48D-6EA7-1628-C1D811E5757D}"/>
              </a:ext>
            </a:extLst>
          </p:cNvPr>
          <p:cNvSpPr/>
          <p:nvPr/>
        </p:nvSpPr>
        <p:spPr>
          <a:xfrm>
            <a:off x="2203408" y="3034160"/>
            <a:ext cx="2191871" cy="11887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Supervised Learning 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377F4F0-1672-7358-CDDF-1A6EF5FA4E16}"/>
              </a:ext>
            </a:extLst>
          </p:cNvPr>
          <p:cNvSpPr/>
          <p:nvPr/>
        </p:nvSpPr>
        <p:spPr>
          <a:xfrm>
            <a:off x="4839032" y="3034160"/>
            <a:ext cx="2191871" cy="1188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Unsupervised Learning </a:t>
            </a:r>
          </a:p>
        </p:txBody>
      </p:sp>
      <p:sp>
        <p:nvSpPr>
          <p:cNvPr id="7" name="Rounded Rectangle 8">
            <a:extLst>
              <a:ext uri="{FF2B5EF4-FFF2-40B4-BE49-F238E27FC236}">
                <a16:creationId xmlns:a16="http://schemas.microsoft.com/office/drawing/2014/main" id="{A8DDAC96-E4D0-A75D-2780-AF90F5143701}"/>
              </a:ext>
            </a:extLst>
          </p:cNvPr>
          <p:cNvSpPr/>
          <p:nvPr/>
        </p:nvSpPr>
        <p:spPr>
          <a:xfrm>
            <a:off x="7474656" y="3034160"/>
            <a:ext cx="2191871" cy="1188720"/>
          </a:xfrm>
          <a:prstGeom prst="round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Reinforcement Learning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0A6D1945-6407-D434-2E5A-2382E0C224C9}"/>
              </a:ext>
            </a:extLst>
          </p:cNvPr>
          <p:cNvCxnSpPr>
            <a:stCxn id="4" idx="2"/>
            <a:endCxn id="6" idx="0"/>
          </p:cNvCxnSpPr>
          <p:nvPr/>
        </p:nvCxnSpPr>
        <p:spPr>
          <a:xfrm>
            <a:off x="5934967" y="2104282"/>
            <a:ext cx="0" cy="929878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D28DC5-2FA9-7775-4554-171022D6CBF0}"/>
              </a:ext>
            </a:extLst>
          </p:cNvPr>
          <p:cNvCxnSpPr>
            <a:endCxn id="5" idx="0"/>
          </p:cNvCxnSpPr>
          <p:nvPr/>
        </p:nvCxnSpPr>
        <p:spPr>
          <a:xfrm>
            <a:off x="3299341" y="2475420"/>
            <a:ext cx="2" cy="5587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35E64671-C86C-B539-7922-F85425BFB34C}"/>
              </a:ext>
            </a:extLst>
          </p:cNvPr>
          <p:cNvCxnSpPr>
            <a:endCxn id="7" idx="0"/>
          </p:cNvCxnSpPr>
          <p:nvPr/>
        </p:nvCxnSpPr>
        <p:spPr>
          <a:xfrm>
            <a:off x="8570591" y="2475420"/>
            <a:ext cx="1" cy="558741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E7B9CBF8-E315-9E5F-FDF9-F3DE69E38F16}"/>
              </a:ext>
            </a:extLst>
          </p:cNvPr>
          <p:cNvCxnSpPr/>
          <p:nvPr/>
        </p:nvCxnSpPr>
        <p:spPr>
          <a:xfrm flipV="1">
            <a:off x="3299342" y="2475419"/>
            <a:ext cx="52712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TextBox 11">
            <a:extLst>
              <a:ext uri="{FF2B5EF4-FFF2-40B4-BE49-F238E27FC236}">
                <a16:creationId xmlns:a16="http://schemas.microsoft.com/office/drawing/2014/main" id="{10F2B824-99D4-E9C4-804B-189E363A10CE}"/>
              </a:ext>
            </a:extLst>
          </p:cNvPr>
          <p:cNvSpPr txBox="1"/>
          <p:nvPr/>
        </p:nvSpPr>
        <p:spPr>
          <a:xfrm>
            <a:off x="2203408" y="4541111"/>
            <a:ext cx="2191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Task driven / predict value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1E3712-B086-0AC2-5E7C-9C1C2C433B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15787" y="5334795"/>
            <a:ext cx="1167108" cy="8229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545127BB-9E59-D976-6A2F-955806436405}"/>
              </a:ext>
            </a:extLst>
          </p:cNvPr>
          <p:cNvSpPr txBox="1"/>
          <p:nvPr/>
        </p:nvSpPr>
        <p:spPr>
          <a:xfrm>
            <a:off x="4839032" y="4541111"/>
            <a:ext cx="219187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Data driven / identify clusters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B1D9B106-98B8-E2FD-CBC4-CBF00D6EA9DB}"/>
              </a:ext>
            </a:extLst>
          </p:cNvPr>
          <p:cNvSpPr txBox="1"/>
          <p:nvPr/>
        </p:nvSpPr>
        <p:spPr>
          <a:xfrm>
            <a:off x="7474654" y="4541111"/>
            <a:ext cx="2286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Learn from mistakes</a:t>
            </a:r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F49D3797-972C-A994-AB49-4A36DAC3BB7B}"/>
              </a:ext>
            </a:extLst>
          </p:cNvPr>
          <p:cNvPicPr>
            <a:picLocks noChangeAspect="1"/>
          </p:cNvPicPr>
          <p:nvPr/>
        </p:nvPicPr>
        <p:blipFill rotWithShape="1"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 l="22621" t="17123" r="6490" b="9978"/>
          <a:stretch/>
        </p:blipFill>
        <p:spPr>
          <a:xfrm>
            <a:off x="7839070" y="5191923"/>
            <a:ext cx="1463040" cy="824248"/>
          </a:xfrm>
          <a:prstGeom prst="round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43B8E163-9940-7561-8984-A4B7DE1E192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47327" y="5264003"/>
            <a:ext cx="1027313" cy="8229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33851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500"/>
                            </p:stCondLst>
                            <p:childTnLst>
                              <p:par>
                                <p:cTn id="3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>
                      <p:stCondLst>
                        <p:cond delay="indefinite"/>
                      </p:stCondLst>
                      <p:childTnLst>
                        <p:par>
                          <p:cTn id="51" fill="hold">
                            <p:stCondLst>
                              <p:cond delay="0"/>
                            </p:stCondLst>
                            <p:childTnLst>
                              <p:par>
                                <p:cTn id="5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12" grpId="0"/>
      <p:bldP spid="14" grpId="0"/>
      <p:bldP spid="1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D246EA-B007-81AC-ADE1-C11AA3E6BB2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 dirty="0">
                <a:solidFill>
                  <a:schemeClr val="tx1"/>
                </a:solidFill>
              </a:rPr>
              <a:t>Supervised Learning 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07B28D4-FE68-A974-427D-7BB0412719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079" y="2360939"/>
            <a:ext cx="817995" cy="722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5F0700A-0751-0AD4-3203-097833FF1FF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4057" y="2372815"/>
            <a:ext cx="966051" cy="717956"/>
          </a:xfrm>
          <a:prstGeom prst="rect">
            <a:avLst/>
          </a:prstGeom>
        </p:spPr>
      </p:pic>
      <p:sp>
        <p:nvSpPr>
          <p:cNvPr id="6" name="Rounded Rectangle 5">
            <a:extLst>
              <a:ext uri="{FF2B5EF4-FFF2-40B4-BE49-F238E27FC236}">
                <a16:creationId xmlns:a16="http://schemas.microsoft.com/office/drawing/2014/main" id="{349F73DF-EED1-C483-D8C4-7385B7B1EDF0}"/>
              </a:ext>
            </a:extLst>
          </p:cNvPr>
          <p:cNvSpPr/>
          <p:nvPr/>
        </p:nvSpPr>
        <p:spPr>
          <a:xfrm>
            <a:off x="5021251" y="2767530"/>
            <a:ext cx="2034384" cy="1761276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bg1"/>
                </a:solidFill>
              </a:rPr>
              <a:t> Algorithm</a:t>
            </a:r>
          </a:p>
        </p:txBody>
      </p:sp>
      <p:cxnSp>
        <p:nvCxnSpPr>
          <p:cNvPr id="7" name="Straight Arrow Connector 6">
            <a:extLst>
              <a:ext uri="{FF2B5EF4-FFF2-40B4-BE49-F238E27FC236}">
                <a16:creationId xmlns:a16="http://schemas.microsoft.com/office/drawing/2014/main" id="{37E44233-26AF-6396-2476-61EF4880C932}"/>
              </a:ext>
            </a:extLst>
          </p:cNvPr>
          <p:cNvCxnSpPr>
            <a:cxnSpLocks/>
            <a:stCxn id="8" idx="3"/>
            <a:endCxn id="6" idx="1"/>
          </p:cNvCxnSpPr>
          <p:nvPr/>
        </p:nvCxnSpPr>
        <p:spPr>
          <a:xfrm flipV="1">
            <a:off x="3319629" y="3648168"/>
            <a:ext cx="1701622" cy="3348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>
            <a:extLst>
              <a:ext uri="{FF2B5EF4-FFF2-40B4-BE49-F238E27FC236}">
                <a16:creationId xmlns:a16="http://schemas.microsoft.com/office/drawing/2014/main" id="{056736EB-CCEC-629C-FA37-E7578C311974}"/>
              </a:ext>
            </a:extLst>
          </p:cNvPr>
          <p:cNvSpPr/>
          <p:nvPr/>
        </p:nvSpPr>
        <p:spPr>
          <a:xfrm>
            <a:off x="210824" y="1800945"/>
            <a:ext cx="3108805" cy="3761408"/>
          </a:xfrm>
          <a:prstGeom prst="rect">
            <a:avLst/>
          </a:prstGeom>
          <a:solidFill>
            <a:srgbClr val="00BBD3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80D81D6A-FB4A-CC16-3C9A-B5BDAB5A268A}"/>
              </a:ext>
            </a:extLst>
          </p:cNvPr>
          <p:cNvSpPr txBox="1"/>
          <p:nvPr/>
        </p:nvSpPr>
        <p:spPr>
          <a:xfrm>
            <a:off x="396402" y="2050183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0FF9C7B8-9782-2A4A-3F2A-2E8140A41A7B}"/>
              </a:ext>
            </a:extLst>
          </p:cNvPr>
          <p:cNvSpPr txBox="1"/>
          <p:nvPr/>
        </p:nvSpPr>
        <p:spPr>
          <a:xfrm>
            <a:off x="1378106" y="204550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3D6C2578-F6BC-ED27-C8A9-D719161C9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3817" y="2386502"/>
            <a:ext cx="817995" cy="722538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B4D53AE8-A89C-5138-CF35-72962805828B}"/>
              </a:ext>
            </a:extLst>
          </p:cNvPr>
          <p:cNvSpPr txBox="1"/>
          <p:nvPr/>
        </p:nvSpPr>
        <p:spPr>
          <a:xfrm>
            <a:off x="2513140" y="2075746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4182612A-0A20-A27D-D199-EE6CA8D2BCD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480" y="3561257"/>
            <a:ext cx="966051" cy="717956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78FF4440-89EA-CE03-36A6-E97C6E9943D4}"/>
              </a:ext>
            </a:extLst>
          </p:cNvPr>
          <p:cNvSpPr txBox="1"/>
          <p:nvPr/>
        </p:nvSpPr>
        <p:spPr>
          <a:xfrm>
            <a:off x="327529" y="3233943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03E2C951-7609-D8C0-2ED6-D49D10ADF3A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0484" y="3574395"/>
            <a:ext cx="966051" cy="717956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DEE8B8E0-4061-EDC3-B313-B92C00336458}"/>
              </a:ext>
            </a:extLst>
          </p:cNvPr>
          <p:cNvSpPr txBox="1"/>
          <p:nvPr/>
        </p:nvSpPr>
        <p:spPr>
          <a:xfrm>
            <a:off x="1374533" y="3247081"/>
            <a:ext cx="8675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Banana</a:t>
            </a: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06A6186B-8B36-8D4D-F662-7D85F8A3D1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50192" y="3589592"/>
            <a:ext cx="817995" cy="722538"/>
          </a:xfrm>
          <a:prstGeom prst="rect">
            <a:avLst/>
          </a:prstGeom>
        </p:spPr>
      </p:pic>
      <p:sp>
        <p:nvSpPr>
          <p:cNvPr id="18" name="TextBox 17">
            <a:extLst>
              <a:ext uri="{FF2B5EF4-FFF2-40B4-BE49-F238E27FC236}">
                <a16:creationId xmlns:a16="http://schemas.microsoft.com/office/drawing/2014/main" id="{3C3C6954-46A1-055A-632A-870A42008860}"/>
              </a:ext>
            </a:extLst>
          </p:cNvPr>
          <p:cNvSpPr txBox="1"/>
          <p:nvPr/>
        </p:nvSpPr>
        <p:spPr>
          <a:xfrm>
            <a:off x="2469515" y="3278836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5A519C-4A48-115A-DBDB-84EDCE6B4E9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107" y="4737713"/>
            <a:ext cx="817995" cy="722538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805D5254-54EE-49C1-C65F-0B3FEAE58742}"/>
              </a:ext>
            </a:extLst>
          </p:cNvPr>
          <p:cNvSpPr txBox="1"/>
          <p:nvPr/>
        </p:nvSpPr>
        <p:spPr>
          <a:xfrm>
            <a:off x="396430" y="4426957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88D83FC8-EAC4-E571-15CC-D7EE19D08CA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9436" y="4759044"/>
            <a:ext cx="817995" cy="72253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E9A6F1D7-E569-BEC2-1AC4-277C85672953}"/>
              </a:ext>
            </a:extLst>
          </p:cNvPr>
          <p:cNvSpPr txBox="1"/>
          <p:nvPr/>
        </p:nvSpPr>
        <p:spPr>
          <a:xfrm>
            <a:off x="1458759" y="4448288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D42974E1-888D-1CAE-7D15-9CDC1DFA187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11232" y="4759044"/>
            <a:ext cx="817995" cy="722538"/>
          </a:xfrm>
          <a:prstGeom prst="rect">
            <a:avLst/>
          </a:prstGeom>
        </p:spPr>
      </p:pic>
      <p:sp>
        <p:nvSpPr>
          <p:cNvPr id="24" name="TextBox 23">
            <a:extLst>
              <a:ext uri="{FF2B5EF4-FFF2-40B4-BE49-F238E27FC236}">
                <a16:creationId xmlns:a16="http://schemas.microsoft.com/office/drawing/2014/main" id="{B6B57F30-E472-5592-7888-6A09C69E509C}"/>
              </a:ext>
            </a:extLst>
          </p:cNvPr>
          <p:cNvSpPr txBox="1"/>
          <p:nvPr/>
        </p:nvSpPr>
        <p:spPr>
          <a:xfrm>
            <a:off x="2430555" y="4448288"/>
            <a:ext cx="7072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Apple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521579BA-396F-BA49-D363-8C5ECBFF6C6E}"/>
              </a:ext>
            </a:extLst>
          </p:cNvPr>
          <p:cNvSpPr txBox="1"/>
          <p:nvPr/>
        </p:nvSpPr>
        <p:spPr>
          <a:xfrm>
            <a:off x="887421" y="5641003"/>
            <a:ext cx="175560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Training Data Set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D96903B5-B7CA-D6D6-8FFF-D5B0B87CE62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29445" y="915819"/>
            <a:ext cx="817995" cy="722538"/>
          </a:xfrm>
          <a:prstGeom prst="rect">
            <a:avLst/>
          </a:prstGeom>
        </p:spPr>
      </p:pic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6A2C6E0E-0C5D-7A3F-6A7D-7B52B6047C65}"/>
              </a:ext>
            </a:extLst>
          </p:cNvPr>
          <p:cNvCxnSpPr>
            <a:stCxn id="26" idx="2"/>
            <a:endCxn id="6" idx="0"/>
          </p:cNvCxnSpPr>
          <p:nvPr/>
        </p:nvCxnSpPr>
        <p:spPr>
          <a:xfrm>
            <a:off x="6038443" y="1638357"/>
            <a:ext cx="0" cy="112917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9FA037D2-44AB-BDE2-2764-20BE89EA0ACE}"/>
              </a:ext>
            </a:extLst>
          </p:cNvPr>
          <p:cNvSpPr txBox="1"/>
          <p:nvPr/>
        </p:nvSpPr>
        <p:spPr>
          <a:xfrm>
            <a:off x="6152445" y="1833785"/>
            <a:ext cx="47801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???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BA0F4DB1-B356-22FF-3EA4-39A1DDF4CADF}"/>
              </a:ext>
            </a:extLst>
          </p:cNvPr>
          <p:cNvCxnSpPr>
            <a:cxnSpLocks/>
          </p:cNvCxnSpPr>
          <p:nvPr/>
        </p:nvCxnSpPr>
        <p:spPr>
          <a:xfrm flipV="1">
            <a:off x="7055635" y="3603275"/>
            <a:ext cx="1586670" cy="7349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Explosion 2 29">
            <a:extLst>
              <a:ext uri="{FF2B5EF4-FFF2-40B4-BE49-F238E27FC236}">
                <a16:creationId xmlns:a16="http://schemas.microsoft.com/office/drawing/2014/main" id="{0846F3D0-0414-DA70-CAB7-45CFC25399F9}"/>
              </a:ext>
            </a:extLst>
          </p:cNvPr>
          <p:cNvSpPr/>
          <p:nvPr/>
        </p:nvSpPr>
        <p:spPr>
          <a:xfrm>
            <a:off x="8867935" y="2658377"/>
            <a:ext cx="2517569" cy="1653753"/>
          </a:xfrm>
          <a:prstGeom prst="irregularSeal2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Its an Apple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994D45-37BF-CAB5-7CA4-C83CB8EFF82D}"/>
              </a:ext>
            </a:extLst>
          </p:cNvPr>
          <p:cNvSpPr txBox="1"/>
          <p:nvPr/>
        </p:nvSpPr>
        <p:spPr>
          <a:xfrm>
            <a:off x="9401284" y="2260412"/>
            <a:ext cx="1116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Prediction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51F9C45A-DBBD-4985-7255-57EDC167E20F}"/>
              </a:ext>
            </a:extLst>
          </p:cNvPr>
          <p:cNvSpPr txBox="1"/>
          <p:nvPr/>
        </p:nvSpPr>
        <p:spPr>
          <a:xfrm>
            <a:off x="3311812" y="5909148"/>
            <a:ext cx="602120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Here we Use Label Data to train Classifier (</a:t>
            </a:r>
            <a:r>
              <a:rPr lang="en-US" dirty="0"/>
              <a:t>Supervised Learning</a:t>
            </a:r>
            <a:r>
              <a:rPr lang="en-US" dirty="0">
                <a:solidFill>
                  <a:srgbClr val="C00000"/>
                </a:solidFill>
              </a:rPr>
              <a:t>)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C1800579-FE06-3BD8-BA50-D7D48ED7C9CF}"/>
              </a:ext>
            </a:extLst>
          </p:cNvPr>
          <p:cNvCxnSpPr>
            <a:cxnSpLocks/>
          </p:cNvCxnSpPr>
          <p:nvPr/>
        </p:nvCxnSpPr>
        <p:spPr>
          <a:xfrm flipH="1">
            <a:off x="1811879" y="1080235"/>
            <a:ext cx="1179677" cy="94268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>
            <a:extLst>
              <a:ext uri="{FF2B5EF4-FFF2-40B4-BE49-F238E27FC236}">
                <a16:creationId xmlns:a16="http://schemas.microsoft.com/office/drawing/2014/main" id="{07165B33-04BF-E6D7-1F3E-75A3A7D12A8D}"/>
              </a:ext>
            </a:extLst>
          </p:cNvPr>
          <p:cNvSpPr txBox="1"/>
          <p:nvPr/>
        </p:nvSpPr>
        <p:spPr>
          <a:xfrm>
            <a:off x="2954038" y="935958"/>
            <a:ext cx="135646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Labeled data</a:t>
            </a:r>
          </a:p>
        </p:txBody>
      </p:sp>
    </p:spTree>
    <p:extLst>
      <p:ext uri="{BB962C8B-B14F-4D97-AF65-F5344CB8AC3E}">
        <p14:creationId xmlns:p14="http://schemas.microsoft.com/office/powerpoint/2010/main" val="58676873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8" grpId="0" animBg="1"/>
      <p:bldP spid="9" grpId="0"/>
      <p:bldP spid="10" grpId="0"/>
      <p:bldP spid="12" grpId="0"/>
      <p:bldP spid="14" grpId="0"/>
      <p:bldP spid="16" grpId="0"/>
      <p:bldP spid="18" grpId="0"/>
      <p:bldP spid="20" grpId="0"/>
      <p:bldP spid="22" grpId="0"/>
      <p:bldP spid="24" grpId="0"/>
      <p:bldP spid="25" grpId="0"/>
      <p:bldP spid="28" grpId="0"/>
      <p:bldP spid="30" grpId="0" animBg="1"/>
      <p:bldP spid="31" grpId="0"/>
      <p:bldP spid="32" grpId="0"/>
      <p:bldP spid="38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Machine Learning Process for Supervised Learning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27363" y="3034146"/>
            <a:ext cx="1271847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Collecting data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456410" y="3034146"/>
            <a:ext cx="1271847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Cleaning data</a:t>
            </a:r>
          </a:p>
        </p:txBody>
      </p:sp>
      <p:sp>
        <p:nvSpPr>
          <p:cNvPr id="6" name="Oval 5"/>
          <p:cNvSpPr/>
          <p:nvPr/>
        </p:nvSpPr>
        <p:spPr>
          <a:xfrm>
            <a:off x="5669279" y="3931920"/>
            <a:ext cx="1271847" cy="89777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Train Data</a:t>
            </a:r>
          </a:p>
        </p:txBody>
      </p:sp>
      <p:sp>
        <p:nvSpPr>
          <p:cNvPr id="7" name="Oval 6"/>
          <p:cNvSpPr/>
          <p:nvPr/>
        </p:nvSpPr>
        <p:spPr>
          <a:xfrm>
            <a:off x="5669279" y="2136372"/>
            <a:ext cx="1271847" cy="897774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Test Data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822275" y="3931920"/>
            <a:ext cx="1271847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Training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22275" y="2136372"/>
            <a:ext cx="1271847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Testing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975271" y="3034146"/>
            <a:ext cx="1496292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Model Deployment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1999210" y="3408219"/>
            <a:ext cx="457200" cy="149629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ight Arrow 13"/>
          <p:cNvSpPr/>
          <p:nvPr/>
        </p:nvSpPr>
        <p:spPr>
          <a:xfrm>
            <a:off x="6941126" y="2433782"/>
            <a:ext cx="881149" cy="149629"/>
          </a:xfrm>
          <a:prstGeom prst="rightArrow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Right Arrow 14"/>
          <p:cNvSpPr/>
          <p:nvPr/>
        </p:nvSpPr>
        <p:spPr>
          <a:xfrm>
            <a:off x="6941126" y="4380807"/>
            <a:ext cx="881149" cy="149629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Bent Arrow 19"/>
          <p:cNvSpPr/>
          <p:nvPr/>
        </p:nvSpPr>
        <p:spPr>
          <a:xfrm>
            <a:off x="4772302" y="2409092"/>
            <a:ext cx="914400" cy="625054"/>
          </a:xfrm>
          <a:prstGeom prst="bentArrow">
            <a:avLst>
              <a:gd name="adj1" fmla="val 15153"/>
              <a:gd name="adj2" fmla="val 14450"/>
              <a:gd name="adj3" fmla="val 16560"/>
              <a:gd name="adj4" fmla="val 87500"/>
            </a:avLst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2" name="Bent Arrow 21"/>
          <p:cNvSpPr/>
          <p:nvPr/>
        </p:nvSpPr>
        <p:spPr>
          <a:xfrm flipV="1">
            <a:off x="4772302" y="3931920"/>
            <a:ext cx="914400" cy="625054"/>
          </a:xfrm>
          <a:prstGeom prst="bentArrow">
            <a:avLst>
              <a:gd name="adj1" fmla="val 15153"/>
              <a:gd name="adj2" fmla="val 14450"/>
              <a:gd name="adj3" fmla="val 16560"/>
              <a:gd name="adj4" fmla="val 87500"/>
            </a:avLst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4" name="Right Arrow 23"/>
          <p:cNvSpPr/>
          <p:nvPr/>
        </p:nvSpPr>
        <p:spPr>
          <a:xfrm rot="16200000">
            <a:off x="8262849" y="3399906"/>
            <a:ext cx="881149" cy="149629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ight Arrow 24"/>
          <p:cNvSpPr/>
          <p:nvPr/>
        </p:nvSpPr>
        <p:spPr>
          <a:xfrm rot="5400000" flipV="1">
            <a:off x="7784868" y="3401664"/>
            <a:ext cx="881149" cy="149629"/>
          </a:xfrm>
          <a:prstGeom prst="rightArrow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ounded Rectangle 31"/>
          <p:cNvSpPr/>
          <p:nvPr/>
        </p:nvSpPr>
        <p:spPr>
          <a:xfrm>
            <a:off x="4185457" y="3034146"/>
            <a:ext cx="1271847" cy="897774"/>
          </a:xfrm>
          <a:prstGeom prst="roundRect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Splitting data</a:t>
            </a:r>
          </a:p>
        </p:txBody>
      </p:sp>
      <p:sp>
        <p:nvSpPr>
          <p:cNvPr id="33" name="Right Arrow 32"/>
          <p:cNvSpPr/>
          <p:nvPr/>
        </p:nvSpPr>
        <p:spPr>
          <a:xfrm>
            <a:off x="3728257" y="3408219"/>
            <a:ext cx="457200" cy="149629"/>
          </a:xfrm>
          <a:prstGeom prst="right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6888453" y="3151554"/>
            <a:ext cx="132731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dirty="0"/>
              <a:t>Update Parameters</a:t>
            </a:r>
          </a:p>
        </p:txBody>
      </p:sp>
      <p:sp>
        <p:nvSpPr>
          <p:cNvPr id="35" name="Bent-Up Arrow 34"/>
          <p:cNvSpPr/>
          <p:nvPr/>
        </p:nvSpPr>
        <p:spPr>
          <a:xfrm flipV="1">
            <a:off x="9094122" y="2507628"/>
            <a:ext cx="1711624" cy="527397"/>
          </a:xfrm>
          <a:prstGeom prst="bentUpArrow">
            <a:avLst>
              <a:gd name="adj1" fmla="val 21083"/>
              <a:gd name="adj2" fmla="val 22062"/>
              <a:gd name="adj3" fmla="val 28918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1242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2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4" grpId="0" animBg="1"/>
      <p:bldP spid="15" grpId="0" animBg="1"/>
      <p:bldP spid="20" grpId="0" animBg="1"/>
      <p:bldP spid="22" grpId="0" animBg="1"/>
      <p:bldP spid="24" grpId="0" animBg="1"/>
      <p:bldP spid="24" grpId="1" animBg="1"/>
      <p:bldP spid="24" grpId="2" animBg="1"/>
      <p:bldP spid="25" grpId="0" animBg="1"/>
      <p:bldP spid="32" grpId="0" animBg="1"/>
      <p:bldP spid="33" grpId="0" animBg="1"/>
      <p:bldP spid="34" grpId="0"/>
      <p:bldP spid="3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DB3282-5B72-9FA2-30C4-520B14A837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dirty="0">
                <a:solidFill>
                  <a:schemeClr val="tx1"/>
                </a:solidFill>
              </a:rPr>
              <a:t>Supervised Learning 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513081-4E04-4206-00B1-B44F5B533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Also called </a:t>
            </a:r>
            <a:r>
              <a:rPr lang="en-US" dirty="0">
                <a:solidFill>
                  <a:srgbClr val="C00000"/>
                </a:solidFill>
              </a:rPr>
              <a:t>predictive learning</a:t>
            </a:r>
            <a:r>
              <a:rPr lang="en-US" dirty="0"/>
              <a:t>. A machine predicts the class of unknown objects based on prior </a:t>
            </a:r>
            <a:r>
              <a:rPr lang="en-US" dirty="0">
                <a:solidFill>
                  <a:srgbClr val="C00000"/>
                </a:solidFill>
              </a:rPr>
              <a:t>class-related information of similar objects</a:t>
            </a:r>
            <a:r>
              <a:rPr lang="en-US" dirty="0"/>
              <a:t>.</a:t>
            </a:r>
          </a:p>
          <a:p>
            <a:r>
              <a:rPr lang="en-US" dirty="0"/>
              <a:t>The major motivation of </a:t>
            </a:r>
            <a:r>
              <a:rPr lang="en-US" dirty="0">
                <a:solidFill>
                  <a:srgbClr val="C00000"/>
                </a:solidFill>
              </a:rPr>
              <a:t>supervised learning is to learn from past information</a:t>
            </a:r>
            <a:r>
              <a:rPr lang="en-US" dirty="0"/>
              <a:t>.</a:t>
            </a:r>
          </a:p>
          <a:p>
            <a:r>
              <a:rPr lang="en-US" dirty="0"/>
              <a:t>A machine needs the basic information to be provided to it. This basic input, or the experience in the paradigm of machine learning, is </a:t>
            </a:r>
            <a:r>
              <a:rPr lang="en-US" dirty="0">
                <a:solidFill>
                  <a:srgbClr val="C00000"/>
                </a:solidFill>
              </a:rPr>
              <a:t>given in the form of training data</a:t>
            </a:r>
            <a:r>
              <a:rPr lang="en-US" dirty="0"/>
              <a:t>.</a:t>
            </a:r>
          </a:p>
          <a:p>
            <a:r>
              <a:rPr lang="en-US" dirty="0"/>
              <a:t>Example:</a:t>
            </a:r>
          </a:p>
          <a:p>
            <a:pPr lvl="1"/>
            <a:r>
              <a:rPr lang="en-US" dirty="0"/>
              <a:t>Predicting the results of a game</a:t>
            </a:r>
          </a:p>
          <a:p>
            <a:pPr lvl="1"/>
            <a:r>
              <a:rPr lang="en-US" dirty="0"/>
              <a:t>Predicting whether a </a:t>
            </a:r>
            <a:r>
              <a:rPr lang="en-US" dirty="0" err="1"/>
              <a:t>tumour</a:t>
            </a:r>
            <a:r>
              <a:rPr lang="en-US" dirty="0"/>
              <a:t> is malignant or benign</a:t>
            </a:r>
          </a:p>
          <a:p>
            <a:pPr lvl="1"/>
            <a:r>
              <a:rPr lang="en-US" dirty="0"/>
              <a:t>Predicting the price of domains like real estate, stocks, etc.</a:t>
            </a:r>
          </a:p>
          <a:p>
            <a:pPr lvl="1"/>
            <a:r>
              <a:rPr lang="en-US" dirty="0"/>
              <a:t>Classifying texts such as classifying a set of emails as spam or non-spam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2011286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A5AC98-CAF1-BB87-A2D7-29CAC7969A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17C2DD-85A4-2AD7-0131-D013F05B2E6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1563667"/>
          </a:xfrm>
        </p:spPr>
        <p:txBody>
          <a:bodyPr/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in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predictive (supervised) learning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goal is to approximate the true function f(x)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which maps input 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x to output 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 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This is achieved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by learning a hypothesis function h(x) 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that is as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close as possible to f(x). 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Here's how this works:</a:t>
            </a: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400BE4-3085-BB73-4E7A-F9F9A22927BC}"/>
              </a:ext>
            </a:extLst>
          </p:cNvPr>
          <p:cNvSpPr/>
          <p:nvPr/>
        </p:nvSpPr>
        <p:spPr>
          <a:xfrm>
            <a:off x="544688" y="3317083"/>
            <a:ext cx="970843" cy="3443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Given: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D7109D1-45DB-8344-40A2-AC72DC4288BE}"/>
              </a:ext>
            </a:extLst>
          </p:cNvPr>
          <p:cNvSpPr txBox="1"/>
          <p:nvPr/>
        </p:nvSpPr>
        <p:spPr>
          <a:xfrm>
            <a:off x="431799" y="3692226"/>
            <a:ext cx="4998157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A training dataset of </a:t>
            </a:r>
            <a:r>
              <a:rPr lang="en-IN" b="0" i="0" u="none" strike="noStrike" dirty="0">
                <a:solidFill>
                  <a:schemeClr val="accent3">
                    <a:lumMod val="75000"/>
                  </a:schemeClr>
                </a:solidFill>
                <a:effectLst/>
              </a:rPr>
              <a:t>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 examples:</a:t>
            </a:r>
          </a:p>
          <a:p>
            <a:pPr algn="l"/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{(x1,y1),(x2,y2),…,(</a:t>
            </a:r>
            <a:r>
              <a:rPr lang="en-IN" b="0" i="0" u="none" strike="noStrike" dirty="0" err="1">
                <a:solidFill>
                  <a:srgbClr val="C00000"/>
                </a:solidFill>
                <a:effectLst/>
              </a:rPr>
              <a:t>xN,yN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)}{(x1​,y1​),(x2​,y2​),…,(</a:t>
            </a:r>
            <a:r>
              <a:rPr lang="en-IN" b="0" i="0" u="none" strike="noStrike" dirty="0" err="1">
                <a:solidFill>
                  <a:srgbClr val="C00000"/>
                </a:solidFill>
                <a:effectLst/>
              </a:rPr>
              <a:t>xN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​,</a:t>
            </a:r>
            <a:r>
              <a:rPr lang="en-IN" b="0" i="0" u="none" strike="noStrike" dirty="0" err="1">
                <a:solidFill>
                  <a:srgbClr val="C00000"/>
                </a:solidFill>
                <a:effectLst/>
              </a:rPr>
              <a:t>yN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​)}</a:t>
            </a:r>
          </a:p>
          <a:p>
            <a:pPr algn="l"/>
            <a:endParaRPr lang="en-IN" dirty="0">
              <a:solidFill>
                <a:srgbClr val="000000"/>
              </a:solidFill>
            </a:endParaRPr>
          </a:p>
          <a:p>
            <a:pPr algn="l"/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where each 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yj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​ is generated from the (unknown) function 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y=f(x)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possibly with noise.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4D86BC2-E082-3189-26F0-1D89AB6AF1F9}"/>
              </a:ext>
            </a:extLst>
          </p:cNvPr>
          <p:cNvSpPr/>
          <p:nvPr/>
        </p:nvSpPr>
        <p:spPr>
          <a:xfrm>
            <a:off x="6186311" y="3256844"/>
            <a:ext cx="970843" cy="344312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b="0" i="0" u="none" strike="noStrike" dirty="0">
                <a:solidFill>
                  <a:srgbClr val="000000"/>
                </a:solidFill>
                <a:effectLst/>
                <a:latin typeface="-webkit-standard"/>
              </a:rPr>
              <a:t>Goal: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D1CC0C7-A30F-8DF2-CDEF-FB6D1FBF7418}"/>
              </a:ext>
            </a:extLst>
          </p:cNvPr>
          <p:cNvSpPr txBox="1"/>
          <p:nvPr/>
        </p:nvSpPr>
        <p:spPr>
          <a:xfrm>
            <a:off x="6096000" y="3677570"/>
            <a:ext cx="4662311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Find a hypothesis </a:t>
            </a:r>
            <a:r>
              <a:rPr lang="en-IN" b="0" i="0" u="none" strike="noStrike" dirty="0">
                <a:solidFill>
                  <a:srgbClr val="C00000"/>
                </a:solidFill>
                <a:effectLst/>
                <a:latin typeface="+mj-lt"/>
              </a:rPr>
              <a:t>h(x) 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(also called a model) such that </a:t>
            </a:r>
            <a:r>
              <a:rPr lang="en-IN" b="0" i="0" u="none" strike="noStrike" dirty="0">
                <a:solidFill>
                  <a:srgbClr val="C00000"/>
                </a:solidFill>
                <a:effectLst/>
                <a:latin typeface="+mj-lt"/>
              </a:rPr>
              <a:t>h(x)≈f(x). </a:t>
            </a:r>
          </a:p>
          <a:p>
            <a:endParaRPr lang="en-IN" dirty="0">
              <a:solidFill>
                <a:srgbClr val="000000"/>
              </a:solidFill>
              <a:latin typeface="+mj-lt"/>
            </a:endParaRP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This means that </a:t>
            </a:r>
            <a:r>
              <a:rPr lang="en-IN" b="0" i="0" u="none" strike="noStrike" dirty="0">
                <a:solidFill>
                  <a:srgbClr val="C00000"/>
                </a:solidFill>
                <a:effectLst/>
                <a:latin typeface="+mj-lt"/>
              </a:rPr>
              <a:t>h(x) predicts y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accurately for </a:t>
            </a:r>
            <a:r>
              <a:rPr lang="en-IN" b="0" i="0" u="none" strike="noStrike" dirty="0">
                <a:solidFill>
                  <a:srgbClr val="C00000"/>
                </a:solidFill>
                <a:effectLst/>
                <a:latin typeface="+mj-lt"/>
              </a:rPr>
              <a:t>both seen and unseen examples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.</a:t>
            </a:r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789725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/>
      <p:bldP spid="7" grpId="0" animBg="1"/>
      <p:bldP spid="9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8A30A2-DD5B-B5EC-1881-DA4CD24B89E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Unsupervised Learning 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F654DF1-50C9-B00D-3A23-D1B0EC542F4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34" y="1925659"/>
            <a:ext cx="817995" cy="722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C750805-AA71-5947-FEBB-3F3200BFEA7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7378" y="1925659"/>
            <a:ext cx="705563" cy="671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15BD9C-E750-0132-7D52-2AC9118FDD6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12" y="1925659"/>
            <a:ext cx="966051" cy="717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040EB4E-1A4B-7D0E-4A43-3B8B2F2EDB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34" y="2806297"/>
            <a:ext cx="817995" cy="722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35C1E603-1523-B3DA-C3FC-B270D7F6040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7612" y="2806297"/>
            <a:ext cx="966051" cy="717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6369D6-7D50-33FA-B853-D1C922028F87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97133" y="2806297"/>
            <a:ext cx="966051" cy="717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927DB90D-F28E-AFEB-2A4B-5A229F13C96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634" y="3686935"/>
            <a:ext cx="966051" cy="717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66B7DA3F-9337-1266-9D55-9E60E3A158F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81639" y="3682353"/>
            <a:ext cx="817995" cy="7225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139BDAAE-028D-9037-79BF-63090397631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71160" y="3682353"/>
            <a:ext cx="817995" cy="722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3DEC75BC-BCDA-87FA-7E37-B1DD3EAD74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0877" y="4562991"/>
            <a:ext cx="705563" cy="6718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8808B970-4B9C-BD42-790C-E018141A47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37854" y="4562990"/>
            <a:ext cx="705563" cy="6718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9A6B694-8971-35D0-A45E-2E0399DFCFD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24831" y="4553903"/>
            <a:ext cx="705563" cy="671819"/>
          </a:xfrm>
          <a:prstGeom prst="rect">
            <a:avLst/>
          </a:prstGeom>
        </p:spPr>
      </p:pic>
      <p:sp>
        <p:nvSpPr>
          <p:cNvPr id="16" name="Rounded Rectangle 15">
            <a:extLst>
              <a:ext uri="{FF2B5EF4-FFF2-40B4-BE49-F238E27FC236}">
                <a16:creationId xmlns:a16="http://schemas.microsoft.com/office/drawing/2014/main" id="{47568F8D-2E24-FC0D-BFB7-3199813D5018}"/>
              </a:ext>
            </a:extLst>
          </p:cNvPr>
          <p:cNvSpPr/>
          <p:nvPr/>
        </p:nvSpPr>
        <p:spPr>
          <a:xfrm>
            <a:off x="4425793" y="2643615"/>
            <a:ext cx="1949533" cy="1761276"/>
          </a:xfrm>
          <a:prstGeom prst="round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sz="2400" dirty="0"/>
              <a:t>Clustering </a:t>
            </a:r>
          </a:p>
          <a:p>
            <a:pPr algn="ctr"/>
            <a:r>
              <a:rPr lang="en-US" sz="2400" dirty="0"/>
              <a:t>Algorithm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D83BE68F-EB86-45A2-1A24-AB18E32671F8}"/>
              </a:ext>
            </a:extLst>
          </p:cNvPr>
          <p:cNvCxnSpPr>
            <a:cxnSpLocks/>
            <a:endCxn id="16" idx="1"/>
          </p:cNvCxnSpPr>
          <p:nvPr/>
        </p:nvCxnSpPr>
        <p:spPr>
          <a:xfrm>
            <a:off x="3469047" y="3524253"/>
            <a:ext cx="956746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544E7C63-19AD-7F21-A664-91AF1695B78B}"/>
              </a:ext>
            </a:extLst>
          </p:cNvPr>
          <p:cNvCxnSpPr>
            <a:cxnSpLocks/>
            <a:stCxn id="16" idx="3"/>
          </p:cNvCxnSpPr>
          <p:nvPr/>
        </p:nvCxnSpPr>
        <p:spPr>
          <a:xfrm flipV="1">
            <a:off x="6375326" y="2494603"/>
            <a:ext cx="1867140" cy="102965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BDFB0A99-B5A9-41C1-988B-AA5D75334F5A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375326" y="3524253"/>
            <a:ext cx="1937401" cy="4071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01FAE87F-9F2B-7E3F-F0AB-76A99E100320}"/>
              </a:ext>
            </a:extLst>
          </p:cNvPr>
          <p:cNvCxnSpPr>
            <a:cxnSpLocks/>
            <a:stCxn id="16" idx="3"/>
          </p:cNvCxnSpPr>
          <p:nvPr/>
        </p:nvCxnSpPr>
        <p:spPr>
          <a:xfrm>
            <a:off x="6375326" y="3524253"/>
            <a:ext cx="1825584" cy="103873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1" name="Picture 20">
            <a:extLst>
              <a:ext uri="{FF2B5EF4-FFF2-40B4-BE49-F238E27FC236}">
                <a16:creationId xmlns:a16="http://schemas.microsoft.com/office/drawing/2014/main" id="{2F0C8DF5-11D6-903A-1E06-4E4E03FCB5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33" y="2083759"/>
            <a:ext cx="817995" cy="722538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13085892-17A3-E746-492D-768AC5825F0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168" y="2037547"/>
            <a:ext cx="817995" cy="722538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FB42DAB7-7C66-9EDF-387D-0C3A0E6E8FA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320" y="2006496"/>
            <a:ext cx="817995" cy="722538"/>
          </a:xfrm>
          <a:prstGeom prst="rect">
            <a:avLst/>
          </a:prstGeom>
        </p:spPr>
      </p:pic>
      <p:pic>
        <p:nvPicPr>
          <p:cNvPr id="24" name="Picture 23">
            <a:extLst>
              <a:ext uri="{FF2B5EF4-FFF2-40B4-BE49-F238E27FC236}">
                <a16:creationId xmlns:a16="http://schemas.microsoft.com/office/drawing/2014/main" id="{3398FE6F-46E4-B449-73B9-E2AD3A2876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263" y="2037547"/>
            <a:ext cx="817995" cy="722538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12DC462-810C-0535-D07C-1402E088391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806" y="3205985"/>
            <a:ext cx="966051" cy="717956"/>
          </a:xfrm>
          <a:prstGeom prst="rect">
            <a:avLst/>
          </a:prstGeom>
        </p:spPr>
      </p:pic>
      <p:pic>
        <p:nvPicPr>
          <p:cNvPr id="26" name="Picture 25">
            <a:extLst>
              <a:ext uri="{FF2B5EF4-FFF2-40B4-BE49-F238E27FC236}">
                <a16:creationId xmlns:a16="http://schemas.microsoft.com/office/drawing/2014/main" id="{37109378-DD3A-E1DE-BA94-780564E6832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57" y="3165275"/>
            <a:ext cx="966051" cy="717956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A2F37BB0-8CDC-3CB9-1F42-55A941E3D152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93" y="3165275"/>
            <a:ext cx="966051" cy="717956"/>
          </a:xfrm>
          <a:prstGeom prst="rect">
            <a:avLst/>
          </a:prstGeom>
        </p:spPr>
      </p:pic>
      <p:pic>
        <p:nvPicPr>
          <p:cNvPr id="28" name="Picture 27">
            <a:extLst>
              <a:ext uri="{FF2B5EF4-FFF2-40B4-BE49-F238E27FC236}">
                <a16:creationId xmlns:a16="http://schemas.microsoft.com/office/drawing/2014/main" id="{869C3053-CBB7-7A56-DB6F-EA34A7DDF81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09507" y="3185630"/>
            <a:ext cx="966051" cy="717956"/>
          </a:xfrm>
          <a:prstGeom prst="rect">
            <a:avLst/>
          </a:prstGeom>
        </p:spPr>
      </p:pic>
      <p:pic>
        <p:nvPicPr>
          <p:cNvPr id="29" name="Picture 28">
            <a:extLst>
              <a:ext uri="{FF2B5EF4-FFF2-40B4-BE49-F238E27FC236}">
                <a16:creationId xmlns:a16="http://schemas.microsoft.com/office/drawing/2014/main" id="{9F25544E-5719-238D-62FB-0EE074AD01B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456" y="4227080"/>
            <a:ext cx="705563" cy="671819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D47F81D0-F32C-BC0B-3BD4-BCA6488427A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52" y="4297509"/>
            <a:ext cx="705563" cy="671819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6889AA8D-8760-9E53-089C-964630542B8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504" y="4297508"/>
            <a:ext cx="705563" cy="671819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B4985C1A-833A-A7A1-1A6A-E7156EA8BF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981" y="4288421"/>
            <a:ext cx="705563" cy="671819"/>
          </a:xfrm>
          <a:prstGeom prst="rect">
            <a:avLst/>
          </a:prstGeom>
        </p:spPr>
      </p:pic>
      <p:sp>
        <p:nvSpPr>
          <p:cNvPr id="33" name="Rectangle 32">
            <a:extLst>
              <a:ext uri="{FF2B5EF4-FFF2-40B4-BE49-F238E27FC236}">
                <a16:creationId xmlns:a16="http://schemas.microsoft.com/office/drawing/2014/main" id="{6A4D40F8-CDD7-4C94-049B-57BEF47EB9C8}"/>
              </a:ext>
            </a:extLst>
          </p:cNvPr>
          <p:cNvSpPr/>
          <p:nvPr/>
        </p:nvSpPr>
        <p:spPr>
          <a:xfrm>
            <a:off x="154379" y="1769422"/>
            <a:ext cx="3108805" cy="3623465"/>
          </a:xfrm>
          <a:prstGeom prst="rect">
            <a:avLst/>
          </a:prstGeom>
          <a:solidFill>
            <a:srgbClr val="00BBD3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C9393FB5-3A21-F695-8538-F6F09DA7BAA8}"/>
              </a:ext>
            </a:extLst>
          </p:cNvPr>
          <p:cNvSpPr txBox="1"/>
          <p:nvPr/>
        </p:nvSpPr>
        <p:spPr>
          <a:xfrm>
            <a:off x="131567" y="1374669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B6B99114-A4A6-6B6E-59C6-53FDEC0C0E2E}"/>
              </a:ext>
            </a:extLst>
          </p:cNvPr>
          <p:cNvSpPr txBox="1"/>
          <p:nvPr/>
        </p:nvSpPr>
        <p:spPr>
          <a:xfrm>
            <a:off x="3005653" y="5504970"/>
            <a:ext cx="673934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rgbClr val="C00000"/>
                </a:solidFill>
              </a:rPr>
              <a:t>Here we don’t use Label Data to train Classifier(</a:t>
            </a:r>
            <a:r>
              <a:rPr lang="en-US" dirty="0"/>
              <a:t>Unsupervised Learning</a:t>
            </a:r>
            <a:r>
              <a:rPr lang="en-US" dirty="0">
                <a:solidFill>
                  <a:srgbClr val="C00000"/>
                </a:solidFill>
              </a:rPr>
              <a:t>) </a:t>
            </a: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82B3D222-4D50-6B7F-9B91-258F22EA9C3E}"/>
              </a:ext>
            </a:extLst>
          </p:cNvPr>
          <p:cNvSpPr txBox="1"/>
          <p:nvPr/>
        </p:nvSpPr>
        <p:spPr>
          <a:xfrm>
            <a:off x="450877" y="5840879"/>
            <a:ext cx="967838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1"/>
            <a:r>
              <a:rPr lang="en-US" dirty="0"/>
              <a:t>Finding </a:t>
            </a:r>
            <a:r>
              <a:rPr lang="en-US" dirty="0">
                <a:solidFill>
                  <a:srgbClr val="C00000"/>
                </a:solidFill>
              </a:rPr>
              <a:t>similarities between data </a:t>
            </a:r>
            <a:r>
              <a:rPr lang="en-US" dirty="0"/>
              <a:t>according to the </a:t>
            </a:r>
            <a:r>
              <a:rPr lang="en-US" dirty="0">
                <a:solidFill>
                  <a:srgbClr val="C00000"/>
                </a:solidFill>
              </a:rPr>
              <a:t>characteristics found in the data </a:t>
            </a:r>
            <a:r>
              <a:rPr lang="en-US" dirty="0"/>
              <a:t>and grouping similar data </a:t>
            </a:r>
            <a:r>
              <a:rPr lang="en-US" dirty="0">
                <a:solidFill>
                  <a:srgbClr val="C00000"/>
                </a:solidFill>
              </a:rPr>
              <a:t>objects</a:t>
            </a:r>
            <a:r>
              <a:rPr lang="en-US" dirty="0"/>
              <a:t> into </a:t>
            </a:r>
            <a:r>
              <a:rPr lang="en-US" dirty="0">
                <a:solidFill>
                  <a:srgbClr val="C00000"/>
                </a:solidFill>
              </a:rPr>
              <a:t>clusters</a:t>
            </a:r>
          </a:p>
        </p:txBody>
      </p:sp>
    </p:spTree>
    <p:extLst>
      <p:ext uri="{BB962C8B-B14F-4D97-AF65-F5344CB8AC3E}">
        <p14:creationId xmlns:p14="http://schemas.microsoft.com/office/powerpoint/2010/main" val="31006269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>
                      <p:stCondLst>
                        <p:cond delay="indefinite"/>
                      </p:stCondLst>
                      <p:childTnLst>
                        <p:par>
                          <p:cTn id="100" fill="hold">
                            <p:stCondLst>
                              <p:cond delay="0"/>
                            </p:stCondLst>
                            <p:childTnLst>
                              <p:par>
                                <p:cTn id="10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>
                      <p:stCondLst>
                        <p:cond delay="indefinite"/>
                      </p:stCondLst>
                      <p:childTnLst>
                        <p:par>
                          <p:cTn id="104" fill="hold">
                            <p:stCondLst>
                              <p:cond delay="0"/>
                            </p:stCondLst>
                            <p:childTnLst>
                              <p:par>
                                <p:cTn id="10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>
                      <p:stCondLst>
                        <p:cond delay="indefinite"/>
                      </p:stCondLst>
                      <p:childTnLst>
                        <p:par>
                          <p:cTn id="108" fill="hold">
                            <p:stCondLst>
                              <p:cond delay="0"/>
                            </p:stCondLst>
                            <p:childTnLst>
                              <p:par>
                                <p:cTn id="10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33" grpId="0" animBg="1"/>
      <p:bldP spid="34" grpId="0"/>
      <p:bldP spid="35" grpId="0"/>
      <p:bldP spid="35" grpId="1"/>
      <p:bldP spid="3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B26DE-A2BB-C6F5-9222-998CF0E2A4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600" dirty="0">
                <a:solidFill>
                  <a:schemeClr val="tx1"/>
                </a:solidFill>
              </a:rPr>
              <a:t>Unsupervised Learning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E7B926E-B6DE-E0BF-593E-CD2E86DE36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latin typeface="+mj-lt"/>
              </a:rPr>
              <a:t>Also called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descriptive learning</a:t>
            </a:r>
            <a:r>
              <a:rPr lang="en-US" dirty="0">
                <a:latin typeface="+mj-lt"/>
              </a:rPr>
              <a:t>. A machine finds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patterns</a:t>
            </a:r>
            <a:r>
              <a:rPr lang="en-US" dirty="0">
                <a:latin typeface="+mj-lt"/>
              </a:rPr>
              <a:t> in unknown objects by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grouping similar objects together.</a:t>
            </a:r>
          </a:p>
          <a:p>
            <a:r>
              <a:rPr lang="en-US" dirty="0">
                <a:latin typeface="+mj-lt"/>
              </a:rPr>
              <a:t>In unsupervised learning, the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objective is to take a dataset as input </a:t>
            </a:r>
            <a:r>
              <a:rPr lang="en-US" dirty="0">
                <a:latin typeface="+mj-lt"/>
              </a:rPr>
              <a:t>and try to find natural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groupings or patterns within the data elements or records</a:t>
            </a:r>
            <a:r>
              <a:rPr lang="en-US" dirty="0">
                <a:latin typeface="+mj-lt"/>
              </a:rPr>
              <a:t>. </a:t>
            </a:r>
          </a:p>
          <a:p>
            <a:r>
              <a:rPr lang="en-US" dirty="0">
                <a:latin typeface="+mj-lt"/>
              </a:rPr>
              <a:t>Therefore,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unsupervised learning is often termed as descriptive model </a:t>
            </a:r>
            <a:r>
              <a:rPr lang="en-US" dirty="0">
                <a:latin typeface="+mj-lt"/>
              </a:rPr>
              <a:t>and the process of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unsupervised learning is referred as pattern discovery or knowledge discovery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>
                <a:latin typeface="+mj-lt"/>
              </a:rPr>
              <a:t>One critical application of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unsupervised learning is customer segmentation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>
                <a:solidFill>
                  <a:srgbClr val="C00000"/>
                </a:solidFill>
                <a:latin typeface="+mj-lt"/>
              </a:rPr>
              <a:t>Clustering</a:t>
            </a:r>
            <a:r>
              <a:rPr lang="en-US" dirty="0">
                <a:latin typeface="+mj-lt"/>
              </a:rPr>
              <a:t> is the main type of unsupervised learning. It intends to group or organize similar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objects together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US" dirty="0">
                <a:latin typeface="+mj-lt"/>
              </a:rPr>
              <a:t>For that reason,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objects belonging to the same cluster are quite</a:t>
            </a:r>
            <a:r>
              <a:rPr lang="en-US" dirty="0">
                <a:latin typeface="+mj-lt"/>
              </a:rPr>
              <a:t> similar to each other while objects belonging to </a:t>
            </a:r>
            <a:r>
              <a:rPr lang="en-US" dirty="0">
                <a:solidFill>
                  <a:srgbClr val="C00000"/>
                </a:solidFill>
                <a:latin typeface="+mj-lt"/>
              </a:rPr>
              <a:t>different clusters are quite dissimilar</a:t>
            </a:r>
            <a:r>
              <a:rPr lang="en-US" dirty="0">
                <a:latin typeface="+mj-lt"/>
              </a:rPr>
              <a:t>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Clustering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Dimensionality Reduction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Density Estimation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j-lt"/>
              </a:rPr>
              <a:t>,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+mj-lt"/>
              </a:rPr>
              <a:t>Association Rule Learning</a:t>
            </a:r>
            <a:r>
              <a:rPr lang="en-US" b="0" i="0" u="none" strike="noStrike" dirty="0">
                <a:solidFill>
                  <a:srgbClr val="000000"/>
                </a:solidFill>
                <a:effectLst/>
                <a:latin typeface="+mj-lt"/>
              </a:rPr>
              <a:t> are the type of </a:t>
            </a:r>
            <a:r>
              <a:rPr lang="en-US" dirty="0">
                <a:solidFill>
                  <a:srgbClr val="000000"/>
                </a:solidFill>
                <a:latin typeface="+mj-lt"/>
              </a:rPr>
              <a:t>unsupervised learning.</a:t>
            </a:r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  <a:p>
            <a:endParaRPr 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1174014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A0E6B2-B8DE-F2A7-8477-6196DE235E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D10AAC6E-C2D8-7758-D151-849548A4D01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90" y="1773504"/>
            <a:ext cx="817995" cy="722538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70FE51E-2E43-17DD-54DC-DB8C0F6B5DA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5734" y="1773504"/>
            <a:ext cx="705563" cy="67181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6757889-59E5-12EC-D3AE-691F5732F58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968" y="1773504"/>
            <a:ext cx="966051" cy="717956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7953B805-BF09-14D5-3954-64E815EFE6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90" y="2654142"/>
            <a:ext cx="817995" cy="722538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6E6ADE2-A478-2974-FF3D-8086D0A52AE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55968" y="2654142"/>
            <a:ext cx="966051" cy="71795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C545EF7A-535C-8827-A962-410C2D734E86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45489" y="2654142"/>
            <a:ext cx="966051" cy="717956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A352B9BE-5F8B-8488-3710-152F889B63A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8990" y="3534780"/>
            <a:ext cx="966051" cy="717956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928EA15-BDAD-5DF1-C923-5C865C3635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29995" y="3530198"/>
            <a:ext cx="817995" cy="722538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BF8125A2-92F8-44F3-5080-6CDB9313E95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9516" y="3530198"/>
            <a:ext cx="817995" cy="722538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7E810AE1-C559-16B6-87AE-3185044F5C2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33" y="4410836"/>
            <a:ext cx="705563" cy="67181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9F10C17-1A39-3693-2A7B-CC04199A98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86210" y="4410835"/>
            <a:ext cx="705563" cy="671819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88D67465-7021-B072-AB89-AC7B7F1EBDA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3187" y="4401748"/>
            <a:ext cx="705563" cy="671819"/>
          </a:xfrm>
          <a:prstGeom prst="rect">
            <a:avLst/>
          </a:prstGeom>
        </p:spPr>
      </p:pic>
      <p:sp>
        <p:nvSpPr>
          <p:cNvPr id="16" name="Rectangle 15">
            <a:extLst>
              <a:ext uri="{FF2B5EF4-FFF2-40B4-BE49-F238E27FC236}">
                <a16:creationId xmlns:a16="http://schemas.microsoft.com/office/drawing/2014/main" id="{AE272DCD-4A80-EB4D-2869-7D839E155FB7}"/>
              </a:ext>
            </a:extLst>
          </p:cNvPr>
          <p:cNvSpPr/>
          <p:nvPr/>
        </p:nvSpPr>
        <p:spPr>
          <a:xfrm>
            <a:off x="402735" y="1610822"/>
            <a:ext cx="3108805" cy="3629910"/>
          </a:xfrm>
          <a:prstGeom prst="rect">
            <a:avLst/>
          </a:prstGeom>
          <a:solidFill>
            <a:srgbClr val="00BBD3">
              <a:alpha val="0"/>
            </a:srgbClr>
          </a:solidFill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1DAEBEE-769C-48C0-212C-24FFF32A93AF}"/>
              </a:ext>
            </a:extLst>
          </p:cNvPr>
          <p:cNvSpPr txBox="1"/>
          <p:nvPr/>
        </p:nvSpPr>
        <p:spPr>
          <a:xfrm>
            <a:off x="379923" y="1222514"/>
            <a:ext cx="11240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Input Data</a:t>
            </a:r>
          </a:p>
        </p:txBody>
      </p:sp>
      <p:sp>
        <p:nvSpPr>
          <p:cNvPr id="18" name="Rounded Rectangle 17">
            <a:extLst>
              <a:ext uri="{FF2B5EF4-FFF2-40B4-BE49-F238E27FC236}">
                <a16:creationId xmlns:a16="http://schemas.microsoft.com/office/drawing/2014/main" id="{3EC7D845-C51D-3A6A-24D7-8A9EA9198569}"/>
              </a:ext>
            </a:extLst>
          </p:cNvPr>
          <p:cNvSpPr/>
          <p:nvPr/>
        </p:nvSpPr>
        <p:spPr>
          <a:xfrm>
            <a:off x="5170311" y="1591846"/>
            <a:ext cx="2302933" cy="67181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Environment</a:t>
            </a:r>
          </a:p>
        </p:txBody>
      </p:sp>
      <p:sp>
        <p:nvSpPr>
          <p:cNvPr id="19" name="Rounded Rectangle 18">
            <a:extLst>
              <a:ext uri="{FF2B5EF4-FFF2-40B4-BE49-F238E27FC236}">
                <a16:creationId xmlns:a16="http://schemas.microsoft.com/office/drawing/2014/main" id="{24474934-9189-3CF0-62E8-13FBA32093EA}"/>
              </a:ext>
            </a:extLst>
          </p:cNvPr>
          <p:cNvSpPr/>
          <p:nvPr/>
        </p:nvSpPr>
        <p:spPr>
          <a:xfrm>
            <a:off x="5170311" y="4229177"/>
            <a:ext cx="2302933" cy="671819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Agent</a:t>
            </a:r>
          </a:p>
        </p:txBody>
      </p:sp>
      <p:cxnSp>
        <p:nvCxnSpPr>
          <p:cNvPr id="32" name="Elbow Connector 31">
            <a:extLst>
              <a:ext uri="{FF2B5EF4-FFF2-40B4-BE49-F238E27FC236}">
                <a16:creationId xmlns:a16="http://schemas.microsoft.com/office/drawing/2014/main" id="{C4643CB8-13C4-F78D-2D8F-E5510D849B0A}"/>
              </a:ext>
            </a:extLst>
          </p:cNvPr>
          <p:cNvCxnSpPr>
            <a:cxnSpLocks/>
            <a:stCxn id="19" idx="3"/>
            <a:endCxn id="18" idx="3"/>
          </p:cNvCxnSpPr>
          <p:nvPr/>
        </p:nvCxnSpPr>
        <p:spPr>
          <a:xfrm flipV="1">
            <a:off x="7473244" y="1927756"/>
            <a:ext cx="12700" cy="2637331"/>
          </a:xfrm>
          <a:prstGeom prst="bentConnector3">
            <a:avLst>
              <a:gd name="adj1" fmla="val 340000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Elbow Connector 39">
            <a:extLst>
              <a:ext uri="{FF2B5EF4-FFF2-40B4-BE49-F238E27FC236}">
                <a16:creationId xmlns:a16="http://schemas.microsoft.com/office/drawing/2014/main" id="{3BE0978E-6814-150B-C0EE-21EADD7ECD67}"/>
              </a:ext>
            </a:extLst>
          </p:cNvPr>
          <p:cNvCxnSpPr>
            <a:cxnSpLocks/>
            <a:stCxn id="18" idx="1"/>
            <a:endCxn id="19" idx="1"/>
          </p:cNvCxnSpPr>
          <p:nvPr/>
        </p:nvCxnSpPr>
        <p:spPr>
          <a:xfrm rot="10800000" flipV="1">
            <a:off x="5170311" y="1927755"/>
            <a:ext cx="12700" cy="2637331"/>
          </a:xfrm>
          <a:prstGeom prst="bentConnector3">
            <a:avLst>
              <a:gd name="adj1" fmla="val 4644441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TextBox 41">
            <a:extLst>
              <a:ext uri="{FF2B5EF4-FFF2-40B4-BE49-F238E27FC236}">
                <a16:creationId xmlns:a16="http://schemas.microsoft.com/office/drawing/2014/main" id="{6416DC38-E0AB-1F8F-CA5A-712E274E4D0E}"/>
              </a:ext>
            </a:extLst>
          </p:cNvPr>
          <p:cNvSpPr txBox="1"/>
          <p:nvPr/>
        </p:nvSpPr>
        <p:spPr>
          <a:xfrm>
            <a:off x="4795015" y="5025146"/>
            <a:ext cx="29738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Reinforcement Learning Model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AB987204-3285-B576-0799-55CA972C5106}"/>
              </a:ext>
            </a:extLst>
          </p:cNvPr>
          <p:cNvSpPr txBox="1"/>
          <p:nvPr/>
        </p:nvSpPr>
        <p:spPr>
          <a:xfrm>
            <a:off x="5038831" y="2469405"/>
            <a:ext cx="8595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Reward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113BF6BA-C9AF-1BF0-C019-930129451D4D}"/>
              </a:ext>
            </a:extLst>
          </p:cNvPr>
          <p:cNvSpPr txBox="1"/>
          <p:nvPr/>
        </p:nvSpPr>
        <p:spPr>
          <a:xfrm>
            <a:off x="5038831" y="3517245"/>
            <a:ext cx="6607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5">
                    <a:lumMod val="75000"/>
                  </a:schemeClr>
                </a:solidFill>
              </a:rPr>
              <a:t>State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4F42CC10-2729-82BA-342C-A613F0CBE08C}"/>
              </a:ext>
            </a:extLst>
          </p:cNvPr>
          <p:cNvSpPr txBox="1"/>
          <p:nvPr/>
        </p:nvSpPr>
        <p:spPr>
          <a:xfrm>
            <a:off x="6726519" y="2436874"/>
            <a:ext cx="77457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Best </a:t>
            </a:r>
          </a:p>
          <a:p>
            <a:r>
              <a:rPr lang="en-US" dirty="0">
                <a:solidFill>
                  <a:schemeClr val="accent3">
                    <a:lumMod val="75000"/>
                  </a:schemeClr>
                </a:solidFill>
              </a:rPr>
              <a:t>Action</a:t>
            </a:r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5899491B-FBCD-BDB3-28D3-6F260192B560}"/>
              </a:ext>
            </a:extLst>
          </p:cNvPr>
          <p:cNvSpPr txBox="1"/>
          <p:nvPr/>
        </p:nvSpPr>
        <p:spPr>
          <a:xfrm>
            <a:off x="6572441" y="3481387"/>
            <a:ext cx="1029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Algo </a:t>
            </a:r>
          </a:p>
          <a:p>
            <a:r>
              <a:rPr lang="en-US" dirty="0">
                <a:solidFill>
                  <a:schemeClr val="tx2">
                    <a:lumMod val="75000"/>
                  </a:schemeClr>
                </a:solidFill>
              </a:rPr>
              <a:t>Selection</a:t>
            </a:r>
          </a:p>
        </p:txBody>
      </p: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8C7EDF1E-BB39-F9F6-2307-241D8888D327}"/>
              </a:ext>
            </a:extLst>
          </p:cNvPr>
          <p:cNvCxnSpPr>
            <a:cxnSpLocks/>
          </p:cNvCxnSpPr>
          <p:nvPr/>
        </p:nvCxnSpPr>
        <p:spPr>
          <a:xfrm>
            <a:off x="3511540" y="3372098"/>
            <a:ext cx="1037882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86D89191-2608-6EED-225E-FC05649EDF7A}"/>
              </a:ext>
            </a:extLst>
          </p:cNvPr>
          <p:cNvCxnSpPr>
            <a:cxnSpLocks/>
          </p:cNvCxnSpPr>
          <p:nvPr/>
        </p:nvCxnSpPr>
        <p:spPr>
          <a:xfrm flipV="1">
            <a:off x="7940542" y="2524118"/>
            <a:ext cx="473560" cy="98678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>
            <a:extLst>
              <a:ext uri="{FF2B5EF4-FFF2-40B4-BE49-F238E27FC236}">
                <a16:creationId xmlns:a16="http://schemas.microsoft.com/office/drawing/2014/main" id="{37913ED5-1313-FE13-5C6F-E13D43F9BC30}"/>
              </a:ext>
            </a:extLst>
          </p:cNvPr>
          <p:cNvCxnSpPr>
            <a:cxnSpLocks/>
          </p:cNvCxnSpPr>
          <p:nvPr/>
        </p:nvCxnSpPr>
        <p:spPr>
          <a:xfrm>
            <a:off x="7940542" y="3510902"/>
            <a:ext cx="543821" cy="8357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>
            <a:extLst>
              <a:ext uri="{FF2B5EF4-FFF2-40B4-BE49-F238E27FC236}">
                <a16:creationId xmlns:a16="http://schemas.microsoft.com/office/drawing/2014/main" id="{A3E45366-F3C0-7D61-7E57-8CAFE98FABCF}"/>
              </a:ext>
            </a:extLst>
          </p:cNvPr>
          <p:cNvCxnSpPr>
            <a:cxnSpLocks/>
          </p:cNvCxnSpPr>
          <p:nvPr/>
        </p:nvCxnSpPr>
        <p:spPr>
          <a:xfrm>
            <a:off x="7940542" y="3510902"/>
            <a:ext cx="432004" cy="1081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54" name="Picture 53">
            <a:extLst>
              <a:ext uri="{FF2B5EF4-FFF2-40B4-BE49-F238E27FC236}">
                <a16:creationId xmlns:a16="http://schemas.microsoft.com/office/drawing/2014/main" id="{95DF47BC-B37B-894A-2A33-96E781DEB29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49833" y="2083759"/>
            <a:ext cx="817995" cy="722538"/>
          </a:xfrm>
          <a:prstGeom prst="rect">
            <a:avLst/>
          </a:prstGeom>
        </p:spPr>
      </p:pic>
      <p:pic>
        <p:nvPicPr>
          <p:cNvPr id="55" name="Picture 54">
            <a:extLst>
              <a:ext uri="{FF2B5EF4-FFF2-40B4-BE49-F238E27FC236}">
                <a16:creationId xmlns:a16="http://schemas.microsoft.com/office/drawing/2014/main" id="{7925480D-A2B8-3B11-7D63-F18702FF1EC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1168" y="2037547"/>
            <a:ext cx="817995" cy="722538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C7A65EED-0A4C-5E41-9EA3-9CD1F77D0B6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93320" y="2006496"/>
            <a:ext cx="817995" cy="722538"/>
          </a:xfrm>
          <a:prstGeom prst="rect">
            <a:avLst/>
          </a:prstGeom>
        </p:spPr>
      </p:pic>
      <p:pic>
        <p:nvPicPr>
          <p:cNvPr id="57" name="Picture 56">
            <a:extLst>
              <a:ext uri="{FF2B5EF4-FFF2-40B4-BE49-F238E27FC236}">
                <a16:creationId xmlns:a16="http://schemas.microsoft.com/office/drawing/2014/main" id="{FD4DE76F-9B27-66A3-EF52-D48032912C2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263" y="2037547"/>
            <a:ext cx="817995" cy="722538"/>
          </a:xfrm>
          <a:prstGeom prst="rect">
            <a:avLst/>
          </a:prstGeom>
        </p:spPr>
      </p:pic>
      <p:pic>
        <p:nvPicPr>
          <p:cNvPr id="58" name="Picture 57">
            <a:extLst>
              <a:ext uri="{FF2B5EF4-FFF2-40B4-BE49-F238E27FC236}">
                <a16:creationId xmlns:a16="http://schemas.microsoft.com/office/drawing/2014/main" id="{09E8AE9D-C47C-6F15-619C-5D7C189FFC8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75806" y="3205985"/>
            <a:ext cx="966051" cy="717956"/>
          </a:xfrm>
          <a:prstGeom prst="rect">
            <a:avLst/>
          </a:prstGeom>
        </p:spPr>
      </p:pic>
      <p:pic>
        <p:nvPicPr>
          <p:cNvPr id="59" name="Picture 58">
            <a:extLst>
              <a:ext uri="{FF2B5EF4-FFF2-40B4-BE49-F238E27FC236}">
                <a16:creationId xmlns:a16="http://schemas.microsoft.com/office/drawing/2014/main" id="{CCA17324-6D7C-93F2-425D-1D3DC30D123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41857" y="3165275"/>
            <a:ext cx="966051" cy="717956"/>
          </a:xfrm>
          <a:prstGeom prst="rect">
            <a:avLst/>
          </a:prstGeom>
        </p:spPr>
      </p:pic>
      <p:pic>
        <p:nvPicPr>
          <p:cNvPr id="60" name="Picture 59">
            <a:extLst>
              <a:ext uri="{FF2B5EF4-FFF2-40B4-BE49-F238E27FC236}">
                <a16:creationId xmlns:a16="http://schemas.microsoft.com/office/drawing/2014/main" id="{72546CAC-9467-6348-F265-4E3814C21F2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19293" y="3165275"/>
            <a:ext cx="966051" cy="717956"/>
          </a:xfrm>
          <a:prstGeom prst="rect">
            <a:avLst/>
          </a:prstGeom>
        </p:spPr>
      </p:pic>
      <p:pic>
        <p:nvPicPr>
          <p:cNvPr id="61" name="Picture 60">
            <a:extLst>
              <a:ext uri="{FF2B5EF4-FFF2-40B4-BE49-F238E27FC236}">
                <a16:creationId xmlns:a16="http://schemas.microsoft.com/office/drawing/2014/main" id="{8C87EAE5-5025-F713-B5EE-D8D75C05F56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27456" y="4227080"/>
            <a:ext cx="705563" cy="671819"/>
          </a:xfrm>
          <a:prstGeom prst="rect">
            <a:avLst/>
          </a:prstGeom>
        </p:spPr>
      </p:pic>
      <p:pic>
        <p:nvPicPr>
          <p:cNvPr id="62" name="Picture 61">
            <a:extLst>
              <a:ext uri="{FF2B5EF4-FFF2-40B4-BE49-F238E27FC236}">
                <a16:creationId xmlns:a16="http://schemas.microsoft.com/office/drawing/2014/main" id="{1F9F9607-D940-D6EA-B2E8-FC839E1AC26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5652" y="4297509"/>
            <a:ext cx="705563" cy="671819"/>
          </a:xfrm>
          <a:prstGeom prst="rect">
            <a:avLst/>
          </a:prstGeom>
        </p:spPr>
      </p:pic>
      <p:pic>
        <p:nvPicPr>
          <p:cNvPr id="63" name="Picture 62">
            <a:extLst>
              <a:ext uri="{FF2B5EF4-FFF2-40B4-BE49-F238E27FC236}">
                <a16:creationId xmlns:a16="http://schemas.microsoft.com/office/drawing/2014/main" id="{6CFA2E24-C078-8F8E-6E79-E7B963CC56C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444504" y="4297508"/>
            <a:ext cx="705563" cy="671819"/>
          </a:xfrm>
          <a:prstGeom prst="rect">
            <a:avLst/>
          </a:prstGeom>
        </p:spPr>
      </p:pic>
      <p:pic>
        <p:nvPicPr>
          <p:cNvPr id="64" name="Picture 63">
            <a:extLst>
              <a:ext uri="{FF2B5EF4-FFF2-40B4-BE49-F238E27FC236}">
                <a16:creationId xmlns:a16="http://schemas.microsoft.com/office/drawing/2014/main" id="{BD88D88C-DC29-E5B1-5327-BEEAB35439B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383981" y="4288421"/>
            <a:ext cx="705563" cy="671819"/>
          </a:xfrm>
          <a:prstGeom prst="rect">
            <a:avLst/>
          </a:prstGeom>
        </p:spPr>
      </p:pic>
      <p:pic>
        <p:nvPicPr>
          <p:cNvPr id="77" name="Picture 76">
            <a:extLst>
              <a:ext uri="{FF2B5EF4-FFF2-40B4-BE49-F238E27FC236}">
                <a16:creationId xmlns:a16="http://schemas.microsoft.com/office/drawing/2014/main" id="{7E555A99-FBEB-884C-EF2F-7E259503390C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251263" y="3086596"/>
            <a:ext cx="966051" cy="7179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614199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7" grpId="0"/>
      <p:bldP spid="18" grpId="0" animBg="1"/>
      <p:bldP spid="19" grpId="0" animBg="1"/>
      <p:bldP spid="42" grpId="0"/>
      <p:bldP spid="43" grpId="0"/>
      <p:bldP spid="44" grpId="0"/>
      <p:bldP spid="45" grpId="0"/>
      <p:bldP spid="46" grpId="0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28A769F-B1B4-7355-AEFB-32EADE8039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D1DF717-7BA4-E7E2-9F4D-F270BC2DDC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It use </a:t>
            </a:r>
            <a:r>
              <a:rPr lang="en-US" dirty="0">
                <a:solidFill>
                  <a:srgbClr val="C00000"/>
                </a:solidFill>
              </a:rPr>
              <a:t>feedback </a:t>
            </a:r>
            <a:r>
              <a:rPr lang="en-US" dirty="0"/>
              <a:t>is called a </a:t>
            </a:r>
            <a:r>
              <a:rPr lang="en-US" dirty="0">
                <a:solidFill>
                  <a:srgbClr val="C00000"/>
                </a:solidFill>
              </a:rPr>
              <a:t>reward, or reinforcement</a:t>
            </a:r>
            <a:r>
              <a:rPr lang="en-US" dirty="0"/>
              <a:t>.</a:t>
            </a:r>
          </a:p>
          <a:p>
            <a:r>
              <a:rPr lang="en-US" dirty="0"/>
              <a:t>1) The </a:t>
            </a:r>
            <a:r>
              <a:rPr lang="en-US" dirty="0">
                <a:solidFill>
                  <a:srgbClr val="C00000"/>
                </a:solidFill>
              </a:rPr>
              <a:t>agent</a:t>
            </a:r>
            <a:r>
              <a:rPr lang="en-US" dirty="0"/>
              <a:t>(decision-maker) </a:t>
            </a:r>
            <a:r>
              <a:rPr lang="en-US" dirty="0">
                <a:solidFill>
                  <a:srgbClr val="C00000"/>
                </a:solidFill>
              </a:rPr>
              <a:t>observes the current state </a:t>
            </a:r>
            <a:r>
              <a:rPr lang="en-US" dirty="0"/>
              <a:t>of the environment(The system or scenario with which the agent interacts.).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2)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Based on the state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, the agent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chooses an action according to its policy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(The agent's strategy, mapping states to actions.).</a:t>
            </a:r>
          </a:p>
          <a:p>
            <a:r>
              <a:rPr lang="en-US" dirty="0"/>
              <a:t>3) The </a:t>
            </a:r>
            <a:r>
              <a:rPr lang="en-US" dirty="0">
                <a:solidFill>
                  <a:srgbClr val="C00000"/>
                </a:solidFill>
              </a:rPr>
              <a:t>environment responds to the action </a:t>
            </a:r>
            <a:r>
              <a:rPr lang="en-US" dirty="0"/>
              <a:t>by:</a:t>
            </a:r>
          </a:p>
          <a:p>
            <a:pPr lvl="1"/>
            <a:r>
              <a:rPr lang="en-US" dirty="0"/>
              <a:t>Transitioning to </a:t>
            </a:r>
            <a:r>
              <a:rPr lang="en-US" dirty="0">
                <a:solidFill>
                  <a:srgbClr val="C00000"/>
                </a:solidFill>
              </a:rPr>
              <a:t>a new state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Providing a reward</a:t>
            </a:r>
            <a:r>
              <a:rPr lang="en-US" dirty="0"/>
              <a:t>.</a:t>
            </a:r>
          </a:p>
          <a:p>
            <a:r>
              <a:rPr lang="en-US" dirty="0"/>
              <a:t>4) The agent </a:t>
            </a:r>
            <a:r>
              <a:rPr lang="en-US" dirty="0">
                <a:solidFill>
                  <a:srgbClr val="C00000"/>
                </a:solidFill>
              </a:rPr>
              <a:t>updates its policy using the feedback</a:t>
            </a:r>
            <a:r>
              <a:rPr lang="en-US" dirty="0"/>
              <a:t>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Steps 1–4 repeat, with the goal of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maximizing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total reward over time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.</a:t>
            </a:r>
          </a:p>
          <a:p>
            <a:r>
              <a:rPr lang="en-US" dirty="0"/>
              <a:t>Reinforcement learning is like </a:t>
            </a:r>
            <a:r>
              <a:rPr lang="en-US" dirty="0">
                <a:solidFill>
                  <a:srgbClr val="C00000"/>
                </a:solidFill>
              </a:rPr>
              <a:t>training a dog</a:t>
            </a:r>
            <a:r>
              <a:rPr lang="en-US" dirty="0"/>
              <a:t>, where </a:t>
            </a:r>
            <a:r>
              <a:rPr lang="en-US" dirty="0">
                <a:solidFill>
                  <a:srgbClr val="C00000"/>
                </a:solidFill>
              </a:rPr>
              <a:t>the agent (dog) learns to take actions based</a:t>
            </a:r>
            <a:r>
              <a:rPr lang="en-US" dirty="0"/>
              <a:t> on </a:t>
            </a:r>
            <a:r>
              <a:rPr lang="en-US" dirty="0">
                <a:solidFill>
                  <a:srgbClr val="C00000"/>
                </a:solidFill>
              </a:rPr>
              <a:t>rewards from interacting with its environme</a:t>
            </a:r>
            <a:r>
              <a:rPr lang="en-US" dirty="0"/>
              <a:t>nt.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The key components include the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agent (dog), environment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(surroundings),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state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(current situation),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action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(</a:t>
            </a:r>
            <a:r>
              <a:rPr lang="en-IN" b="0" i="0" u="none" strike="noStrike" dirty="0" err="1">
                <a:solidFill>
                  <a:srgbClr val="000000"/>
                </a:solidFill>
                <a:effectLst/>
              </a:rPr>
              <a:t>behavior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), and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reward</a:t>
            </a:r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 (feedback).</a:t>
            </a:r>
            <a:r>
              <a:rPr lang="en-US" dirty="0"/>
              <a:t> </a:t>
            </a:r>
          </a:p>
        </p:txBody>
      </p:sp>
    </p:spTree>
    <p:extLst>
      <p:ext uri="{BB962C8B-B14F-4D97-AF65-F5344CB8AC3E}">
        <p14:creationId xmlns:p14="http://schemas.microsoft.com/office/powerpoint/2010/main" val="7670675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B176A9E-50CD-70FA-9596-050D7188A3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Reinforcement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927764-2376-A054-5307-DB835EE370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2399045"/>
          </a:xfrm>
        </p:spPr>
        <p:txBody>
          <a:bodyPr/>
          <a:lstStyle/>
          <a:p>
            <a:r>
              <a:rPr lang="en-US" dirty="0"/>
              <a:t>The dog </a:t>
            </a:r>
            <a:r>
              <a:rPr lang="en-US" dirty="0">
                <a:solidFill>
                  <a:srgbClr val="C00000"/>
                </a:solidFill>
              </a:rPr>
              <a:t>learns through trial and error</a:t>
            </a:r>
            <a:r>
              <a:rPr lang="en-US" dirty="0"/>
              <a:t>, associating positive </a:t>
            </a:r>
            <a:r>
              <a:rPr lang="en-US" dirty="0">
                <a:solidFill>
                  <a:srgbClr val="C00000"/>
                </a:solidFill>
              </a:rPr>
              <a:t>rewards like treats </a:t>
            </a:r>
            <a:r>
              <a:rPr lang="en-US" dirty="0"/>
              <a:t>with </a:t>
            </a:r>
            <a:r>
              <a:rPr lang="en-US" dirty="0">
                <a:solidFill>
                  <a:srgbClr val="C00000"/>
                </a:solidFill>
              </a:rPr>
              <a:t>correct actions</a:t>
            </a:r>
            <a:r>
              <a:rPr lang="en-US" dirty="0"/>
              <a:t> and negative </a:t>
            </a:r>
            <a:r>
              <a:rPr lang="en-US" dirty="0">
                <a:solidFill>
                  <a:srgbClr val="C00000"/>
                </a:solidFill>
              </a:rPr>
              <a:t>rewards with incorrect ones</a:t>
            </a:r>
            <a:r>
              <a:rPr lang="en-US" dirty="0"/>
              <a:t>.</a:t>
            </a:r>
          </a:p>
          <a:p>
            <a:r>
              <a:rPr lang="en-US" dirty="0"/>
              <a:t>Initially, the </a:t>
            </a:r>
            <a:r>
              <a:rPr lang="en-US" dirty="0">
                <a:solidFill>
                  <a:srgbClr val="C00000"/>
                </a:solidFill>
              </a:rPr>
              <a:t>dog explores various actions to identify what yields rewards</a:t>
            </a:r>
            <a:r>
              <a:rPr lang="en-US" dirty="0"/>
              <a:t>, then exploits this knowledge to </a:t>
            </a:r>
            <a:r>
              <a:rPr lang="en-US" dirty="0">
                <a:solidFill>
                  <a:srgbClr val="C00000"/>
                </a:solidFill>
              </a:rPr>
              <a:t>consistently perform rewarding actions</a:t>
            </a:r>
            <a:r>
              <a:rPr lang="en-US" dirty="0"/>
              <a:t>.</a:t>
            </a:r>
          </a:p>
          <a:p>
            <a:r>
              <a:rPr lang="en-US" dirty="0"/>
              <a:t>Concepts like </a:t>
            </a:r>
            <a:r>
              <a:rPr lang="en-US" dirty="0">
                <a:solidFill>
                  <a:srgbClr val="C00000"/>
                </a:solidFill>
              </a:rPr>
              <a:t>positive reinforcement </a:t>
            </a:r>
            <a:r>
              <a:rPr lang="en-US" dirty="0"/>
              <a:t>(rewarding good behavior) and shaping (rewarding gradual improvements) are </a:t>
            </a:r>
            <a:r>
              <a:rPr lang="en-US" dirty="0">
                <a:solidFill>
                  <a:srgbClr val="C00000"/>
                </a:solidFill>
              </a:rPr>
              <a:t>central to both dog training and reinforcement learning</a:t>
            </a:r>
            <a:r>
              <a:rPr lang="en-US" dirty="0"/>
              <a:t>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358274-A8B5-83A9-7995-86E7E86A2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94706" y="3262489"/>
            <a:ext cx="5581649" cy="195482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EEC30A02-D536-9FC7-4386-E2241CCE5F07}"/>
              </a:ext>
            </a:extLst>
          </p:cNvPr>
          <p:cNvSpPr txBox="1"/>
          <p:nvPr/>
        </p:nvSpPr>
        <p:spPr>
          <a:xfrm>
            <a:off x="2794706" y="5476868"/>
            <a:ext cx="6124222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100" dirty="0"/>
              <a:t>Ref: https://</a:t>
            </a:r>
            <a:r>
              <a:rPr lang="en-US" sz="1100" dirty="0" err="1"/>
              <a:t>databasetown.com</a:t>
            </a:r>
            <a:r>
              <a:rPr lang="en-US" sz="1100" dirty="0"/>
              <a:t>/basics-of-reinforcement-learning/</a:t>
            </a:r>
          </a:p>
        </p:txBody>
      </p:sp>
    </p:spTree>
    <p:extLst>
      <p:ext uri="{BB962C8B-B14F-4D97-AF65-F5344CB8AC3E}">
        <p14:creationId xmlns:p14="http://schemas.microsoft.com/office/powerpoint/2010/main" val="27846674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D7F9F1-C9D8-2C13-BFEC-1CFD87A19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Supervised vs. Unsupervised vs. </a:t>
            </a:r>
            <a:r>
              <a:rPr lang="en-US" sz="3600" dirty="0">
                <a:solidFill>
                  <a:schemeClr val="tx1"/>
                </a:solidFill>
              </a:rPr>
              <a:t>Reinforcement</a:t>
            </a:r>
            <a:endParaRPr lang="en-US" dirty="0"/>
          </a:p>
        </p:txBody>
      </p:sp>
      <p:graphicFrame>
        <p:nvGraphicFramePr>
          <p:cNvPr id="4" name="Content Placeholder 4">
            <a:extLst>
              <a:ext uri="{FF2B5EF4-FFF2-40B4-BE49-F238E27FC236}">
                <a16:creationId xmlns:a16="http://schemas.microsoft.com/office/drawing/2014/main" id="{237C20F3-6BF7-9879-58DB-AFF5DF4F0CE3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89395288"/>
              </p:ext>
            </p:extLst>
          </p:nvPr>
        </p:nvGraphicFramePr>
        <p:xfrm>
          <a:off x="227979" y="868680"/>
          <a:ext cx="10801265" cy="4163585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357435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4833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78577">
                  <a:extLst>
                    <a:ext uri="{9D8B030D-6E8A-4147-A177-3AD203B41FA5}">
                      <a16:colId xmlns:a16="http://schemas.microsoft.com/office/drawing/2014/main" val="2435134197"/>
                    </a:ext>
                  </a:extLst>
                </a:gridCol>
              </a:tblGrid>
              <a:tr h="326240"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Supervised Learning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Unsupervised Learning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dirty="0">
                          <a:solidFill>
                            <a:schemeClr val="tx1"/>
                          </a:solidFill>
                        </a:rPr>
                        <a:t>Reinforcement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Input data is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labeled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Input data is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unlabeled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Sequential interaction data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62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Has</a:t>
                      </a:r>
                      <a:r>
                        <a:rPr lang="en-US" sz="1800" dirty="0"/>
                        <a:t> a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feedback</a:t>
                      </a:r>
                      <a:r>
                        <a:rPr lang="en-US" sz="1800" dirty="0"/>
                        <a:t> mechanism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Has no feedback</a:t>
                      </a: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 mechanism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chemeClr val="tx1"/>
                          </a:solidFill>
                        </a:rPr>
                        <a:t>Reward signals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Data is classified based on</a:t>
                      </a:r>
                    </a:p>
                    <a:p>
                      <a:pPr algn="l"/>
                      <a:r>
                        <a:rPr lang="en-US" sz="1800" dirty="0"/>
                        <a:t>the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training dataset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Assigns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properties of given</a:t>
                      </a:r>
                    </a:p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data</a:t>
                      </a:r>
                      <a:r>
                        <a:rPr lang="en-US" sz="1800" b="0" dirty="0"/>
                        <a:t> to classify it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The model learn and updates itself through reward.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05985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Divided into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Regression</a:t>
                      </a:r>
                    </a:p>
                    <a:p>
                      <a:pPr algn="l"/>
                      <a:r>
                        <a:rPr lang="en-US" sz="1800" dirty="0"/>
                        <a:t>&amp;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Classification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Divided into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Clustering</a:t>
                      </a:r>
                    </a:p>
                    <a:p>
                      <a:pPr algn="l"/>
                      <a:r>
                        <a:rPr lang="en-US" sz="1800" b="0" dirty="0"/>
                        <a:t>&amp;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Association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No Types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9134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Used for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prediction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Used for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analysis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Used for Maximize rewards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906223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Algorithms include: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decision</a:t>
                      </a:r>
                    </a:p>
                    <a:p>
                      <a:pPr algn="l"/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trees, logistic regressions,</a:t>
                      </a:r>
                    </a:p>
                    <a:p>
                      <a:pPr algn="l"/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support vector machine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Algorithms include: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k-means</a:t>
                      </a:r>
                    </a:p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clustering, hierarchical</a:t>
                      </a:r>
                    </a:p>
                    <a:p>
                      <a:pPr algn="l"/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clustering, </a:t>
                      </a:r>
                      <a:r>
                        <a:rPr lang="en-US" sz="1800" b="0" dirty="0" err="1">
                          <a:solidFill>
                            <a:srgbClr val="C00000"/>
                          </a:solidFill>
                        </a:rPr>
                        <a:t>apriori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 algorithm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sz="1800" b="0" dirty="0"/>
                        <a:t>Algorithms </a:t>
                      </a:r>
                      <a:r>
                        <a:rPr lang="en-US" sz="1800" b="0" dirty="0" err="1"/>
                        <a:t>include:</a:t>
                      </a:r>
                      <a:r>
                        <a:rPr lang="en-US" sz="1800" b="0" dirty="0" err="1">
                          <a:solidFill>
                            <a:srgbClr val="C00000"/>
                          </a:solidFill>
                        </a:rPr>
                        <a:t>Q-Learning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, </a:t>
                      </a:r>
                      <a:r>
                        <a:rPr lang="en-US" sz="1800" b="0" dirty="0" err="1">
                          <a:solidFill>
                            <a:srgbClr val="C00000"/>
                          </a:solidFill>
                        </a:rPr>
                        <a:t>Sarsa</a:t>
                      </a:r>
                      <a:endParaRPr lang="en-US" sz="1800" b="0" dirty="0">
                        <a:solidFill>
                          <a:srgbClr val="C00000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52757976"/>
                  </a:ext>
                </a:extLst>
              </a:tr>
              <a:tr h="326240">
                <a:tc>
                  <a:txBody>
                    <a:bodyPr/>
                    <a:lstStyle/>
                    <a:p>
                      <a:pPr algn="l"/>
                      <a:r>
                        <a:rPr lang="en-US" sz="1800" dirty="0"/>
                        <a:t>A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known</a:t>
                      </a:r>
                      <a:r>
                        <a:rPr lang="en-US" sz="1800" dirty="0"/>
                        <a:t> number of </a:t>
                      </a:r>
                      <a:r>
                        <a:rPr lang="en-US" sz="1800" dirty="0">
                          <a:solidFill>
                            <a:srgbClr val="C00000"/>
                          </a:solidFill>
                        </a:rPr>
                        <a:t>classes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unknown</a:t>
                      </a:r>
                      <a:r>
                        <a:rPr lang="en-US" sz="1800" b="0" dirty="0"/>
                        <a:t> number of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classes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800" b="0" dirty="0"/>
                        <a:t>A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unknown</a:t>
                      </a:r>
                      <a:r>
                        <a:rPr lang="en-US" sz="1800" b="0" dirty="0"/>
                        <a:t> number of </a:t>
                      </a:r>
                      <a:r>
                        <a:rPr lang="en-US" sz="1800" b="0" dirty="0">
                          <a:solidFill>
                            <a:srgbClr val="C00000"/>
                          </a:solidFill>
                        </a:rPr>
                        <a:t>classes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77747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71768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229E13-1600-80D4-439A-F03C6960B7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Type of Machine Learning Algorithms</a:t>
            </a:r>
          </a:p>
        </p:txBody>
      </p:sp>
      <p:sp>
        <p:nvSpPr>
          <p:cNvPr id="4" name="Rounded Rectangle 5">
            <a:extLst>
              <a:ext uri="{FF2B5EF4-FFF2-40B4-BE49-F238E27FC236}">
                <a16:creationId xmlns:a16="http://schemas.microsoft.com/office/drawing/2014/main" id="{920832A6-7941-0E70-F979-A5B90313964E}"/>
              </a:ext>
            </a:extLst>
          </p:cNvPr>
          <p:cNvSpPr/>
          <p:nvPr/>
        </p:nvSpPr>
        <p:spPr>
          <a:xfrm>
            <a:off x="4839032" y="915562"/>
            <a:ext cx="2191871" cy="1188720"/>
          </a:xfrm>
          <a:prstGeom prst="roundRect">
            <a:avLst/>
          </a:prstGeom>
          <a:solidFill>
            <a:schemeClr val="tx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bg1"/>
                </a:solidFill>
              </a:rPr>
              <a:t>Machine Learning </a:t>
            </a:r>
          </a:p>
        </p:txBody>
      </p:sp>
      <p:sp>
        <p:nvSpPr>
          <p:cNvPr id="5" name="Rounded Rectangle 6">
            <a:extLst>
              <a:ext uri="{FF2B5EF4-FFF2-40B4-BE49-F238E27FC236}">
                <a16:creationId xmlns:a16="http://schemas.microsoft.com/office/drawing/2014/main" id="{C2611983-F587-EA48-2457-7DF7ACB3FF10}"/>
              </a:ext>
            </a:extLst>
          </p:cNvPr>
          <p:cNvSpPr/>
          <p:nvPr/>
        </p:nvSpPr>
        <p:spPr>
          <a:xfrm>
            <a:off x="2203405" y="2802562"/>
            <a:ext cx="2191871" cy="1188720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Supervised Learning </a:t>
            </a:r>
          </a:p>
        </p:txBody>
      </p:sp>
      <p:sp>
        <p:nvSpPr>
          <p:cNvPr id="6" name="Rounded Rectangle 7">
            <a:extLst>
              <a:ext uri="{FF2B5EF4-FFF2-40B4-BE49-F238E27FC236}">
                <a16:creationId xmlns:a16="http://schemas.microsoft.com/office/drawing/2014/main" id="{91A71AEA-7420-9306-3302-38EBFE310ADA}"/>
              </a:ext>
            </a:extLst>
          </p:cNvPr>
          <p:cNvSpPr/>
          <p:nvPr/>
        </p:nvSpPr>
        <p:spPr>
          <a:xfrm>
            <a:off x="7474654" y="2827399"/>
            <a:ext cx="2191871" cy="1188720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>
                <a:solidFill>
                  <a:schemeClr val="tx1"/>
                </a:solidFill>
              </a:rPr>
              <a:t>Unsupervised Learning 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F6A44EA9-662B-C960-1AFB-00AEFD89EF7D}"/>
              </a:ext>
            </a:extLst>
          </p:cNvPr>
          <p:cNvCxnSpPr>
            <a:cxnSpLocks/>
            <a:stCxn id="4" idx="2"/>
          </p:cNvCxnSpPr>
          <p:nvPr/>
        </p:nvCxnSpPr>
        <p:spPr>
          <a:xfrm>
            <a:off x="5934968" y="2104282"/>
            <a:ext cx="0" cy="371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C0191DC-0896-CE77-50FA-432F46516412}"/>
              </a:ext>
            </a:extLst>
          </p:cNvPr>
          <p:cNvCxnSpPr>
            <a:cxnSpLocks/>
          </p:cNvCxnSpPr>
          <p:nvPr/>
        </p:nvCxnSpPr>
        <p:spPr>
          <a:xfrm>
            <a:off x="3299341" y="2475420"/>
            <a:ext cx="1" cy="3242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95A9E72B-76F3-5A4B-AAA8-8ECE1940999C}"/>
              </a:ext>
            </a:extLst>
          </p:cNvPr>
          <p:cNvCxnSpPr>
            <a:cxnSpLocks/>
          </p:cNvCxnSpPr>
          <p:nvPr/>
        </p:nvCxnSpPr>
        <p:spPr>
          <a:xfrm>
            <a:off x="8570591" y="2475420"/>
            <a:ext cx="0" cy="324224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7E74E6DD-E65A-B6FD-469B-4828DEAA9586}"/>
              </a:ext>
            </a:extLst>
          </p:cNvPr>
          <p:cNvCxnSpPr/>
          <p:nvPr/>
        </p:nvCxnSpPr>
        <p:spPr>
          <a:xfrm flipV="1">
            <a:off x="3299342" y="2475419"/>
            <a:ext cx="527124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Rounded Rectangle 21">
            <a:extLst>
              <a:ext uri="{FF2B5EF4-FFF2-40B4-BE49-F238E27FC236}">
                <a16:creationId xmlns:a16="http://schemas.microsoft.com/office/drawing/2014/main" id="{E0AD1ECB-08A3-D68C-D8C8-7EA204B8EC7F}"/>
              </a:ext>
            </a:extLst>
          </p:cNvPr>
          <p:cNvSpPr/>
          <p:nvPr/>
        </p:nvSpPr>
        <p:spPr>
          <a:xfrm>
            <a:off x="1241778" y="4955822"/>
            <a:ext cx="1524000" cy="9708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Classification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AA86A25A-A057-21A0-8C24-C685C3BAFD6F}"/>
              </a:ext>
            </a:extLst>
          </p:cNvPr>
          <p:cNvSpPr/>
          <p:nvPr/>
        </p:nvSpPr>
        <p:spPr>
          <a:xfrm>
            <a:off x="3633276" y="4955821"/>
            <a:ext cx="1524000" cy="970845"/>
          </a:xfrm>
          <a:prstGeom prst="round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>
                    <a:lumMod val="90000"/>
                    <a:lumOff val="10000"/>
                  </a:schemeClr>
                </a:solidFill>
              </a:rPr>
              <a:t>Regression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99CA3962-8E6B-C640-EFFE-FDC15041955C}"/>
              </a:ext>
            </a:extLst>
          </p:cNvPr>
          <p:cNvCxnSpPr>
            <a:cxnSpLocks/>
          </p:cNvCxnSpPr>
          <p:nvPr/>
        </p:nvCxnSpPr>
        <p:spPr>
          <a:xfrm>
            <a:off x="3299343" y="3995171"/>
            <a:ext cx="0" cy="371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161A5F8E-9E29-D794-8D53-9157078291AC}"/>
              </a:ext>
            </a:extLst>
          </p:cNvPr>
          <p:cNvCxnSpPr>
            <a:cxnSpLocks/>
          </p:cNvCxnSpPr>
          <p:nvPr/>
        </p:nvCxnSpPr>
        <p:spPr>
          <a:xfrm>
            <a:off x="2003779" y="4366308"/>
            <a:ext cx="0" cy="6484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03D98E5B-7F87-1A8A-75CA-24BF08C41172}"/>
              </a:ext>
            </a:extLst>
          </p:cNvPr>
          <p:cNvCxnSpPr>
            <a:cxnSpLocks/>
          </p:cNvCxnSpPr>
          <p:nvPr/>
        </p:nvCxnSpPr>
        <p:spPr>
          <a:xfrm>
            <a:off x="4395276" y="4366308"/>
            <a:ext cx="0" cy="5895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950BFB32-7F7E-748E-1A3F-B8A15F03F21F}"/>
              </a:ext>
            </a:extLst>
          </p:cNvPr>
          <p:cNvCxnSpPr>
            <a:cxnSpLocks/>
          </p:cNvCxnSpPr>
          <p:nvPr/>
        </p:nvCxnSpPr>
        <p:spPr>
          <a:xfrm>
            <a:off x="2003778" y="4366308"/>
            <a:ext cx="239149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289BFA88-6866-78FB-F758-A956A9DF1F02}"/>
              </a:ext>
            </a:extLst>
          </p:cNvPr>
          <p:cNvSpPr/>
          <p:nvPr/>
        </p:nvSpPr>
        <p:spPr>
          <a:xfrm>
            <a:off x="6513027" y="4971594"/>
            <a:ext cx="1524000" cy="9708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Clustering</a:t>
            </a:r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D1C4FA09-57AA-66AB-C4C7-E6419B0B7185}"/>
              </a:ext>
            </a:extLst>
          </p:cNvPr>
          <p:cNvSpPr/>
          <p:nvPr/>
        </p:nvSpPr>
        <p:spPr>
          <a:xfrm>
            <a:off x="8904525" y="4971593"/>
            <a:ext cx="1524000" cy="970845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Association</a:t>
            </a:r>
            <a:r>
              <a:rPr lang="en-US" dirty="0"/>
              <a:t> 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1FA53CE7-672C-5E11-FED6-30E8F9643080}"/>
              </a:ext>
            </a:extLst>
          </p:cNvPr>
          <p:cNvCxnSpPr>
            <a:cxnSpLocks/>
          </p:cNvCxnSpPr>
          <p:nvPr/>
        </p:nvCxnSpPr>
        <p:spPr>
          <a:xfrm>
            <a:off x="8570592" y="4010943"/>
            <a:ext cx="0" cy="371137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Straight Connector 38">
            <a:extLst>
              <a:ext uri="{FF2B5EF4-FFF2-40B4-BE49-F238E27FC236}">
                <a16:creationId xmlns:a16="http://schemas.microsoft.com/office/drawing/2014/main" id="{51AD4599-673E-1DF4-95AB-FD273ED89EBE}"/>
              </a:ext>
            </a:extLst>
          </p:cNvPr>
          <p:cNvCxnSpPr>
            <a:cxnSpLocks/>
          </p:cNvCxnSpPr>
          <p:nvPr/>
        </p:nvCxnSpPr>
        <p:spPr>
          <a:xfrm>
            <a:off x="7275028" y="4382080"/>
            <a:ext cx="0" cy="648449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>
            <a:extLst>
              <a:ext uri="{FF2B5EF4-FFF2-40B4-BE49-F238E27FC236}">
                <a16:creationId xmlns:a16="http://schemas.microsoft.com/office/drawing/2014/main" id="{A9F3A759-B74B-5186-C2F3-9F45E6E5DA40}"/>
              </a:ext>
            </a:extLst>
          </p:cNvPr>
          <p:cNvCxnSpPr>
            <a:cxnSpLocks/>
          </p:cNvCxnSpPr>
          <p:nvPr/>
        </p:nvCxnSpPr>
        <p:spPr>
          <a:xfrm>
            <a:off x="9666525" y="4382080"/>
            <a:ext cx="0" cy="589513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Connector 40">
            <a:extLst>
              <a:ext uri="{FF2B5EF4-FFF2-40B4-BE49-F238E27FC236}">
                <a16:creationId xmlns:a16="http://schemas.microsoft.com/office/drawing/2014/main" id="{E245346A-E71C-03A4-DFD7-E3BDE2AC9804}"/>
              </a:ext>
            </a:extLst>
          </p:cNvPr>
          <p:cNvCxnSpPr>
            <a:cxnSpLocks/>
          </p:cNvCxnSpPr>
          <p:nvPr/>
        </p:nvCxnSpPr>
        <p:spPr>
          <a:xfrm>
            <a:off x="7275027" y="4382080"/>
            <a:ext cx="2391498" cy="0"/>
          </a:xfrm>
          <a:prstGeom prst="line">
            <a:avLst/>
          </a:prstGeom>
          <a:ln w="190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715568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500"/>
                            </p:stCondLst>
                            <p:childTnLst>
                              <p:par>
                                <p:cTn id="2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1000"/>
                            </p:stCondLst>
                            <p:childTnLst>
                              <p:par>
                                <p:cTn id="2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4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5" grpId="0" animBg="1"/>
      <p:bldP spid="6" grpId="0" animBg="1"/>
      <p:bldP spid="22" grpId="0" animBg="1"/>
      <p:bldP spid="23" grpId="0" animBg="1"/>
      <p:bldP spid="36" grpId="0" animBg="1"/>
      <p:bldP spid="37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C1E92D-0626-5971-2C25-8E389333212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Regression </a:t>
            </a:r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B3FC554A-82AE-EA5E-8F76-0938892A6258}"/>
              </a:ext>
            </a:extLst>
          </p:cNvPr>
          <p:cNvCxnSpPr>
            <a:cxnSpLocks/>
            <a:stCxn id="2" idx="2"/>
          </p:cNvCxnSpPr>
          <p:nvPr/>
        </p:nvCxnSpPr>
        <p:spPr>
          <a:xfrm>
            <a:off x="6096000" y="711201"/>
            <a:ext cx="0" cy="59040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3" name="Graphic 12" descr="Office worker">
            <a:extLst>
              <a:ext uri="{FF2B5EF4-FFF2-40B4-BE49-F238E27FC236}">
                <a16:creationId xmlns:a16="http://schemas.microsoft.com/office/drawing/2014/main" id="{CE04403F-3F11-7150-84E9-9CB8805711C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1583403" y="4009102"/>
            <a:ext cx="2040191" cy="2040191"/>
          </a:xfrm>
          <a:prstGeom prst="rect">
            <a:avLst/>
          </a:prstGeom>
        </p:spPr>
      </p:pic>
      <p:pic>
        <p:nvPicPr>
          <p:cNvPr id="14" name="Graphic 13" descr="Office worker">
            <a:extLst>
              <a:ext uri="{FF2B5EF4-FFF2-40B4-BE49-F238E27FC236}">
                <a16:creationId xmlns:a16="http://schemas.microsoft.com/office/drawing/2014/main" id="{04C7185B-20ED-DD97-DC02-764DED9B037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xmlns="" r:embed="rId3"/>
              </a:ext>
            </a:extLst>
          </a:blip>
          <a:stretch>
            <a:fillRect/>
          </a:stretch>
        </p:blipFill>
        <p:spPr>
          <a:xfrm>
            <a:off x="8320190" y="4009103"/>
            <a:ext cx="2040191" cy="2040191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99DA4DCE-DE56-23E3-10B0-D6CBE2EF1FF4}"/>
              </a:ext>
            </a:extLst>
          </p:cNvPr>
          <p:cNvSpPr txBox="1"/>
          <p:nvPr/>
        </p:nvSpPr>
        <p:spPr>
          <a:xfrm>
            <a:off x="355737" y="1829569"/>
            <a:ext cx="415851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400" dirty="0"/>
              <a:t>What will be the </a:t>
            </a:r>
            <a:r>
              <a:rPr lang="en-US" sz="2400" b="1" dirty="0">
                <a:solidFill>
                  <a:srgbClr val="00B050"/>
                </a:solidFill>
              </a:rPr>
              <a:t>next increment</a:t>
            </a:r>
            <a:r>
              <a:rPr lang="en-US" sz="2400" dirty="0">
                <a:solidFill>
                  <a:srgbClr val="00B050"/>
                </a:solidFill>
              </a:rPr>
              <a:t>?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2A226E6-CA52-6773-C6BB-FDB9A724153A}"/>
              </a:ext>
            </a:extLst>
          </p:cNvPr>
          <p:cNvSpPr txBox="1"/>
          <p:nvPr/>
        </p:nvSpPr>
        <p:spPr>
          <a:xfrm>
            <a:off x="1845303" y="5812178"/>
            <a:ext cx="15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109612-8338-FF5C-4BC1-68365F127EED}"/>
              </a:ext>
            </a:extLst>
          </p:cNvPr>
          <p:cNvSpPr txBox="1"/>
          <p:nvPr/>
        </p:nvSpPr>
        <p:spPr>
          <a:xfrm>
            <a:off x="8631905" y="5812178"/>
            <a:ext cx="154375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dirty="0"/>
              <a:t>Employee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978E8BA-5D8D-D0C5-1BA8-322921F98C9C}"/>
              </a:ext>
            </a:extLst>
          </p:cNvPr>
          <p:cNvSpPr txBox="1"/>
          <p:nvPr/>
        </p:nvSpPr>
        <p:spPr>
          <a:xfrm>
            <a:off x="6395979" y="1783644"/>
            <a:ext cx="387690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/>
              <a:t>Is the employee "</a:t>
            </a:r>
            <a:r>
              <a:rPr lang="en-US" sz="2400" b="1" dirty="0">
                <a:solidFill>
                  <a:srgbClr val="00B050"/>
                </a:solidFill>
              </a:rPr>
              <a:t>eligible for promotion</a:t>
            </a:r>
            <a:r>
              <a:rPr lang="en-US" sz="2400" dirty="0"/>
              <a:t>" or "</a:t>
            </a:r>
            <a:r>
              <a:rPr lang="en-US" sz="2400" b="1" dirty="0">
                <a:solidFill>
                  <a:srgbClr val="C00000"/>
                </a:solidFill>
              </a:rPr>
              <a:t>not eligible</a:t>
            </a:r>
            <a:r>
              <a:rPr lang="en-US" sz="2400" dirty="0"/>
              <a:t>” ?</a:t>
            </a:r>
          </a:p>
        </p:txBody>
      </p:sp>
      <p:sp>
        <p:nvSpPr>
          <p:cNvPr id="21" name="Rectangular Callout 20">
            <a:extLst>
              <a:ext uri="{FF2B5EF4-FFF2-40B4-BE49-F238E27FC236}">
                <a16:creationId xmlns:a16="http://schemas.microsoft.com/office/drawing/2014/main" id="{6F06E41C-453D-DD69-5CAC-059A279E24CE}"/>
              </a:ext>
            </a:extLst>
          </p:cNvPr>
          <p:cNvSpPr/>
          <p:nvPr/>
        </p:nvSpPr>
        <p:spPr>
          <a:xfrm>
            <a:off x="355737" y="2488132"/>
            <a:ext cx="1687687" cy="665508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/>
              <a:t>3.9%</a:t>
            </a:r>
          </a:p>
        </p:txBody>
      </p:sp>
      <p:sp>
        <p:nvSpPr>
          <p:cNvPr id="22" name="Rectangular Callout 21">
            <a:extLst>
              <a:ext uri="{FF2B5EF4-FFF2-40B4-BE49-F238E27FC236}">
                <a16:creationId xmlns:a16="http://schemas.microsoft.com/office/drawing/2014/main" id="{4A426355-14B3-B271-15AE-E96F7D5228F5}"/>
              </a:ext>
            </a:extLst>
          </p:cNvPr>
          <p:cNvSpPr/>
          <p:nvPr/>
        </p:nvSpPr>
        <p:spPr>
          <a:xfrm>
            <a:off x="6520118" y="2782669"/>
            <a:ext cx="2003128" cy="646331"/>
          </a:xfrm>
          <a:prstGeom prst="wedgeRectCallou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4000" b="1" dirty="0">
                <a:solidFill>
                  <a:schemeClr val="bg1"/>
                </a:solidFill>
              </a:rPr>
              <a:t>Eligible</a:t>
            </a:r>
          </a:p>
        </p:txBody>
      </p:sp>
      <p:sp>
        <p:nvSpPr>
          <p:cNvPr id="23" name="Rounded Rectangle 22">
            <a:extLst>
              <a:ext uri="{FF2B5EF4-FFF2-40B4-BE49-F238E27FC236}">
                <a16:creationId xmlns:a16="http://schemas.microsoft.com/office/drawing/2014/main" id="{92E727A3-DA81-54A0-FFC0-51503B908B1F}"/>
              </a:ext>
            </a:extLst>
          </p:cNvPr>
          <p:cNvSpPr/>
          <p:nvPr/>
        </p:nvSpPr>
        <p:spPr>
          <a:xfrm>
            <a:off x="1656077" y="904416"/>
            <a:ext cx="1894841" cy="7112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Regression</a:t>
            </a:r>
          </a:p>
        </p:txBody>
      </p:sp>
      <p:sp>
        <p:nvSpPr>
          <p:cNvPr id="24" name="Rounded Rectangle 23">
            <a:extLst>
              <a:ext uri="{FF2B5EF4-FFF2-40B4-BE49-F238E27FC236}">
                <a16:creationId xmlns:a16="http://schemas.microsoft.com/office/drawing/2014/main" id="{E4881AAE-747E-4A06-93AE-8FA2671402A8}"/>
              </a:ext>
            </a:extLst>
          </p:cNvPr>
          <p:cNvSpPr/>
          <p:nvPr/>
        </p:nvSpPr>
        <p:spPr>
          <a:xfrm>
            <a:off x="8383690" y="904416"/>
            <a:ext cx="2040185" cy="711200"/>
          </a:xfrm>
          <a:prstGeom prst="roundRect">
            <a:avLst/>
          </a:prstGeom>
          <a:solidFill>
            <a:schemeClr val="tx2">
              <a:lumMod val="7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400" dirty="0"/>
              <a:t>Classification</a:t>
            </a:r>
          </a:p>
        </p:txBody>
      </p:sp>
    </p:spTree>
    <p:extLst>
      <p:ext uri="{BB962C8B-B14F-4D97-AF65-F5344CB8AC3E}">
        <p14:creationId xmlns:p14="http://schemas.microsoft.com/office/powerpoint/2010/main" val="35511272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/>
      <p:bldP spid="16" grpId="0"/>
      <p:bldP spid="17" grpId="0"/>
      <p:bldP spid="18" grpId="0"/>
      <p:bldP spid="21" grpId="0" animBg="1"/>
      <p:bldP spid="22" grpId="0" animBg="1"/>
      <p:bldP spid="23" grpId="0" animBg="1"/>
      <p:bldP spid="24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AA3E7D-E1F2-FDF1-0730-EB35A8C087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Classification and Regression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1DA917-40A3-E482-073C-5D07C239F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631400"/>
          </a:xfrm>
        </p:spPr>
        <p:txBody>
          <a:bodyPr/>
          <a:lstStyle/>
          <a:p>
            <a:r>
              <a:rPr lang="en-US" b="1" dirty="0">
                <a:solidFill>
                  <a:srgbClr val="C00000"/>
                </a:solidFill>
              </a:rPr>
              <a:t>Regression</a:t>
            </a:r>
            <a:r>
              <a:rPr lang="en-US" dirty="0"/>
              <a:t> is used </a:t>
            </a:r>
            <a:r>
              <a:rPr lang="en-US" dirty="0">
                <a:solidFill>
                  <a:srgbClr val="C00000"/>
                </a:solidFill>
              </a:rPr>
              <a:t>when you want to predict a numerical value </a:t>
            </a:r>
            <a:r>
              <a:rPr lang="en-US" dirty="0"/>
              <a:t>(e.g., </a:t>
            </a:r>
            <a:r>
              <a:rPr lang="en-US" dirty="0">
                <a:solidFill>
                  <a:srgbClr val="C00000"/>
                </a:solidFill>
              </a:rPr>
              <a:t>predicting salary, sales, temperature</a:t>
            </a:r>
            <a:r>
              <a:rPr lang="en-US" dirty="0"/>
              <a:t>).</a:t>
            </a:r>
          </a:p>
          <a:p>
            <a:r>
              <a:rPr lang="en-US" b="1" dirty="0">
                <a:solidFill>
                  <a:srgbClr val="C00000"/>
                </a:solidFill>
              </a:rPr>
              <a:t>Classification</a:t>
            </a:r>
            <a:r>
              <a:rPr lang="en-US" dirty="0"/>
              <a:t> is used </a:t>
            </a:r>
            <a:r>
              <a:rPr lang="en-US" dirty="0">
                <a:solidFill>
                  <a:srgbClr val="C00000"/>
                </a:solidFill>
              </a:rPr>
              <a:t>when you want to assign a category label to data </a:t>
            </a:r>
            <a:r>
              <a:rPr lang="en-US" dirty="0"/>
              <a:t>(e.g., </a:t>
            </a:r>
            <a:r>
              <a:rPr lang="en-US" dirty="0">
                <a:solidFill>
                  <a:srgbClr val="C00000"/>
                </a:solidFill>
              </a:rPr>
              <a:t>classifying emails as spam or not, identifying diseases, or segmenting customers</a:t>
            </a:r>
            <a:r>
              <a:rPr lang="en-US" dirty="0"/>
              <a:t>).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CF915C6A-54BD-293B-0555-EEE68834E67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52486644"/>
              </p:ext>
            </p:extLst>
          </p:nvPr>
        </p:nvGraphicFramePr>
        <p:xfrm>
          <a:off x="541867" y="2494845"/>
          <a:ext cx="10555111" cy="2375910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486400">
                  <a:extLst>
                    <a:ext uri="{9D8B030D-6E8A-4147-A177-3AD203B41FA5}">
                      <a16:colId xmlns:a16="http://schemas.microsoft.com/office/drawing/2014/main" val="3567681047"/>
                    </a:ext>
                  </a:extLst>
                </a:gridCol>
                <a:gridCol w="5068711">
                  <a:extLst>
                    <a:ext uri="{9D8B030D-6E8A-4147-A177-3AD203B41FA5}">
                      <a16:colId xmlns:a16="http://schemas.microsoft.com/office/drawing/2014/main" val="2631472704"/>
                    </a:ext>
                  </a:extLst>
                </a:gridCol>
              </a:tblGrid>
              <a:tr h="257824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Regression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Classification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919435"/>
                  </a:ext>
                </a:extLst>
              </a:tr>
              <a:tr h="451191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 Predict Continuous numerical value (real number)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 Predict Discrete class label (category)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53241952"/>
                  </a:ext>
                </a:extLst>
              </a:tr>
              <a:tr h="644559"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 Predicting house price</a:t>
                      </a:r>
                    </a:p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 Forecasting, trend analysis, estimating quantities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dk1"/>
                          </a:solidFill>
                          <a:effectLst/>
                        </a:rPr>
                        <a:t>- </a:t>
                      </a:r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Spam email detection</a:t>
                      </a:r>
                    </a:p>
                    <a:p>
                      <a:pPr algn="l"/>
                      <a:r>
                        <a:rPr lang="en-IN" sz="1800" b="0" u="none" strike="noStrike" kern="1200" dirty="0">
                          <a:solidFill>
                            <a:schemeClr val="tx1"/>
                          </a:solidFill>
                          <a:effectLst/>
                        </a:rPr>
                        <a:t>- Categorizing data, identifying patterns, classification tasks</a:t>
                      </a:r>
                      <a:endParaRPr lang="en-US" dirty="0"/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13519469"/>
                  </a:ext>
                </a:extLst>
              </a:tr>
              <a:tr h="644559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</a:rPr>
                        <a:t>quantitative</a:t>
                      </a:r>
                      <a:endParaRPr lang="en-IN" sz="1800" kern="1200" dirty="0">
                        <a:solidFill>
                          <a:schemeClr val="tx1"/>
                        </a:solidFill>
                        <a:effectLst/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800" kern="1200" dirty="0">
                          <a:solidFill>
                            <a:schemeClr val="tx1"/>
                          </a:solidFill>
                          <a:effectLst/>
                        </a:rPr>
                        <a:t>qualitative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25000"/>
                          <a:lumOff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968359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54989408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946C62-6E35-C50F-C681-AE3746F0EB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639C775-74B1-2F63-E695-E1F9054EA7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4"/>
            <a:ext cx="11929641" cy="5578501"/>
          </a:xfrm>
        </p:spPr>
        <p:txBody>
          <a:bodyPr/>
          <a:lstStyle/>
          <a:p>
            <a:r>
              <a:rPr lang="en-US" dirty="0"/>
              <a:t>Cluster is a </a:t>
            </a:r>
            <a:r>
              <a:rPr lang="en-US" dirty="0">
                <a:solidFill>
                  <a:srgbClr val="C00000"/>
                </a:solidFill>
              </a:rPr>
              <a:t>group of similar data points</a:t>
            </a:r>
            <a:r>
              <a:rPr lang="en-US" dirty="0"/>
              <a:t>.</a:t>
            </a:r>
          </a:p>
          <a:p>
            <a:r>
              <a:rPr lang="en-US" dirty="0"/>
              <a:t>Points in the </a:t>
            </a:r>
            <a:r>
              <a:rPr lang="en-US" dirty="0">
                <a:solidFill>
                  <a:srgbClr val="C00000"/>
                </a:solidFill>
              </a:rPr>
              <a:t>same cluster are more similar </a:t>
            </a:r>
            <a:r>
              <a:rPr lang="en-US" dirty="0"/>
              <a:t>to each other than to those in other clusters.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r>
              <a:rPr lang="en-US" dirty="0"/>
              <a:t>Clustering </a:t>
            </a:r>
            <a:r>
              <a:rPr lang="en-US" dirty="0">
                <a:solidFill>
                  <a:srgbClr val="C00000"/>
                </a:solidFill>
              </a:rPr>
              <a:t>often uses distance measures to group </a:t>
            </a:r>
            <a:r>
              <a:rPr lang="en-US" dirty="0"/>
              <a:t>points.</a:t>
            </a:r>
          </a:p>
          <a:p>
            <a:r>
              <a:rPr lang="en-IN" b="0" i="0" u="none" strike="noStrike" dirty="0">
                <a:solidFill>
                  <a:srgbClr val="000000"/>
                </a:solidFill>
                <a:effectLst/>
              </a:rPr>
              <a:t>Common metrics: </a:t>
            </a:r>
            <a:r>
              <a:rPr lang="en-IN" b="0" i="0" u="none" strike="noStrike" dirty="0">
                <a:solidFill>
                  <a:srgbClr val="C00000"/>
                </a:solidFill>
                <a:effectLst/>
              </a:rPr>
              <a:t>Euclidean Distance, Manhattan Distance:, Cosine Similarity</a:t>
            </a:r>
            <a:endParaRPr lang="en-US" dirty="0">
              <a:solidFill>
                <a:srgbClr val="C00000"/>
              </a:solidFill>
            </a:endParaRPr>
          </a:p>
          <a:p>
            <a:endParaRPr lang="en-US" dirty="0">
              <a:solidFill>
                <a:srgbClr val="C00000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  <p:pic>
        <p:nvPicPr>
          <p:cNvPr id="3" name="Picture 1" descr="page184image30393152">
            <a:extLst>
              <a:ext uri="{FF2B5EF4-FFF2-40B4-BE49-F238E27FC236}">
                <a16:creationId xmlns:a16="http://schemas.microsoft.com/office/drawing/2014/main" id="{83E616BF-4EAD-BBC9-7B70-E228D2D848B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651543" y="1831817"/>
            <a:ext cx="3832990" cy="26033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6859483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0989C-907C-0FA2-F819-9A67A6D8D9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175EFF-8C7C-FD0E-702D-3AA31F429E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Minimize intra-cluster distance (points within the same cluster are close).</a:t>
            </a:r>
          </a:p>
          <a:p>
            <a:r>
              <a:rPr lang="en-US" dirty="0"/>
              <a:t>Maximize inter-cluster distance (clusters are distinct).</a:t>
            </a:r>
          </a:p>
          <a:p>
            <a:r>
              <a:rPr lang="en-US" dirty="0">
                <a:solidFill>
                  <a:srgbClr val="C00000"/>
                </a:solidFill>
              </a:rPr>
              <a:t>Cluster analysis </a:t>
            </a:r>
            <a:r>
              <a:rPr lang="en-US" dirty="0"/>
              <a:t>or </a:t>
            </a:r>
            <a:r>
              <a:rPr lang="en-US" dirty="0">
                <a:solidFill>
                  <a:srgbClr val="C00000"/>
                </a:solidFill>
              </a:rPr>
              <a:t>simply clustering </a:t>
            </a:r>
            <a:r>
              <a:rPr lang="en-US" dirty="0"/>
              <a:t>is the process of </a:t>
            </a:r>
            <a:r>
              <a:rPr lang="en-US" dirty="0">
                <a:solidFill>
                  <a:srgbClr val="C00000"/>
                </a:solidFill>
              </a:rPr>
              <a:t>partitioning a set of data objects </a:t>
            </a:r>
            <a:r>
              <a:rPr lang="en-US" dirty="0"/>
              <a:t>(or observations) into </a:t>
            </a:r>
            <a:r>
              <a:rPr lang="en-US" dirty="0">
                <a:solidFill>
                  <a:srgbClr val="C00000"/>
                </a:solidFill>
              </a:rPr>
              <a:t>subsets</a:t>
            </a:r>
            <a:r>
              <a:rPr lang="en-US" dirty="0"/>
              <a:t>.</a:t>
            </a:r>
          </a:p>
          <a:p>
            <a:r>
              <a:rPr lang="en-US" dirty="0"/>
              <a:t>Each subset is a cluster.</a:t>
            </a:r>
          </a:p>
          <a:p>
            <a:r>
              <a:rPr lang="en-US" dirty="0"/>
              <a:t>The set of clusters resulting from a cluster analysis can be referred to as a clustering. </a:t>
            </a:r>
          </a:p>
          <a:p>
            <a:r>
              <a:rPr lang="en-US" altLang="en-US" sz="2400" dirty="0">
                <a:solidFill>
                  <a:srgbClr val="C00000"/>
                </a:solidFill>
              </a:rPr>
              <a:t>Cluster analysis (or </a:t>
            </a:r>
            <a:r>
              <a:rPr lang="en-US" altLang="en-US" sz="2400" i="1" dirty="0">
                <a:solidFill>
                  <a:srgbClr val="C00000"/>
                </a:solidFill>
              </a:rPr>
              <a:t>clustering</a:t>
            </a:r>
            <a:r>
              <a:rPr lang="en-US" altLang="en-US" sz="2400" dirty="0">
                <a:solidFill>
                  <a:srgbClr val="C00000"/>
                </a:solidFill>
              </a:rPr>
              <a:t>, </a:t>
            </a:r>
            <a:r>
              <a:rPr lang="en-US" altLang="en-US" sz="2400" i="1" dirty="0">
                <a:solidFill>
                  <a:srgbClr val="C00000"/>
                </a:solidFill>
              </a:rPr>
              <a:t>data segmentation, …</a:t>
            </a:r>
            <a:r>
              <a:rPr lang="en-US" altLang="en-US" sz="2400" dirty="0">
                <a:solidFill>
                  <a:srgbClr val="C00000"/>
                </a:solidFill>
              </a:rPr>
              <a:t>)</a:t>
            </a:r>
          </a:p>
          <a:p>
            <a:pPr lvl="1"/>
            <a:r>
              <a:rPr lang="en-US" dirty="0"/>
              <a:t>Finding </a:t>
            </a:r>
            <a:r>
              <a:rPr lang="en-US" dirty="0">
                <a:solidFill>
                  <a:srgbClr val="C00000"/>
                </a:solidFill>
              </a:rPr>
              <a:t>similarities between data </a:t>
            </a:r>
            <a:r>
              <a:rPr lang="en-US" dirty="0"/>
              <a:t>according to the </a:t>
            </a:r>
            <a:r>
              <a:rPr lang="en-US" dirty="0">
                <a:solidFill>
                  <a:srgbClr val="C00000"/>
                </a:solidFill>
              </a:rPr>
              <a:t>characteristics found in the data </a:t>
            </a:r>
            <a:r>
              <a:rPr lang="en-US" dirty="0"/>
              <a:t>and grouping similar data </a:t>
            </a:r>
            <a:r>
              <a:rPr lang="en-US" dirty="0">
                <a:solidFill>
                  <a:srgbClr val="C00000"/>
                </a:solidFill>
              </a:rPr>
              <a:t>objects</a:t>
            </a:r>
            <a:r>
              <a:rPr lang="en-US" dirty="0"/>
              <a:t> into </a:t>
            </a:r>
            <a:r>
              <a:rPr lang="en-US" dirty="0">
                <a:solidFill>
                  <a:srgbClr val="C00000"/>
                </a:solidFill>
              </a:rPr>
              <a:t>clusters</a:t>
            </a:r>
          </a:p>
          <a:p>
            <a:r>
              <a:rPr lang="en-US" dirty="0"/>
              <a:t>Clustering is useful in that it can lead to the discovery of </a:t>
            </a:r>
            <a:r>
              <a:rPr lang="en-US" dirty="0">
                <a:solidFill>
                  <a:srgbClr val="C00000"/>
                </a:solidFill>
              </a:rPr>
              <a:t>previously unknown groups </a:t>
            </a:r>
            <a:r>
              <a:rPr lang="en-US" dirty="0"/>
              <a:t>within the </a:t>
            </a:r>
            <a:r>
              <a:rPr lang="en-US" dirty="0">
                <a:solidFill>
                  <a:srgbClr val="C00000"/>
                </a:solidFill>
              </a:rPr>
              <a:t>data</a:t>
            </a:r>
            <a:r>
              <a:rPr lang="en-US" dirty="0"/>
              <a:t>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59525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593B-2E97-4ECD-BB17-9BF51DC3640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2192000" cy="711200"/>
          </a:xfrm>
        </p:spPr>
        <p:txBody>
          <a:bodyPr/>
          <a:lstStyle/>
          <a:p>
            <a:r>
              <a:rPr lang="en-US" dirty="0"/>
              <a:t>Association Rule Mining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5A70A-DE30-44EC-9687-62B20E34FD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1369802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Given a set </a:t>
            </a:r>
            <a:r>
              <a:rPr lang="en-US" dirty="0">
                <a:solidFill>
                  <a:srgbClr val="C00000"/>
                </a:solidFill>
              </a:rPr>
              <a:t>of transactions, we need rules </a:t>
            </a:r>
            <a:r>
              <a:rPr lang="en-US" dirty="0"/>
              <a:t>that will predict the occurrence of an item based on the occurrences of other </a:t>
            </a:r>
            <a:r>
              <a:rPr lang="en-US" dirty="0">
                <a:solidFill>
                  <a:srgbClr val="C00000"/>
                </a:solidFill>
              </a:rPr>
              <a:t>items in the transaction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b="1" dirty="0"/>
              <a:t>Market-Basket transactions</a:t>
            </a:r>
            <a:endParaRPr lang="en-US" dirty="0"/>
          </a:p>
          <a:p>
            <a:pPr>
              <a:lnSpc>
                <a:spcPct val="100000"/>
              </a:lnSpc>
            </a:pPr>
            <a:endParaRPr lang="en-IN" dirty="0"/>
          </a:p>
        </p:txBody>
      </p:sp>
      <p:graphicFrame>
        <p:nvGraphicFramePr>
          <p:cNvPr id="11" name="Content Placeholder 4">
            <a:extLst>
              <a:ext uri="{FF2B5EF4-FFF2-40B4-BE49-F238E27FC236}">
                <a16:creationId xmlns:a16="http://schemas.microsoft.com/office/drawing/2014/main" id="{3AC277AE-43B2-4DE4-9A0B-A7821E2DAAA5}"/>
              </a:ext>
            </a:extLst>
          </p:cNvPr>
          <p:cNvGraphicFramePr>
            <a:graphicFrameLocks/>
          </p:cNvGraphicFramePr>
          <p:nvPr/>
        </p:nvGraphicFramePr>
        <p:xfrm>
          <a:off x="518746" y="2207415"/>
          <a:ext cx="4264269" cy="2697480"/>
        </p:xfrm>
        <a:graphic>
          <a:graphicData uri="http://schemas.openxmlformats.org/drawingml/2006/table">
            <a:tbl>
              <a:tblPr firstRow="1" bandRow="1">
                <a:tableStyleId>{8EC20E35-A176-4012-BC5E-935CFFF8708E}</a:tableStyleId>
              </a:tblPr>
              <a:tblGrid>
                <a:gridCol w="4965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7677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11480"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TID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dirty="0">
                          <a:solidFill>
                            <a:schemeClr val="tx1"/>
                          </a:solidFill>
                        </a:rPr>
                        <a:t>Items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tx1">
                        <a:lumMod val="10000"/>
                        <a:lumOff val="9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1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Bread, Milk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2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dirty="0"/>
                        <a:t>Bread, Chocolate, Pepsi,</a:t>
                      </a:r>
                      <a:r>
                        <a:rPr lang="en-US" sz="2000" b="0" baseline="0" dirty="0"/>
                        <a:t> Eggs</a:t>
                      </a:r>
                      <a:endParaRPr lang="en-US" sz="20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3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Milk, Chocolate, </a:t>
                      </a:r>
                      <a:r>
                        <a:rPr lang="en-US" sz="2000" b="0" dirty="0"/>
                        <a:t>Pepsi</a:t>
                      </a:r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, Coke</a:t>
                      </a:r>
                      <a:endParaRPr lang="en-US" sz="20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4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Bread, Milk, Chocolate, </a:t>
                      </a:r>
                      <a:r>
                        <a:rPr lang="en-US" sz="2000" b="0" dirty="0"/>
                        <a:t>Pepsi</a:t>
                      </a:r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1480">
                <a:tc>
                  <a:txBody>
                    <a:bodyPr/>
                    <a:lstStyle/>
                    <a:p>
                      <a:r>
                        <a:rPr lang="en-US" sz="1900" dirty="0"/>
                        <a:t>5</a:t>
                      </a: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b="0" i="0" u="none" strike="noStrike" kern="1200" baseline="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Bread, Milk, Chocolate, Coke</a:t>
                      </a:r>
                      <a:endParaRPr lang="en-US" sz="2000" b="0" dirty="0"/>
                    </a:p>
                  </a:txBody>
                  <a:tcPr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2" name="Rectangle 11">
            <a:extLst>
              <a:ext uri="{FF2B5EF4-FFF2-40B4-BE49-F238E27FC236}">
                <a16:creationId xmlns:a16="http://schemas.microsoft.com/office/drawing/2014/main" id="{6521A85E-642A-449D-A2C1-DF2C6F386960}"/>
              </a:ext>
            </a:extLst>
          </p:cNvPr>
          <p:cNvSpPr/>
          <p:nvPr/>
        </p:nvSpPr>
        <p:spPr>
          <a:xfrm>
            <a:off x="6096000" y="2207415"/>
            <a:ext cx="4305300" cy="2352040"/>
          </a:xfrm>
          <a:prstGeom prst="rect">
            <a:avLst/>
          </a:prstGeom>
          <a:solidFill>
            <a:schemeClr val="bg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500" b="1" u="sng" dirty="0">
                <a:ln w="0"/>
                <a:solidFill>
                  <a:schemeClr val="tx1"/>
                </a:solidFill>
              </a:rPr>
              <a:t>Example of Association Rules</a:t>
            </a:r>
          </a:p>
          <a:p>
            <a:pPr algn="ctr"/>
            <a:endParaRPr lang="en-US" sz="2500" b="1" u="sng" dirty="0">
              <a:ln w="0"/>
              <a:solidFill>
                <a:schemeClr val="tx1"/>
              </a:solidFill>
            </a:endParaRPr>
          </a:p>
          <a:p>
            <a:pPr algn="ctr"/>
            <a:r>
              <a:rPr lang="en-US" sz="2500" dirty="0">
                <a:ln w="0"/>
                <a:solidFill>
                  <a:schemeClr val="tx1"/>
                </a:solidFill>
              </a:rPr>
              <a:t>{Chocolate} → {Pepsi},</a:t>
            </a:r>
          </a:p>
          <a:p>
            <a:pPr algn="ctr"/>
            <a:r>
              <a:rPr lang="en-US" sz="2500" dirty="0">
                <a:ln w="0"/>
                <a:solidFill>
                  <a:schemeClr val="tx1"/>
                </a:solidFill>
              </a:rPr>
              <a:t>{Milk, Bread} → {Eggs, Coke},</a:t>
            </a:r>
          </a:p>
          <a:p>
            <a:pPr algn="ctr"/>
            <a:r>
              <a:rPr lang="en-US" sz="2500" dirty="0">
                <a:ln w="0"/>
                <a:solidFill>
                  <a:schemeClr val="tx1"/>
                </a:solidFill>
              </a:rPr>
              <a:t>{Pepsi, Bread} → {Milk}</a:t>
            </a:r>
          </a:p>
        </p:txBody>
      </p:sp>
    </p:spTree>
    <p:extLst>
      <p:ext uri="{BB962C8B-B14F-4D97-AF65-F5344CB8AC3E}">
        <p14:creationId xmlns:p14="http://schemas.microsoft.com/office/powerpoint/2010/main" val="38085591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F8593B-2E97-4ECD-BB17-9BF51DC364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Market Basket Analysis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45A70A-DE30-44EC-9687-62B20E34FD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Market Basket Analysis is a </a:t>
            </a:r>
            <a:r>
              <a:rPr lang="en-US" dirty="0">
                <a:solidFill>
                  <a:schemeClr val="accent6"/>
                </a:solidFill>
              </a:rPr>
              <a:t>modelling technique to find frequent itemset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It is based on, if you buy a certain group of items, you are more (or less) likely to buy another group of items.</a:t>
            </a:r>
          </a:p>
          <a:p>
            <a:pPr>
              <a:lnSpc>
                <a:spcPct val="100000"/>
              </a:lnSpc>
            </a:pPr>
            <a:r>
              <a:rPr lang="en-US" dirty="0"/>
              <a:t>For example, if you are in a store and you buy a car then you are more likely to buy insurance at the same time than somebody who don't buy insurance also. </a:t>
            </a:r>
          </a:p>
          <a:p>
            <a:pPr>
              <a:lnSpc>
                <a:spcPct val="100000"/>
              </a:lnSpc>
            </a:pPr>
            <a:r>
              <a:rPr lang="en-US" dirty="0"/>
              <a:t>The </a:t>
            </a:r>
            <a:r>
              <a:rPr lang="en-US" dirty="0">
                <a:solidFill>
                  <a:schemeClr val="accent6"/>
                </a:solidFill>
              </a:rPr>
              <a:t>set of items </a:t>
            </a:r>
            <a:r>
              <a:rPr lang="en-US" dirty="0"/>
              <a:t>that a customer buys it referred as an </a:t>
            </a:r>
            <a:r>
              <a:rPr lang="en-US" b="1" dirty="0">
                <a:solidFill>
                  <a:schemeClr val="accent6"/>
                </a:solidFill>
              </a:rPr>
              <a:t>itemset</a:t>
            </a:r>
            <a:r>
              <a:rPr lang="en-US" dirty="0"/>
              <a:t>.</a:t>
            </a:r>
          </a:p>
          <a:p>
            <a:pPr>
              <a:lnSpc>
                <a:spcPct val="100000"/>
              </a:lnSpc>
            </a:pPr>
            <a:r>
              <a:rPr lang="en-US" dirty="0"/>
              <a:t>Market basket analysis seeks to </a:t>
            </a:r>
            <a:r>
              <a:rPr lang="en-US" dirty="0">
                <a:solidFill>
                  <a:schemeClr val="accent6"/>
                </a:solidFill>
              </a:rPr>
              <a:t>find relationships between purchases </a:t>
            </a:r>
            <a:r>
              <a:rPr lang="en-US" dirty="0"/>
              <a:t>(Items).</a:t>
            </a:r>
          </a:p>
          <a:p>
            <a:pPr algn="ctr">
              <a:lnSpc>
                <a:spcPct val="100000"/>
              </a:lnSpc>
            </a:pPr>
            <a:r>
              <a:rPr lang="en-US" b="1" dirty="0"/>
              <a:t>E.g. </a:t>
            </a:r>
            <a:r>
              <a:rPr lang="en-US" dirty="0"/>
              <a:t>IF {Car, Accessories} THEN {Insurance}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dirty="0"/>
              <a:t>{Car, Accessories}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{Insurance}</a:t>
            </a:r>
          </a:p>
          <a:p>
            <a:pPr marL="0" indent="0" algn="ctr">
              <a:lnSpc>
                <a:spcPct val="100000"/>
              </a:lnSpc>
              <a:buNone/>
            </a:pP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8128D6F-9E96-4A99-8C3B-8F8DC2D7C057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82098" y="-103143"/>
            <a:ext cx="890466" cy="890466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E378263D-CA81-40B0-89BE-ABCAC4B61C58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276227" y="-103143"/>
            <a:ext cx="890466" cy="890466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7F19A556-BE1A-4313-9DEF-ED6D6F267713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artisticCrisscrossEtching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170355" y="-103143"/>
            <a:ext cx="890466" cy="89046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4C5650E8-EA95-4B9E-8EDC-7E95EDCD06B8}"/>
              </a:ext>
            </a:extLst>
          </p:cNvPr>
          <p:cNvSpPr/>
          <p:nvPr/>
        </p:nvSpPr>
        <p:spPr>
          <a:xfrm>
            <a:off x="3962400" y="4566138"/>
            <a:ext cx="4267200" cy="45720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32005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811874-8E2F-556A-D068-FC1F377185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Model-Based vs. Instance-Based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32EEB0B-A1AB-337C-9C66-D970A0354A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Model-Based</a:t>
            </a:r>
          </a:p>
          <a:p>
            <a:r>
              <a:rPr lang="en-US" dirty="0"/>
              <a:t>Most </a:t>
            </a:r>
            <a:r>
              <a:rPr lang="en-US" dirty="0">
                <a:solidFill>
                  <a:srgbClr val="C00000"/>
                </a:solidFill>
              </a:rPr>
              <a:t>supervised</a:t>
            </a:r>
            <a:r>
              <a:rPr lang="en-US" dirty="0"/>
              <a:t> learning algorithms are model-based.</a:t>
            </a:r>
          </a:p>
          <a:p>
            <a:r>
              <a:rPr lang="en-US" dirty="0"/>
              <a:t>Model-based learning algorithms use the training data </a:t>
            </a:r>
            <a:r>
              <a:rPr lang="en-US" dirty="0">
                <a:solidFill>
                  <a:srgbClr val="C00000"/>
                </a:solidFill>
              </a:rPr>
              <a:t>to create a model</a:t>
            </a:r>
            <a:r>
              <a:rPr lang="en-US" dirty="0"/>
              <a:t> with parameters learned from the </a:t>
            </a:r>
            <a:r>
              <a:rPr lang="en-US" dirty="0">
                <a:solidFill>
                  <a:srgbClr val="C00000"/>
                </a:solidFill>
              </a:rPr>
              <a:t>training</a:t>
            </a:r>
            <a:r>
              <a:rPr lang="en-US" dirty="0"/>
              <a:t> data.</a:t>
            </a:r>
          </a:p>
          <a:p>
            <a:r>
              <a:rPr lang="en-US" dirty="0"/>
              <a:t>After the model is trained, it can be </a:t>
            </a:r>
            <a:r>
              <a:rPr lang="en-US" dirty="0">
                <a:solidFill>
                  <a:srgbClr val="C00000"/>
                </a:solidFill>
              </a:rPr>
              <a:t>saved on disk while </a:t>
            </a:r>
            <a:r>
              <a:rPr lang="en-US" dirty="0"/>
              <a:t>the training data can be </a:t>
            </a:r>
            <a:r>
              <a:rPr lang="en-US" dirty="0">
                <a:solidFill>
                  <a:srgbClr val="C00000"/>
                </a:solidFill>
              </a:rPr>
              <a:t>discarded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40781656-3ECC-E5E3-586A-79F61C581F4A}"/>
              </a:ext>
            </a:extLst>
          </p:cNvPr>
          <p:cNvCxnSpPr>
            <a:cxnSpLocks/>
          </p:cNvCxnSpPr>
          <p:nvPr/>
        </p:nvCxnSpPr>
        <p:spPr>
          <a:xfrm>
            <a:off x="3164055" y="3176307"/>
            <a:ext cx="0" cy="326563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DCFCE00A-4523-1BD5-69CA-3514E8C4049B}"/>
              </a:ext>
            </a:extLst>
          </p:cNvPr>
          <p:cNvCxnSpPr>
            <a:cxnSpLocks/>
          </p:cNvCxnSpPr>
          <p:nvPr/>
        </p:nvCxnSpPr>
        <p:spPr>
          <a:xfrm flipH="1">
            <a:off x="2652889" y="6088769"/>
            <a:ext cx="4759781" cy="9158"/>
          </a:xfrm>
          <a:prstGeom prst="line">
            <a:avLst/>
          </a:prstGeom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6" name="Oval 5">
            <a:extLst>
              <a:ext uri="{FF2B5EF4-FFF2-40B4-BE49-F238E27FC236}">
                <a16:creationId xmlns:a16="http://schemas.microsoft.com/office/drawing/2014/main" id="{05A14D34-174F-382C-3D01-E8E13B1E708B}"/>
              </a:ext>
            </a:extLst>
          </p:cNvPr>
          <p:cNvSpPr/>
          <p:nvPr/>
        </p:nvSpPr>
        <p:spPr>
          <a:xfrm>
            <a:off x="3966943" y="3611205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574A1505-ACDD-C86D-42DC-2613545E74CE}"/>
              </a:ext>
            </a:extLst>
          </p:cNvPr>
          <p:cNvSpPr/>
          <p:nvPr/>
        </p:nvSpPr>
        <p:spPr>
          <a:xfrm>
            <a:off x="3974379" y="3763605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97F9E1B4-ED06-E8FD-0774-6C3E82849AB1}"/>
              </a:ext>
            </a:extLst>
          </p:cNvPr>
          <p:cNvSpPr/>
          <p:nvPr/>
        </p:nvSpPr>
        <p:spPr>
          <a:xfrm>
            <a:off x="4227138" y="3737587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0B72B3FB-8730-9CEB-3D46-7732C38F4A50}"/>
              </a:ext>
            </a:extLst>
          </p:cNvPr>
          <p:cNvSpPr/>
          <p:nvPr/>
        </p:nvSpPr>
        <p:spPr>
          <a:xfrm>
            <a:off x="4022700" y="4001498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D7734FCD-A93C-0F75-6874-8BFABA8F5604}"/>
              </a:ext>
            </a:extLst>
          </p:cNvPr>
          <p:cNvSpPr/>
          <p:nvPr/>
        </p:nvSpPr>
        <p:spPr>
          <a:xfrm>
            <a:off x="4275461" y="3964328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DDB7F77D-85A7-66E7-6D48-7097DC7D799C}"/>
              </a:ext>
            </a:extLst>
          </p:cNvPr>
          <p:cNvSpPr/>
          <p:nvPr/>
        </p:nvSpPr>
        <p:spPr>
          <a:xfrm>
            <a:off x="4215989" y="4172486"/>
            <a:ext cx="89209" cy="111512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FEC67B84-F0AA-103E-9585-0C9F7D1A29D6}"/>
              </a:ext>
            </a:extLst>
          </p:cNvPr>
          <p:cNvSpPr/>
          <p:nvPr/>
        </p:nvSpPr>
        <p:spPr>
          <a:xfrm>
            <a:off x="4944531" y="4811819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A39A011-E400-A750-EDD3-0D7534155FE2}"/>
              </a:ext>
            </a:extLst>
          </p:cNvPr>
          <p:cNvSpPr/>
          <p:nvPr/>
        </p:nvSpPr>
        <p:spPr>
          <a:xfrm>
            <a:off x="4650885" y="4964219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6F6932CC-739B-9E99-0C67-8FED77B280EF}"/>
              </a:ext>
            </a:extLst>
          </p:cNvPr>
          <p:cNvSpPr/>
          <p:nvPr/>
        </p:nvSpPr>
        <p:spPr>
          <a:xfrm>
            <a:off x="5215877" y="4592514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3317950C-96E7-B48F-0C18-5E9CB9C07B99}"/>
              </a:ext>
            </a:extLst>
          </p:cNvPr>
          <p:cNvSpPr/>
          <p:nvPr/>
        </p:nvSpPr>
        <p:spPr>
          <a:xfrm>
            <a:off x="5000288" y="5202112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39C350A2-2ED8-2305-B770-25F4B66E1E21}"/>
              </a:ext>
            </a:extLst>
          </p:cNvPr>
          <p:cNvSpPr/>
          <p:nvPr/>
        </p:nvSpPr>
        <p:spPr>
          <a:xfrm>
            <a:off x="5253049" y="5164942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D2E18CC-026F-43A7-D534-B3FDDFBDD19D}"/>
              </a:ext>
            </a:extLst>
          </p:cNvPr>
          <p:cNvSpPr/>
          <p:nvPr/>
        </p:nvSpPr>
        <p:spPr>
          <a:xfrm>
            <a:off x="5193577" y="5373100"/>
            <a:ext cx="89209" cy="111512"/>
          </a:xfrm>
          <a:prstGeom prst="ellipse">
            <a:avLst/>
          </a:prstGeom>
        </p:spPr>
        <p:style>
          <a:lnRef idx="3">
            <a:schemeClr val="lt1"/>
          </a:lnRef>
          <a:fillRef idx="1">
            <a:schemeClr val="accent4"/>
          </a:fillRef>
          <a:effectRef idx="1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59F0FB21-254A-7565-6E9B-FC964358B1C0}"/>
              </a:ext>
            </a:extLst>
          </p:cNvPr>
          <p:cNvSpPr/>
          <p:nvPr/>
        </p:nvSpPr>
        <p:spPr>
          <a:xfrm>
            <a:off x="3431684" y="3249396"/>
            <a:ext cx="3178077" cy="2644248"/>
          </a:xfrm>
          <a:custGeom>
            <a:avLst/>
            <a:gdLst>
              <a:gd name="connsiteX0" fmla="*/ 0 w 3512634"/>
              <a:gd name="connsiteY0" fmla="*/ 2658960 h 2865260"/>
              <a:gd name="connsiteX1" fmla="*/ 680225 w 3512634"/>
              <a:gd name="connsiteY1" fmla="*/ 2625507 h 2865260"/>
              <a:gd name="connsiteX2" fmla="*/ 1851103 w 3512634"/>
              <a:gd name="connsiteY2" fmla="*/ 250297 h 2865260"/>
              <a:gd name="connsiteX3" fmla="*/ 3512634 w 3512634"/>
              <a:gd name="connsiteY3" fmla="*/ 49575 h 286526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512634" h="2865260">
                <a:moveTo>
                  <a:pt x="0" y="2658960"/>
                </a:moveTo>
                <a:cubicBezTo>
                  <a:pt x="185854" y="2842955"/>
                  <a:pt x="371708" y="3026951"/>
                  <a:pt x="680225" y="2625507"/>
                </a:cubicBezTo>
                <a:cubicBezTo>
                  <a:pt x="988742" y="2224063"/>
                  <a:pt x="1379035" y="679619"/>
                  <a:pt x="1851103" y="250297"/>
                </a:cubicBezTo>
                <a:cubicBezTo>
                  <a:pt x="2323171" y="-179025"/>
                  <a:pt x="3220844" y="81170"/>
                  <a:pt x="3512634" y="49575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25114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8402E6-426F-E1DE-3A75-02D0F6DAC4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Model-Based vs. Instance-Based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8E0498E-1587-521E-4F80-DB0AE06C0F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Instance-based</a:t>
            </a:r>
          </a:p>
          <a:p>
            <a:r>
              <a:rPr lang="en-US" dirty="0"/>
              <a:t>Instance-based learning algorithms use the </a:t>
            </a:r>
            <a:r>
              <a:rPr lang="en-US" dirty="0">
                <a:solidFill>
                  <a:srgbClr val="C00000"/>
                </a:solidFill>
              </a:rPr>
              <a:t>whole dataset as the model</a:t>
            </a:r>
            <a:r>
              <a:rPr lang="en-US" dirty="0"/>
              <a:t>.</a:t>
            </a:r>
          </a:p>
          <a:p>
            <a:r>
              <a:rPr lang="en-US" dirty="0"/>
              <a:t>In instance-based learning, the </a:t>
            </a:r>
            <a:r>
              <a:rPr lang="en-US" dirty="0">
                <a:solidFill>
                  <a:srgbClr val="C00000"/>
                </a:solidFill>
              </a:rPr>
              <a:t>algorithm doesn't explicitly learn a model </a:t>
            </a:r>
            <a:r>
              <a:rPr lang="en-US" dirty="0"/>
              <a:t>but </a:t>
            </a:r>
            <a:r>
              <a:rPr lang="en-US" dirty="0">
                <a:solidFill>
                  <a:srgbClr val="C00000"/>
                </a:solidFill>
              </a:rPr>
              <a:t>instead memorizes the training data</a:t>
            </a:r>
            <a:r>
              <a:rPr lang="en-US" dirty="0"/>
              <a:t>.</a:t>
            </a:r>
          </a:p>
          <a:p>
            <a:r>
              <a:rPr lang="en-US" dirty="0"/>
              <a:t>Predictions for new data are made by </a:t>
            </a:r>
            <a:r>
              <a:rPr lang="en-US" dirty="0">
                <a:solidFill>
                  <a:srgbClr val="C00000"/>
                </a:solidFill>
              </a:rPr>
              <a:t>comparing them directly to the stored instances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pic>
        <p:nvPicPr>
          <p:cNvPr id="4" name="Picture 4" descr="png">
            <a:extLst>
              <a:ext uri="{FF2B5EF4-FFF2-40B4-BE49-F238E27FC236}">
                <a16:creationId xmlns:a16="http://schemas.microsoft.com/office/drawing/2014/main" id="{0DF60E62-C40C-AA0B-632B-4BCA3042F0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177085" y="3197828"/>
            <a:ext cx="4094922" cy="27967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5123894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395E7-2DDF-0A5E-1B00-F0A05FE6D8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Shallow vs. Deep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DB162-51F2-1623-542E-8AB9EB27471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 shallow </a:t>
            </a:r>
            <a:r>
              <a:rPr lang="en-US" dirty="0">
                <a:solidFill>
                  <a:srgbClr val="C00000"/>
                </a:solidFill>
              </a:rPr>
              <a:t>learning algorithm learns the parameters of the model </a:t>
            </a:r>
            <a:r>
              <a:rPr lang="en-US" dirty="0"/>
              <a:t>directly from the features of the </a:t>
            </a:r>
            <a:r>
              <a:rPr lang="en-US" dirty="0">
                <a:solidFill>
                  <a:srgbClr val="C00000"/>
                </a:solidFill>
              </a:rPr>
              <a:t>training examples</a:t>
            </a:r>
            <a:r>
              <a:rPr lang="en-US" dirty="0"/>
              <a:t>.</a:t>
            </a:r>
          </a:p>
          <a:p>
            <a:r>
              <a:rPr lang="en-US" dirty="0"/>
              <a:t>Most machine learning algorithms are </a:t>
            </a:r>
            <a:r>
              <a:rPr lang="en-US" dirty="0">
                <a:solidFill>
                  <a:srgbClr val="C00000"/>
                </a:solidFill>
              </a:rPr>
              <a:t>shallow</a:t>
            </a:r>
            <a:r>
              <a:rPr lang="en-US" dirty="0"/>
              <a:t>.</a:t>
            </a:r>
          </a:p>
          <a:p>
            <a:r>
              <a:rPr lang="en-US" dirty="0"/>
              <a:t>specifically those that build </a:t>
            </a:r>
            <a:r>
              <a:rPr lang="en-US" dirty="0">
                <a:solidFill>
                  <a:srgbClr val="C00000"/>
                </a:solidFill>
              </a:rPr>
              <a:t>neural networks with more than one layer between</a:t>
            </a:r>
            <a:r>
              <a:rPr lang="en-US" dirty="0"/>
              <a:t> input and output. </a:t>
            </a:r>
            <a:r>
              <a:rPr lang="en-US" dirty="0">
                <a:solidFill>
                  <a:srgbClr val="C00000"/>
                </a:solidFill>
              </a:rPr>
              <a:t>Such neural networks are called deep neural networks</a:t>
            </a:r>
            <a:r>
              <a:rPr lang="en-US" dirty="0"/>
              <a:t>. In deep neural network learning (or, simply, deep learning),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850559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6A1176-BF86-E04F-6945-3A4C4F1CCC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Application of ML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2999F1-D650-335A-BCCE-90A1E84A95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Image Recognition</a:t>
            </a:r>
          </a:p>
          <a:p>
            <a:r>
              <a:rPr lang="en-US" dirty="0"/>
              <a:t>Speech Recognition</a:t>
            </a:r>
          </a:p>
          <a:p>
            <a:r>
              <a:rPr lang="en-US" dirty="0"/>
              <a:t>Recommender Systems</a:t>
            </a:r>
          </a:p>
          <a:p>
            <a:r>
              <a:rPr lang="en-US" dirty="0"/>
              <a:t>Fraud Detection</a:t>
            </a:r>
          </a:p>
          <a:p>
            <a:r>
              <a:rPr lang="en-US" dirty="0"/>
              <a:t>Self Driving Cars</a:t>
            </a:r>
          </a:p>
          <a:p>
            <a:r>
              <a:rPr lang="en-US" dirty="0"/>
              <a:t>Medical Diagnosis</a:t>
            </a:r>
          </a:p>
          <a:p>
            <a:r>
              <a:rPr lang="en-US" dirty="0"/>
              <a:t>Stock Market Trading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744475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60BCDBB-FFFC-7B46-C130-707BF37CC6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Main Challenges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4DBC61-8A4E-2F67-7E94-07FF0218B9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Insufficient Quantity of Training Data</a:t>
            </a:r>
          </a:p>
          <a:p>
            <a:r>
              <a:rPr lang="en-US" dirty="0"/>
              <a:t>it takes a lot of data for </a:t>
            </a:r>
            <a:r>
              <a:rPr lang="en-US" dirty="0">
                <a:solidFill>
                  <a:srgbClr val="C00000"/>
                </a:solidFill>
              </a:rPr>
              <a:t>most Machine Learning algorithms</a:t>
            </a:r>
            <a:r>
              <a:rPr lang="en-US" dirty="0"/>
              <a:t> to work properly. </a:t>
            </a:r>
          </a:p>
          <a:p>
            <a:r>
              <a:rPr lang="en-US" dirty="0"/>
              <a:t>Even for very simple problems you typically need </a:t>
            </a:r>
            <a:r>
              <a:rPr lang="en-US" dirty="0">
                <a:solidFill>
                  <a:srgbClr val="C00000"/>
                </a:solidFill>
              </a:rPr>
              <a:t>thousands of examples</a:t>
            </a:r>
            <a:r>
              <a:rPr lang="en-US" dirty="0"/>
              <a:t>, and for complex problems such as image or speech recognition you may need </a:t>
            </a:r>
            <a:r>
              <a:rPr lang="en-US" dirty="0">
                <a:solidFill>
                  <a:srgbClr val="C00000"/>
                </a:solidFill>
              </a:rPr>
              <a:t>millions of examples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Non representative Training Data</a:t>
            </a:r>
          </a:p>
          <a:p>
            <a:r>
              <a:rPr lang="en-US" dirty="0"/>
              <a:t>In order </a:t>
            </a:r>
            <a:r>
              <a:rPr lang="en-US" dirty="0">
                <a:solidFill>
                  <a:srgbClr val="C00000"/>
                </a:solidFill>
              </a:rPr>
              <a:t>to generalize well</a:t>
            </a:r>
            <a:r>
              <a:rPr lang="en-US" dirty="0"/>
              <a:t>, it </a:t>
            </a:r>
            <a:r>
              <a:rPr lang="en-US" dirty="0">
                <a:solidFill>
                  <a:srgbClr val="C00000"/>
                </a:solidFill>
              </a:rPr>
              <a:t>is crucial that your training data be representative of the new cases</a:t>
            </a:r>
            <a:r>
              <a:rPr lang="en-US" dirty="0"/>
              <a:t> you want to </a:t>
            </a:r>
            <a:r>
              <a:rPr lang="en-US" dirty="0">
                <a:solidFill>
                  <a:srgbClr val="C00000"/>
                </a:solidFill>
              </a:rPr>
              <a:t>generalize</a:t>
            </a:r>
            <a:r>
              <a:rPr lang="en-US" dirty="0"/>
              <a:t> to. This is true whether you use </a:t>
            </a:r>
            <a:r>
              <a:rPr lang="en-US" dirty="0">
                <a:solidFill>
                  <a:srgbClr val="C00000"/>
                </a:solidFill>
              </a:rPr>
              <a:t>instance-based </a:t>
            </a:r>
            <a:r>
              <a:rPr lang="en-US" dirty="0"/>
              <a:t>learning or model-based learning.</a:t>
            </a:r>
          </a:p>
          <a:p>
            <a:pPr marL="0" indent="0">
              <a:buNone/>
            </a:pPr>
            <a:r>
              <a:rPr lang="en-US" b="1" dirty="0"/>
              <a:t>Poor-Quality Data</a:t>
            </a:r>
          </a:p>
          <a:p>
            <a:r>
              <a:rPr lang="en-US" dirty="0"/>
              <a:t>Obviously, if your training data is </a:t>
            </a:r>
            <a:r>
              <a:rPr lang="en-US" dirty="0">
                <a:solidFill>
                  <a:srgbClr val="C00000"/>
                </a:solidFill>
              </a:rPr>
              <a:t>full of errors, outliers, and noise </a:t>
            </a:r>
            <a:r>
              <a:rPr lang="en-US" dirty="0"/>
              <a:t>(e.g., due to poor quality measurements), it will </a:t>
            </a:r>
            <a:r>
              <a:rPr lang="en-US" dirty="0">
                <a:solidFill>
                  <a:srgbClr val="C00000"/>
                </a:solidFill>
              </a:rPr>
              <a:t>make it harder for the system to detect the underlying patterns</a:t>
            </a:r>
            <a:r>
              <a:rPr lang="en-US" dirty="0"/>
              <a:t>, so your system is less likely to </a:t>
            </a:r>
            <a:r>
              <a:rPr lang="en-US" dirty="0">
                <a:solidFill>
                  <a:srgbClr val="C00000"/>
                </a:solidFill>
              </a:rPr>
              <a:t>perform well.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1664659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BC13F-46D0-67BE-CF3D-27C6CB41FC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Main Challenges of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B25E23-294A-C1DB-5CC0-2DA96A3C741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b="1" dirty="0"/>
              <a:t>Irrelevant Features</a:t>
            </a:r>
          </a:p>
          <a:p>
            <a:r>
              <a:rPr lang="en-US" dirty="0"/>
              <a:t>As the saying goes</a:t>
            </a:r>
            <a:r>
              <a:rPr lang="en-US" dirty="0">
                <a:solidFill>
                  <a:srgbClr val="C00000"/>
                </a:solidFill>
              </a:rPr>
              <a:t>: garbage in, garbage out</a:t>
            </a:r>
            <a:r>
              <a:rPr lang="en-US" dirty="0"/>
              <a:t>. Your system will only be capable of learning if the training data contains </a:t>
            </a:r>
            <a:r>
              <a:rPr lang="en-US" dirty="0">
                <a:solidFill>
                  <a:srgbClr val="C00000"/>
                </a:solidFill>
              </a:rPr>
              <a:t>enough relevant features and not too many irrelevant ones</a:t>
            </a:r>
            <a:r>
              <a:rPr lang="en-US" dirty="0"/>
              <a:t>. </a:t>
            </a:r>
          </a:p>
          <a:p>
            <a:r>
              <a:rPr lang="en-US" dirty="0"/>
              <a:t>A critical part of the success of a Machine Learning project is </a:t>
            </a:r>
            <a:r>
              <a:rPr lang="en-US" dirty="0">
                <a:solidFill>
                  <a:srgbClr val="C00000"/>
                </a:solidFill>
              </a:rPr>
              <a:t>coming up with a good set of features to train on.</a:t>
            </a:r>
          </a:p>
          <a:p>
            <a:pPr marL="0" indent="0">
              <a:buNone/>
            </a:pPr>
            <a:r>
              <a:rPr lang="en-US" b="1" dirty="0"/>
              <a:t>Overfitting the Training Data</a:t>
            </a:r>
          </a:p>
          <a:p>
            <a:r>
              <a:rPr lang="en-US" dirty="0"/>
              <a:t>It means that the model performs well on </a:t>
            </a:r>
            <a:r>
              <a:rPr lang="en-US" dirty="0">
                <a:solidFill>
                  <a:srgbClr val="C00000"/>
                </a:solidFill>
              </a:rPr>
              <a:t>the training data, but it does not generalize wel</a:t>
            </a:r>
            <a:r>
              <a:rPr lang="en-US" dirty="0"/>
              <a:t>l. Not </a:t>
            </a:r>
            <a:r>
              <a:rPr lang="en-US" dirty="0">
                <a:solidFill>
                  <a:srgbClr val="C00000"/>
                </a:solidFill>
              </a:rPr>
              <a:t>learn generalized</a:t>
            </a:r>
            <a:r>
              <a:rPr lang="en-US" dirty="0"/>
              <a:t>.</a:t>
            </a:r>
          </a:p>
          <a:p>
            <a:pPr marL="0" indent="0">
              <a:buNone/>
            </a:pPr>
            <a:r>
              <a:rPr lang="en-US" b="1" dirty="0"/>
              <a:t>Underfitting the Training Data</a:t>
            </a:r>
          </a:p>
          <a:p>
            <a:r>
              <a:rPr lang="en-US" dirty="0"/>
              <a:t>Underfitting is the opposite of overfitting: it occurs when your model is too </a:t>
            </a:r>
            <a:r>
              <a:rPr lang="en-US" dirty="0">
                <a:solidFill>
                  <a:srgbClr val="C00000"/>
                </a:solidFill>
              </a:rPr>
              <a:t>simple to learn the underlying structure of the data.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56041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903BAD-7F25-09D5-5117-141446B6CD3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Bias and Variance in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533765-D699-FF12-B551-BBF7014972C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Bias</a:t>
            </a:r>
          </a:p>
          <a:p>
            <a:r>
              <a:rPr lang="en-US" dirty="0"/>
              <a:t>Bias is one type of </a:t>
            </a:r>
            <a:r>
              <a:rPr lang="en-US" dirty="0">
                <a:solidFill>
                  <a:srgbClr val="C00000"/>
                </a:solidFill>
              </a:rPr>
              <a:t>error that occurs due to wrong assumptions</a:t>
            </a:r>
            <a:r>
              <a:rPr lang="en-US" dirty="0"/>
              <a:t> about data such as assuming data is </a:t>
            </a:r>
            <a:r>
              <a:rPr lang="en-US" dirty="0">
                <a:solidFill>
                  <a:srgbClr val="C00000"/>
                </a:solidFill>
              </a:rPr>
              <a:t>linear when in reality</a:t>
            </a:r>
            <a:r>
              <a:rPr lang="en-US" dirty="0"/>
              <a:t>, </a:t>
            </a:r>
            <a:r>
              <a:rPr lang="en-US" dirty="0">
                <a:solidFill>
                  <a:srgbClr val="C00000"/>
                </a:solidFill>
              </a:rPr>
              <a:t>data follows a complex function</a:t>
            </a:r>
            <a:r>
              <a:rPr lang="en-US" dirty="0"/>
              <a:t>.</a:t>
            </a:r>
          </a:p>
          <a:p>
            <a:r>
              <a:rPr lang="en-US" dirty="0"/>
              <a:t>Bias is a systematic error that occurs due to </a:t>
            </a:r>
            <a:r>
              <a:rPr lang="en-US" dirty="0">
                <a:solidFill>
                  <a:srgbClr val="C00000"/>
                </a:solidFill>
              </a:rPr>
              <a:t>wrong assumptions </a:t>
            </a:r>
            <a:r>
              <a:rPr lang="en-US" dirty="0"/>
              <a:t>in the machine </a:t>
            </a:r>
            <a:r>
              <a:rPr lang="en-US" dirty="0">
                <a:solidFill>
                  <a:srgbClr val="C00000"/>
                </a:solidFill>
              </a:rPr>
              <a:t>learning process</a:t>
            </a:r>
            <a:r>
              <a:rPr lang="en-US" dirty="0"/>
              <a:t>. </a:t>
            </a:r>
          </a:p>
          <a:p>
            <a:r>
              <a:rPr lang="en-US" b="1" dirty="0"/>
              <a:t>Low Bias</a:t>
            </a:r>
          </a:p>
          <a:p>
            <a:pPr lvl="1"/>
            <a:r>
              <a:rPr lang="en-US" dirty="0"/>
              <a:t>In this case, the model will closely </a:t>
            </a:r>
            <a:r>
              <a:rPr lang="en-US" dirty="0">
                <a:solidFill>
                  <a:srgbClr val="C00000"/>
                </a:solidFill>
              </a:rPr>
              <a:t>match the training dataset</a:t>
            </a:r>
            <a:r>
              <a:rPr lang="en-US" dirty="0"/>
              <a:t>.</a:t>
            </a:r>
          </a:p>
          <a:p>
            <a:r>
              <a:rPr lang="en-US" b="1" dirty="0"/>
              <a:t>High Bias</a:t>
            </a:r>
          </a:p>
          <a:p>
            <a:pPr lvl="1"/>
            <a:r>
              <a:rPr lang="en-US" dirty="0"/>
              <a:t>the model will </a:t>
            </a:r>
            <a:r>
              <a:rPr lang="en-US" dirty="0">
                <a:solidFill>
                  <a:srgbClr val="C00000"/>
                </a:solidFill>
              </a:rPr>
              <a:t>not match </a:t>
            </a:r>
            <a:r>
              <a:rPr lang="en-US" dirty="0"/>
              <a:t>the </a:t>
            </a:r>
            <a:r>
              <a:rPr lang="en-US" dirty="0">
                <a:solidFill>
                  <a:srgbClr val="C00000"/>
                </a:solidFill>
              </a:rPr>
              <a:t>training dataset closely</a:t>
            </a:r>
            <a:r>
              <a:rPr lang="en-US" dirty="0"/>
              <a:t>. </a:t>
            </a:r>
          </a:p>
          <a:p>
            <a:r>
              <a:rPr lang="en-US" dirty="0"/>
              <a:t>For example, a </a:t>
            </a:r>
            <a:r>
              <a:rPr lang="en-US" dirty="0">
                <a:solidFill>
                  <a:srgbClr val="C00000"/>
                </a:solidFill>
              </a:rPr>
              <a:t>linear regression model</a:t>
            </a:r>
            <a:r>
              <a:rPr lang="en-US" dirty="0"/>
              <a:t> may have a </a:t>
            </a:r>
            <a:r>
              <a:rPr lang="en-US" dirty="0">
                <a:solidFill>
                  <a:srgbClr val="C00000"/>
                </a:solidFill>
              </a:rPr>
              <a:t>high bias</a:t>
            </a:r>
            <a:r>
              <a:rPr lang="en-US" dirty="0"/>
              <a:t> if the data has a </a:t>
            </a:r>
            <a:r>
              <a:rPr lang="en-US" dirty="0">
                <a:solidFill>
                  <a:srgbClr val="C00000"/>
                </a:solidFill>
              </a:rPr>
              <a:t>non-linear relationship.</a:t>
            </a:r>
          </a:p>
          <a:p>
            <a:r>
              <a:rPr lang="en-US" dirty="0"/>
              <a:t>The high-bias model will not </a:t>
            </a:r>
            <a:r>
              <a:rPr lang="en-US" dirty="0">
                <a:solidFill>
                  <a:srgbClr val="C00000"/>
                </a:solidFill>
              </a:rPr>
              <a:t>be able to capture the dataset trend</a:t>
            </a:r>
            <a:r>
              <a:rPr lang="en-US" dirty="0"/>
              <a:t>. It is considered as the </a:t>
            </a:r>
            <a:r>
              <a:rPr lang="en-US" dirty="0">
                <a:solidFill>
                  <a:srgbClr val="C00000"/>
                </a:solidFill>
              </a:rPr>
              <a:t>underfitting model which has a high error rate</a:t>
            </a:r>
            <a:r>
              <a:rPr lang="en-US" dirty="0"/>
              <a:t>. It is due to a very </a:t>
            </a:r>
            <a:r>
              <a:rPr lang="en-US" dirty="0">
                <a:solidFill>
                  <a:srgbClr val="C00000"/>
                </a:solidFill>
              </a:rPr>
              <a:t>simplified algorithm</a:t>
            </a:r>
            <a:r>
              <a:rPr lang="en-US" dirty="0"/>
              <a:t>.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420758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2BABAF-BBF4-9B2A-B8CE-0D0C6D1BB5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Bias and Variance in Machine Learning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9D8817-08A4-73E6-B4D5-0B9EB5A4ADA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Variance</a:t>
            </a:r>
          </a:p>
          <a:p>
            <a:r>
              <a:rPr lang="en-US" dirty="0"/>
              <a:t>Variance is the </a:t>
            </a:r>
            <a:r>
              <a:rPr lang="en-US" dirty="0">
                <a:solidFill>
                  <a:srgbClr val="C00000"/>
                </a:solidFill>
              </a:rPr>
              <a:t>variability of the model </a:t>
            </a:r>
            <a:r>
              <a:rPr lang="en-US" dirty="0"/>
              <a:t>that how much it is </a:t>
            </a:r>
            <a:r>
              <a:rPr lang="en-US" dirty="0">
                <a:solidFill>
                  <a:srgbClr val="C00000"/>
                </a:solidFill>
              </a:rPr>
              <a:t>sensitive to another subset of the training dataset.</a:t>
            </a:r>
          </a:p>
          <a:p>
            <a:r>
              <a:rPr lang="en-US" dirty="0"/>
              <a:t>In machine learning </a:t>
            </a:r>
            <a:r>
              <a:rPr lang="en-US" dirty="0">
                <a:solidFill>
                  <a:srgbClr val="C00000"/>
                </a:solidFill>
              </a:rPr>
              <a:t>variance is the amount by which the performance of a predictive model changes when it is trained on different subsets of the training data</a:t>
            </a:r>
            <a:r>
              <a:rPr lang="en-US" dirty="0"/>
              <a:t>.</a:t>
            </a:r>
          </a:p>
          <a:p>
            <a:r>
              <a:rPr lang="en-US" dirty="0"/>
              <a:t>how much it can adjust on the </a:t>
            </a:r>
            <a:r>
              <a:rPr lang="en-US" dirty="0">
                <a:solidFill>
                  <a:srgbClr val="C00000"/>
                </a:solidFill>
              </a:rPr>
              <a:t>new subset of the training dataset</a:t>
            </a:r>
            <a:r>
              <a:rPr lang="en-US" dirty="0"/>
              <a:t>.</a:t>
            </a:r>
          </a:p>
          <a:p>
            <a:r>
              <a:rPr lang="en-US" b="1" dirty="0"/>
              <a:t>Low variance:</a:t>
            </a:r>
          </a:p>
          <a:p>
            <a:pPr lvl="1"/>
            <a:r>
              <a:rPr lang="en-US" dirty="0"/>
              <a:t>Low variance means that the model is </a:t>
            </a:r>
            <a:r>
              <a:rPr lang="en-US" dirty="0">
                <a:solidFill>
                  <a:srgbClr val="C00000"/>
                </a:solidFill>
              </a:rPr>
              <a:t>less sensitive to changes in the training data </a:t>
            </a:r>
            <a:r>
              <a:rPr lang="en-US" dirty="0"/>
              <a:t>and can produce consistent estimates of the target function with </a:t>
            </a:r>
            <a:r>
              <a:rPr lang="en-US" dirty="0">
                <a:solidFill>
                  <a:srgbClr val="C00000"/>
                </a:solidFill>
              </a:rPr>
              <a:t>different subsets of data from the same distribution</a:t>
            </a:r>
          </a:p>
          <a:p>
            <a:r>
              <a:rPr lang="en-US" b="1" dirty="0"/>
              <a:t>High variance:</a:t>
            </a:r>
          </a:p>
          <a:p>
            <a:pPr lvl="1"/>
            <a:r>
              <a:rPr lang="en-US" dirty="0"/>
              <a:t>High variance </a:t>
            </a:r>
            <a:r>
              <a:rPr lang="en-US" dirty="0">
                <a:solidFill>
                  <a:srgbClr val="C00000"/>
                </a:solidFill>
              </a:rPr>
              <a:t>means that the model is very sensitive </a:t>
            </a:r>
            <a:r>
              <a:rPr lang="en-US" dirty="0"/>
              <a:t>to changes in the training data and can result in significant changes in the estimate of </a:t>
            </a:r>
            <a:r>
              <a:rPr lang="en-US" dirty="0">
                <a:solidFill>
                  <a:srgbClr val="C00000"/>
                </a:solidFill>
              </a:rPr>
              <a:t>the target function when trained on different subsets </a:t>
            </a:r>
            <a:r>
              <a:rPr lang="en-US" dirty="0"/>
              <a:t>of data from the same distribution.</a:t>
            </a:r>
          </a:p>
          <a:p>
            <a:pPr lvl="1"/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97149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DAA5FE-A03C-41A3-D3CB-E86B6D5966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Bias-Variance Trade-Off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0EC0BF-9A46-F109-3B79-0805005A99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180" y="863445"/>
            <a:ext cx="11929641" cy="920200"/>
          </a:xfrm>
        </p:spPr>
        <p:txBody>
          <a:bodyPr/>
          <a:lstStyle/>
          <a:p>
            <a:r>
              <a:rPr lang="en-US" dirty="0"/>
              <a:t>The goal is to achieve a </a:t>
            </a:r>
            <a:r>
              <a:rPr lang="en-US" dirty="0">
                <a:solidFill>
                  <a:srgbClr val="C00000"/>
                </a:solidFill>
              </a:rPr>
              <a:t>balance where the model generalizes well </a:t>
            </a:r>
            <a:r>
              <a:rPr lang="en-US" dirty="0"/>
              <a:t>on unseen data.</a:t>
            </a:r>
          </a:p>
          <a:p>
            <a:r>
              <a:rPr lang="en-US" dirty="0"/>
              <a:t>This involves </a:t>
            </a:r>
            <a:r>
              <a:rPr lang="en-US" dirty="0">
                <a:solidFill>
                  <a:srgbClr val="C00000"/>
                </a:solidFill>
              </a:rPr>
              <a:t>minimizing the combined error from bias and variance</a:t>
            </a:r>
            <a:r>
              <a:rPr lang="en-US" dirty="0"/>
              <a:t>.</a:t>
            </a:r>
          </a:p>
          <a:p>
            <a:endParaRPr lang="en-US" dirty="0"/>
          </a:p>
        </p:txBody>
      </p:sp>
      <p:cxnSp>
        <p:nvCxnSpPr>
          <p:cNvPr id="5" name="Straight Arrow Connector 4">
            <a:extLst>
              <a:ext uri="{FF2B5EF4-FFF2-40B4-BE49-F238E27FC236}">
                <a16:creationId xmlns:a16="http://schemas.microsoft.com/office/drawing/2014/main" id="{2146D928-97BC-8D7C-D521-03CDA560C02B}"/>
              </a:ext>
            </a:extLst>
          </p:cNvPr>
          <p:cNvCxnSpPr>
            <a:cxnSpLocks/>
          </p:cNvCxnSpPr>
          <p:nvPr/>
        </p:nvCxnSpPr>
        <p:spPr>
          <a:xfrm flipV="1">
            <a:off x="982135" y="2086694"/>
            <a:ext cx="0" cy="3781778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>
            <a:extLst>
              <a:ext uri="{FF2B5EF4-FFF2-40B4-BE49-F238E27FC236}">
                <a16:creationId xmlns:a16="http://schemas.microsoft.com/office/drawing/2014/main" id="{5008E60A-F2A5-AEC4-89A8-97034376432D}"/>
              </a:ext>
            </a:extLst>
          </p:cNvPr>
          <p:cNvCxnSpPr>
            <a:cxnSpLocks/>
          </p:cNvCxnSpPr>
          <p:nvPr/>
        </p:nvCxnSpPr>
        <p:spPr>
          <a:xfrm>
            <a:off x="587023" y="5501583"/>
            <a:ext cx="4989689" cy="0"/>
          </a:xfrm>
          <a:prstGeom prst="straightConnector1">
            <a:avLst/>
          </a:prstGeom>
          <a:ln>
            <a:solidFill>
              <a:schemeClr val="tx2">
                <a:lumMod val="75000"/>
              </a:schemeClr>
            </a:solidFill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73875F83-1C55-9391-DB67-9511811DE1BE}"/>
              </a:ext>
            </a:extLst>
          </p:cNvPr>
          <p:cNvSpPr txBox="1"/>
          <p:nvPr/>
        </p:nvSpPr>
        <p:spPr>
          <a:xfrm>
            <a:off x="3770920" y="5499140"/>
            <a:ext cx="181910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Model Complexity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C149DB7-1176-F800-520B-AB444CA466D5}"/>
              </a:ext>
            </a:extLst>
          </p:cNvPr>
          <p:cNvSpPr txBox="1"/>
          <p:nvPr/>
        </p:nvSpPr>
        <p:spPr>
          <a:xfrm rot="16200000">
            <a:off x="450439" y="2245469"/>
            <a:ext cx="68688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Error</a:t>
            </a:r>
          </a:p>
        </p:txBody>
      </p:sp>
      <p:sp>
        <p:nvSpPr>
          <p:cNvPr id="12" name="Freeform 11">
            <a:extLst>
              <a:ext uri="{FF2B5EF4-FFF2-40B4-BE49-F238E27FC236}">
                <a16:creationId xmlns:a16="http://schemas.microsoft.com/office/drawing/2014/main" id="{53262A14-C1FE-0F6F-34B5-C3D531475E20}"/>
              </a:ext>
            </a:extLst>
          </p:cNvPr>
          <p:cNvSpPr/>
          <p:nvPr/>
        </p:nvSpPr>
        <p:spPr>
          <a:xfrm>
            <a:off x="1377244" y="2331144"/>
            <a:ext cx="3883377" cy="2889957"/>
          </a:xfrm>
          <a:custGeom>
            <a:avLst/>
            <a:gdLst>
              <a:gd name="connsiteX0" fmla="*/ 0 w 3883378"/>
              <a:gd name="connsiteY0" fmla="*/ 2788356 h 2789912"/>
              <a:gd name="connsiteX1" fmla="*/ 2867378 w 3883378"/>
              <a:gd name="connsiteY1" fmla="*/ 2336800 h 2789912"/>
              <a:gd name="connsiteX2" fmla="*/ 3883378 w 3883378"/>
              <a:gd name="connsiteY2" fmla="*/ 0 h 2789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3378" h="2789912">
                <a:moveTo>
                  <a:pt x="0" y="2788356"/>
                </a:moveTo>
                <a:cubicBezTo>
                  <a:pt x="1110074" y="2794941"/>
                  <a:pt x="2220148" y="2801526"/>
                  <a:pt x="2867378" y="2336800"/>
                </a:cubicBezTo>
                <a:cubicBezTo>
                  <a:pt x="3514608" y="1872074"/>
                  <a:pt x="3730978" y="391348"/>
                  <a:pt x="3883378" y="0"/>
                </a:cubicBezTo>
              </a:path>
            </a:pathLst>
          </a:custGeom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D77BDF3F-1604-7D19-8C8B-75ABF6D25A2A}"/>
              </a:ext>
            </a:extLst>
          </p:cNvPr>
          <p:cNvSpPr/>
          <p:nvPr/>
        </p:nvSpPr>
        <p:spPr>
          <a:xfrm flipH="1">
            <a:off x="1351460" y="2331145"/>
            <a:ext cx="3909151" cy="2889948"/>
          </a:xfrm>
          <a:custGeom>
            <a:avLst/>
            <a:gdLst>
              <a:gd name="connsiteX0" fmla="*/ 0 w 3883378"/>
              <a:gd name="connsiteY0" fmla="*/ 2788356 h 2789912"/>
              <a:gd name="connsiteX1" fmla="*/ 2867378 w 3883378"/>
              <a:gd name="connsiteY1" fmla="*/ 2336800 h 2789912"/>
              <a:gd name="connsiteX2" fmla="*/ 3883378 w 3883378"/>
              <a:gd name="connsiteY2" fmla="*/ 0 h 27899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3378" h="2789912">
                <a:moveTo>
                  <a:pt x="0" y="2788356"/>
                </a:moveTo>
                <a:cubicBezTo>
                  <a:pt x="1110074" y="2794941"/>
                  <a:pt x="2220148" y="2801526"/>
                  <a:pt x="2867378" y="2336800"/>
                </a:cubicBezTo>
                <a:cubicBezTo>
                  <a:pt x="3514608" y="1872074"/>
                  <a:pt x="3730978" y="391348"/>
                  <a:pt x="3883378" y="0"/>
                </a:cubicBezTo>
              </a:path>
            </a:pathLst>
          </a:custGeom>
        </p:spPr>
        <p:style>
          <a:lnRef idx="3">
            <a:schemeClr val="accent5"/>
          </a:lnRef>
          <a:fillRef idx="0">
            <a:schemeClr val="accent5"/>
          </a:fillRef>
          <a:effectRef idx="2">
            <a:schemeClr val="accent5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44D0E007-3C76-2020-1ED5-250879C2FC26}"/>
              </a:ext>
            </a:extLst>
          </p:cNvPr>
          <p:cNvSpPr txBox="1"/>
          <p:nvPr/>
        </p:nvSpPr>
        <p:spPr>
          <a:xfrm>
            <a:off x="5125141" y="2889305"/>
            <a:ext cx="106115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Variance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131E119-8730-A5E0-B3BA-5A80B96E469F}"/>
              </a:ext>
            </a:extLst>
          </p:cNvPr>
          <p:cNvSpPr txBox="1"/>
          <p:nvPr/>
        </p:nvSpPr>
        <p:spPr>
          <a:xfrm>
            <a:off x="967257" y="2976725"/>
            <a:ext cx="716845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Bias</a:t>
            </a:r>
            <a:r>
              <a:rPr lang="en-US" baseline="30000" dirty="0"/>
              <a:t>2</a:t>
            </a:r>
          </a:p>
        </p:txBody>
      </p:sp>
      <p:sp>
        <p:nvSpPr>
          <p:cNvPr id="17" name="Freeform 16">
            <a:extLst>
              <a:ext uri="{FF2B5EF4-FFF2-40B4-BE49-F238E27FC236}">
                <a16:creationId xmlns:a16="http://schemas.microsoft.com/office/drawing/2014/main" id="{712DDB91-8E3A-F241-FC32-90A2BED4AA9F}"/>
              </a:ext>
            </a:extLst>
          </p:cNvPr>
          <p:cNvSpPr/>
          <p:nvPr/>
        </p:nvSpPr>
        <p:spPr>
          <a:xfrm>
            <a:off x="1365955" y="2359378"/>
            <a:ext cx="3883378" cy="1930400"/>
          </a:xfrm>
          <a:custGeom>
            <a:avLst/>
            <a:gdLst>
              <a:gd name="connsiteX0" fmla="*/ 0 w 3883378"/>
              <a:gd name="connsiteY0" fmla="*/ 0 h 2393244"/>
              <a:gd name="connsiteX1" fmla="*/ 1851378 w 3883378"/>
              <a:gd name="connsiteY1" fmla="*/ 2393244 h 2393244"/>
              <a:gd name="connsiteX2" fmla="*/ 3883378 w 3883378"/>
              <a:gd name="connsiteY2" fmla="*/ 0 h 23932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3883378" h="2393244">
                <a:moveTo>
                  <a:pt x="0" y="0"/>
                </a:moveTo>
                <a:cubicBezTo>
                  <a:pt x="602074" y="1196622"/>
                  <a:pt x="1204148" y="2393244"/>
                  <a:pt x="1851378" y="2393244"/>
                </a:cubicBezTo>
                <a:cubicBezTo>
                  <a:pt x="2498608" y="2393244"/>
                  <a:pt x="3554119" y="361244"/>
                  <a:pt x="3883378" y="0"/>
                </a:cubicBezTo>
              </a:path>
            </a:pathLst>
          </a:custGeom>
          <a:ln w="9525" cap="flat" cmpd="sng" algn="ctr">
            <a:solidFill>
              <a:srgbClr val="FF0000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A5C33E22-7486-9C4D-DE02-39C5F4C150FD}"/>
              </a:ext>
            </a:extLst>
          </p:cNvPr>
          <p:cNvCxnSpPr>
            <a:cxnSpLocks/>
          </p:cNvCxnSpPr>
          <p:nvPr/>
        </p:nvCxnSpPr>
        <p:spPr>
          <a:xfrm>
            <a:off x="3279420" y="2190045"/>
            <a:ext cx="1" cy="3355261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923C3D0D-A193-6B3C-0C1C-3487BC2EDAF4}"/>
              </a:ext>
            </a:extLst>
          </p:cNvPr>
          <p:cNvSpPr txBox="1"/>
          <p:nvPr/>
        </p:nvSpPr>
        <p:spPr>
          <a:xfrm>
            <a:off x="1797755" y="2928028"/>
            <a:ext cx="1061155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Total Error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A153D608-ED7B-FC1D-88F4-257C2120E56F}"/>
              </a:ext>
            </a:extLst>
          </p:cNvPr>
          <p:cNvSpPr txBox="1"/>
          <p:nvPr/>
        </p:nvSpPr>
        <p:spPr>
          <a:xfrm>
            <a:off x="2438403" y="1851727"/>
            <a:ext cx="1761058" cy="3231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500" dirty="0"/>
              <a:t>Optimal Complexity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7B0E449A-D91B-7793-B306-1E7098AC3D16}"/>
              </a:ext>
            </a:extLst>
          </p:cNvPr>
          <p:cNvSpPr txBox="1"/>
          <p:nvPr/>
        </p:nvSpPr>
        <p:spPr>
          <a:xfrm>
            <a:off x="5846993" y="2039353"/>
            <a:ext cx="643317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Total Error = Bias</a:t>
            </a:r>
            <a:r>
              <a:rPr lang="en-IN" b="0" i="0" u="none" strike="noStrike" baseline="30000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2 </a:t>
            </a:r>
            <a:r>
              <a:rPr lang="en-IN" b="0" i="0" u="none" strike="noStrike" dirty="0">
                <a:solidFill>
                  <a:srgbClr val="000000"/>
                </a:solidFill>
                <a:effectLst/>
                <a:latin typeface="Consolas" panose="020B0609020204030204" pitchFamily="49" charset="0"/>
                <a:cs typeface="Consolas" panose="020B0609020204030204" pitchFamily="49" charset="0"/>
              </a:rPr>
              <a:t>+ Variance + Irreducible Error</a:t>
            </a:r>
            <a:endParaRPr lang="en-US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sp>
        <p:nvSpPr>
          <p:cNvPr id="25" name="Content Placeholder 2">
            <a:extLst>
              <a:ext uri="{FF2B5EF4-FFF2-40B4-BE49-F238E27FC236}">
                <a16:creationId xmlns:a16="http://schemas.microsoft.com/office/drawing/2014/main" id="{507794FC-CA18-2936-D066-790104E3AD60}"/>
              </a:ext>
            </a:extLst>
          </p:cNvPr>
          <p:cNvSpPr txBox="1">
            <a:spLocks/>
          </p:cNvSpPr>
          <p:nvPr/>
        </p:nvSpPr>
        <p:spPr>
          <a:xfrm>
            <a:off x="6096000" y="2613870"/>
            <a:ext cx="5964822" cy="325459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65113" indent="-265113" algn="just" defTabSz="914400" rtl="0" eaLnBrk="1" latinLnBrk="0" hangingPunct="1">
              <a:lnSpc>
                <a:spcPct val="90000"/>
              </a:lnSpc>
              <a:spcBef>
                <a:spcPts val="1000"/>
              </a:spcBef>
              <a:buClr>
                <a:schemeClr val="accent6"/>
              </a:buClr>
              <a:buFont typeface="Webdings" panose="05030102010509060703" pitchFamily="18" charset="2"/>
              <a:buChar char="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9625" indent="-352425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 3" panose="05040102010807070707" pitchFamily="18" charset="2"/>
              <a:buChar char="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Wingdings" panose="05000000000000000000" pitchFamily="2" charset="2"/>
              <a:buChar char="§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just" defTabSz="914400" rtl="0" eaLnBrk="1" latinLnBrk="0" hangingPunct="1">
              <a:lnSpc>
                <a:spcPct val="90000"/>
              </a:lnSpc>
              <a:spcBef>
                <a:spcPts val="500"/>
              </a:spcBef>
              <a:buClr>
                <a:schemeClr val="accent6"/>
              </a:buClr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IN" sz="2000" dirty="0"/>
              <a:t>Increasing model complexity typically decreases bias but increases variance.</a:t>
            </a:r>
          </a:p>
          <a:p>
            <a:r>
              <a:rPr lang="en-US" sz="2000" dirty="0"/>
              <a:t>Decreasing model complexity typically increases bias but decreases variance.</a:t>
            </a:r>
          </a:p>
          <a:p>
            <a:endParaRPr lang="en-US" sz="2000" dirty="0"/>
          </a:p>
          <a:p>
            <a:r>
              <a:rPr lang="en-IN" b="1" dirty="0"/>
              <a:t>High Bias</a:t>
            </a:r>
            <a:r>
              <a:rPr lang="en-IN" dirty="0"/>
              <a:t> and </a:t>
            </a:r>
            <a:r>
              <a:rPr lang="en-IN" b="1" dirty="0"/>
              <a:t>Low Variance - Underfitting</a:t>
            </a:r>
          </a:p>
          <a:p>
            <a:r>
              <a:rPr lang="en-IN" b="1" dirty="0"/>
              <a:t>Low Bias </a:t>
            </a:r>
            <a:r>
              <a:rPr lang="en-IN" dirty="0"/>
              <a:t>and</a:t>
            </a:r>
            <a:r>
              <a:rPr lang="en-IN" b="1" dirty="0"/>
              <a:t> High Variance – Overfitting</a:t>
            </a:r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8254971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/>
      <p:bldP spid="12" grpId="0" animBg="1"/>
      <p:bldP spid="14" grpId="0" animBg="1"/>
      <p:bldP spid="15" grpId="0"/>
      <p:bldP spid="16" grpId="0"/>
      <p:bldP spid="17" grpId="0" animBg="1"/>
      <p:bldP spid="22" grpId="0"/>
      <p:bldP spid="23" grpId="0"/>
      <p:bldP spid="24" grpId="0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for Machine Learning : </a:t>
            </a:r>
            <a:r>
              <a:rPr lang="en-IN" dirty="0"/>
              <a:t>Scikit-learn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The </a:t>
            </a:r>
            <a:r>
              <a:rPr lang="en-IN" dirty="0" err="1"/>
              <a:t>Scikit</a:t>
            </a:r>
            <a:r>
              <a:rPr lang="en-IN" dirty="0"/>
              <a:t>-learn library is one of many </a:t>
            </a:r>
            <a:r>
              <a:rPr lang="en-IN" dirty="0" err="1"/>
              <a:t>Scikit</a:t>
            </a:r>
            <a:r>
              <a:rPr lang="en-IN" dirty="0"/>
              <a:t> libraries that build on the capabilities provided by </a:t>
            </a:r>
            <a:r>
              <a:rPr lang="en-IN" dirty="0" err="1"/>
              <a:t>NumPy</a:t>
            </a:r>
            <a:r>
              <a:rPr lang="en-IN" dirty="0"/>
              <a:t> and </a:t>
            </a:r>
            <a:r>
              <a:rPr lang="en-IN" dirty="0" err="1"/>
              <a:t>SciPy</a:t>
            </a:r>
            <a:r>
              <a:rPr lang="en-IN" dirty="0"/>
              <a:t> to allow Python developers to perform domain specific tasks.</a:t>
            </a:r>
          </a:p>
          <a:p>
            <a:r>
              <a:rPr lang="en-IN" dirty="0" err="1"/>
              <a:t>Scikit</a:t>
            </a:r>
            <a:r>
              <a:rPr lang="en-IN" dirty="0"/>
              <a:t>-learn library focuses on data mining and data analysis, it provides access to following sort of functionality:</a:t>
            </a:r>
          </a:p>
          <a:p>
            <a:pPr lvl="1"/>
            <a:r>
              <a:rPr lang="en-IN" dirty="0"/>
              <a:t>Classification</a:t>
            </a:r>
          </a:p>
          <a:p>
            <a:pPr lvl="1"/>
            <a:r>
              <a:rPr lang="en-IN" dirty="0"/>
              <a:t>Regression</a:t>
            </a:r>
          </a:p>
          <a:p>
            <a:pPr lvl="1"/>
            <a:r>
              <a:rPr lang="en-IN" dirty="0"/>
              <a:t>Clustering</a:t>
            </a:r>
          </a:p>
          <a:p>
            <a:pPr lvl="1"/>
            <a:r>
              <a:rPr lang="en-IN" dirty="0"/>
              <a:t>Dimensionality reduction</a:t>
            </a:r>
          </a:p>
          <a:p>
            <a:pPr lvl="1"/>
            <a:r>
              <a:rPr lang="en-IN" dirty="0"/>
              <a:t>Model selection</a:t>
            </a:r>
          </a:p>
          <a:p>
            <a:pPr lvl="1"/>
            <a:r>
              <a:rPr lang="en-IN" dirty="0"/>
              <a:t>Pre-processing</a:t>
            </a:r>
          </a:p>
          <a:p>
            <a:r>
              <a:rPr lang="en-IN" dirty="0" err="1"/>
              <a:t>Scikit</a:t>
            </a:r>
            <a:r>
              <a:rPr lang="en-IN" dirty="0"/>
              <a:t>-learn is the most important library we are going to learn in this subject</a:t>
            </a:r>
            <a:endParaRPr lang="en-US" dirty="0"/>
          </a:p>
        </p:txBody>
      </p:sp>
      <p:pic>
        <p:nvPicPr>
          <p:cNvPr id="38914" name="Picture 2" descr="scikit-learn-logo - Analytics Vidhya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400425" y="4659755"/>
            <a:ext cx="5391150" cy="1924051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Tools used for Machine Learning</a:t>
            </a:r>
            <a:r>
              <a:rPr lang="en-IN" dirty="0"/>
              <a:t> : </a:t>
            </a:r>
            <a:r>
              <a:rPr lang="en-IN" dirty="0" err="1"/>
              <a:t>Keras</a:t>
            </a:r>
            <a:r>
              <a:rPr lang="en-IN" dirty="0"/>
              <a:t> and TensorFlow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 err="1"/>
              <a:t>Keras</a:t>
            </a:r>
            <a:r>
              <a:rPr lang="en-IN" dirty="0"/>
              <a:t> is an application programming interface (API) that is used to train deep learning models.</a:t>
            </a:r>
          </a:p>
          <a:p>
            <a:r>
              <a:rPr lang="en-IN" dirty="0"/>
              <a:t>An API often specifies a model for doing something, but it doesn’t provide an implementation.</a:t>
            </a:r>
          </a:p>
          <a:p>
            <a:r>
              <a:rPr lang="en-IN" dirty="0" err="1"/>
              <a:t>TensorFlow</a:t>
            </a:r>
            <a:r>
              <a:rPr lang="en-IN" dirty="0"/>
              <a:t> is an implementation for the </a:t>
            </a:r>
            <a:r>
              <a:rPr lang="en-IN" dirty="0" err="1"/>
              <a:t>keras</a:t>
            </a:r>
            <a:r>
              <a:rPr lang="en-IN" dirty="0"/>
              <a:t>, there are many other implementations for the </a:t>
            </a:r>
            <a:r>
              <a:rPr lang="en-IN" dirty="0" err="1"/>
              <a:t>keras</a:t>
            </a:r>
            <a:r>
              <a:rPr lang="en-IN" dirty="0"/>
              <a:t> like</a:t>
            </a:r>
          </a:p>
          <a:p>
            <a:pPr lvl="1"/>
            <a:r>
              <a:rPr lang="en-IN" dirty="0"/>
              <a:t>Microsoft’s cognitive Toolkit, CNKT</a:t>
            </a:r>
          </a:p>
          <a:p>
            <a:pPr lvl="1"/>
            <a:r>
              <a:rPr lang="en-IN" dirty="0" err="1"/>
              <a:t>Theano</a:t>
            </a:r>
            <a:endParaRPr lang="en-IN" dirty="0"/>
          </a:p>
        </p:txBody>
      </p:sp>
      <p:pic>
        <p:nvPicPr>
          <p:cNvPr id="39938" name="Picture 2" descr="TensorFlow 1.0 vs 2.0, Part 3: tf.keras - AI³ | Theory, Practice ...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697976" y="3874367"/>
            <a:ext cx="6796049" cy="203733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Classes in </a:t>
            </a:r>
            <a:r>
              <a:rPr lang="en-IN" dirty="0" err="1"/>
              <a:t>Scikit</a:t>
            </a:r>
            <a:r>
              <a:rPr lang="en-IN" dirty="0"/>
              <a:t>-learn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Understanding how classes work is an important prerequisite for being able to use the </a:t>
            </a:r>
            <a:r>
              <a:rPr lang="en-US" dirty="0" err="1">
                <a:solidFill>
                  <a:srgbClr val="C00000"/>
                </a:solidFill>
              </a:rPr>
              <a:t>Scikit</a:t>
            </a:r>
            <a:r>
              <a:rPr lang="en-US" dirty="0">
                <a:solidFill>
                  <a:srgbClr val="C00000"/>
                </a:solidFill>
              </a:rPr>
              <a:t>-learn package appropriately.</a:t>
            </a:r>
          </a:p>
          <a:p>
            <a:r>
              <a:rPr lang="en-US" dirty="0" err="1"/>
              <a:t>Scikit</a:t>
            </a:r>
            <a:r>
              <a:rPr lang="en-US" dirty="0"/>
              <a:t>-learn is the package for machine learning and data science experimentation </a:t>
            </a:r>
            <a:r>
              <a:rPr lang="en-US" dirty="0">
                <a:solidFill>
                  <a:srgbClr val="C00000"/>
                </a:solidFill>
              </a:rPr>
              <a:t>favored by most data scientists.</a:t>
            </a:r>
          </a:p>
          <a:p>
            <a:r>
              <a:rPr lang="en-US" dirty="0"/>
              <a:t>It contains wide range of well-established learning algorithms, error functions and testing procedures.</a:t>
            </a:r>
          </a:p>
          <a:p>
            <a:r>
              <a:rPr lang="en-US" dirty="0"/>
              <a:t>Install :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conda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 install </a:t>
            </a:r>
            <a:r>
              <a:rPr lang="en-US" dirty="0" err="1">
                <a:latin typeface="Consolas" panose="020B0609020204030204" pitchFamily="49" charset="0"/>
                <a:cs typeface="Calibri" panose="020F0502020204030204" pitchFamily="34" charset="0"/>
              </a:rPr>
              <a:t>scikit</a:t>
            </a:r>
            <a:r>
              <a:rPr lang="en-US" dirty="0">
                <a:latin typeface="Consolas" panose="020B0609020204030204" pitchFamily="49" charset="0"/>
                <a:cs typeface="Calibri" panose="020F0502020204030204" pitchFamily="34" charset="0"/>
              </a:rPr>
              <a:t>-learn</a:t>
            </a:r>
          </a:p>
          <a:p>
            <a:r>
              <a:rPr lang="en-US" dirty="0"/>
              <a:t>There are four class types covering all the basic machine-learning functionalities,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Classifying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Regressing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Grouping by clusters</a:t>
            </a:r>
          </a:p>
          <a:p>
            <a:pPr lvl="1"/>
            <a:r>
              <a:rPr lang="en-US" dirty="0">
                <a:solidFill>
                  <a:srgbClr val="C00000"/>
                </a:solidFill>
              </a:rPr>
              <a:t>Transforming data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Freeform 101"/>
          <p:cNvSpPr/>
          <p:nvPr/>
        </p:nvSpPr>
        <p:spPr>
          <a:xfrm>
            <a:off x="8582025" y="3109913"/>
            <a:ext cx="3514725" cy="3176587"/>
          </a:xfrm>
          <a:custGeom>
            <a:avLst/>
            <a:gdLst>
              <a:gd name="connsiteX0" fmla="*/ 0 w 3514725"/>
              <a:gd name="connsiteY0" fmla="*/ 19050 h 3176587"/>
              <a:gd name="connsiteX1" fmla="*/ 828675 w 3514725"/>
              <a:gd name="connsiteY1" fmla="*/ 657225 h 3176587"/>
              <a:gd name="connsiteX2" fmla="*/ 833438 w 3514725"/>
              <a:gd name="connsiteY2" fmla="*/ 1219200 h 3176587"/>
              <a:gd name="connsiteX3" fmla="*/ 571500 w 3514725"/>
              <a:gd name="connsiteY3" fmla="*/ 1533525 h 3176587"/>
              <a:gd name="connsiteX4" fmla="*/ 609600 w 3514725"/>
              <a:gd name="connsiteY4" fmla="*/ 3176587 h 3176587"/>
              <a:gd name="connsiteX5" fmla="*/ 3514725 w 3514725"/>
              <a:gd name="connsiteY5" fmla="*/ 3176587 h 3176587"/>
              <a:gd name="connsiteX6" fmla="*/ 3505200 w 3514725"/>
              <a:gd name="connsiteY6" fmla="*/ 0 h 3176587"/>
              <a:gd name="connsiteX7" fmla="*/ 0 w 3514725"/>
              <a:gd name="connsiteY7" fmla="*/ 19050 h 31765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514725" h="3176587">
                <a:moveTo>
                  <a:pt x="0" y="19050"/>
                </a:moveTo>
                <a:lnTo>
                  <a:pt x="828675" y="657225"/>
                </a:lnTo>
                <a:cubicBezTo>
                  <a:pt x="830263" y="844550"/>
                  <a:pt x="831850" y="1031875"/>
                  <a:pt x="833438" y="1219200"/>
                </a:cubicBezTo>
                <a:lnTo>
                  <a:pt x="571500" y="1533525"/>
                </a:lnTo>
                <a:lnTo>
                  <a:pt x="609600" y="3176587"/>
                </a:lnTo>
                <a:lnTo>
                  <a:pt x="3514725" y="3176587"/>
                </a:lnTo>
                <a:lnTo>
                  <a:pt x="3505200" y="0"/>
                </a:lnTo>
                <a:lnTo>
                  <a:pt x="0" y="19050"/>
                </a:lnTo>
                <a:close/>
              </a:path>
            </a:pathLst>
          </a:custGeom>
          <a:solidFill>
            <a:schemeClr val="accent6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Freeform 97"/>
          <p:cNvSpPr/>
          <p:nvPr/>
        </p:nvSpPr>
        <p:spPr>
          <a:xfrm>
            <a:off x="5934075" y="2909888"/>
            <a:ext cx="3419475" cy="3381375"/>
          </a:xfrm>
          <a:custGeom>
            <a:avLst/>
            <a:gdLst>
              <a:gd name="connsiteX0" fmla="*/ 0 w 3419475"/>
              <a:gd name="connsiteY0" fmla="*/ 114300 h 3381375"/>
              <a:gd name="connsiteX1" fmla="*/ 23813 w 3419475"/>
              <a:gd name="connsiteY1" fmla="*/ 3381375 h 3381375"/>
              <a:gd name="connsiteX2" fmla="*/ 3181350 w 3419475"/>
              <a:gd name="connsiteY2" fmla="*/ 3381375 h 3381375"/>
              <a:gd name="connsiteX3" fmla="*/ 3157538 w 3419475"/>
              <a:gd name="connsiteY3" fmla="*/ 1704975 h 3381375"/>
              <a:gd name="connsiteX4" fmla="*/ 3419475 w 3419475"/>
              <a:gd name="connsiteY4" fmla="*/ 1390650 h 3381375"/>
              <a:gd name="connsiteX5" fmla="*/ 3419475 w 3419475"/>
              <a:gd name="connsiteY5" fmla="*/ 871537 h 3381375"/>
              <a:gd name="connsiteX6" fmla="*/ 2266950 w 3419475"/>
              <a:gd name="connsiteY6" fmla="*/ 0 h 3381375"/>
              <a:gd name="connsiteX7" fmla="*/ 0 w 3419475"/>
              <a:gd name="connsiteY7" fmla="*/ 114300 h 33813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3419475" h="3381375">
                <a:moveTo>
                  <a:pt x="0" y="114300"/>
                </a:moveTo>
                <a:lnTo>
                  <a:pt x="23813" y="3381375"/>
                </a:lnTo>
                <a:lnTo>
                  <a:pt x="3181350" y="3381375"/>
                </a:lnTo>
                <a:lnTo>
                  <a:pt x="3157538" y="1704975"/>
                </a:lnTo>
                <a:lnTo>
                  <a:pt x="3419475" y="1390650"/>
                </a:lnTo>
                <a:lnTo>
                  <a:pt x="3419475" y="871537"/>
                </a:lnTo>
                <a:lnTo>
                  <a:pt x="2266950" y="0"/>
                </a:lnTo>
                <a:lnTo>
                  <a:pt x="0" y="114300"/>
                </a:lnTo>
                <a:close/>
              </a:path>
            </a:pathLst>
          </a:cu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Freeform 94"/>
          <p:cNvSpPr/>
          <p:nvPr/>
        </p:nvSpPr>
        <p:spPr>
          <a:xfrm>
            <a:off x="2947988" y="3024188"/>
            <a:ext cx="2957512" cy="3267075"/>
          </a:xfrm>
          <a:custGeom>
            <a:avLst/>
            <a:gdLst>
              <a:gd name="connsiteX0" fmla="*/ 0 w 2957512"/>
              <a:gd name="connsiteY0" fmla="*/ 476250 h 3267075"/>
              <a:gd name="connsiteX1" fmla="*/ 309562 w 2957512"/>
              <a:gd name="connsiteY1" fmla="*/ 885825 h 3267075"/>
              <a:gd name="connsiteX2" fmla="*/ 319087 w 2957512"/>
              <a:gd name="connsiteY2" fmla="*/ 2257425 h 3267075"/>
              <a:gd name="connsiteX3" fmla="*/ 642937 w 2957512"/>
              <a:gd name="connsiteY3" fmla="*/ 2671762 h 3267075"/>
              <a:gd name="connsiteX4" fmla="*/ 647700 w 2957512"/>
              <a:gd name="connsiteY4" fmla="*/ 3267075 h 3267075"/>
              <a:gd name="connsiteX5" fmla="*/ 2957512 w 2957512"/>
              <a:gd name="connsiteY5" fmla="*/ 3267075 h 3267075"/>
              <a:gd name="connsiteX6" fmla="*/ 2943225 w 2957512"/>
              <a:gd name="connsiteY6" fmla="*/ 0 h 3267075"/>
              <a:gd name="connsiteX7" fmla="*/ 504825 w 2957512"/>
              <a:gd name="connsiteY7" fmla="*/ 4762 h 3267075"/>
              <a:gd name="connsiteX8" fmla="*/ 0 w 2957512"/>
              <a:gd name="connsiteY8" fmla="*/ 476250 h 3267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2957512" h="3267075">
                <a:moveTo>
                  <a:pt x="0" y="476250"/>
                </a:moveTo>
                <a:lnTo>
                  <a:pt x="309562" y="885825"/>
                </a:lnTo>
                <a:lnTo>
                  <a:pt x="319087" y="2257425"/>
                </a:lnTo>
                <a:lnTo>
                  <a:pt x="642937" y="2671762"/>
                </a:lnTo>
                <a:cubicBezTo>
                  <a:pt x="644525" y="2870200"/>
                  <a:pt x="646112" y="3068637"/>
                  <a:pt x="647700" y="3267075"/>
                </a:cubicBezTo>
                <a:lnTo>
                  <a:pt x="2957512" y="3267075"/>
                </a:lnTo>
                <a:cubicBezTo>
                  <a:pt x="2952750" y="2178050"/>
                  <a:pt x="2947987" y="1089025"/>
                  <a:pt x="2943225" y="0"/>
                </a:cubicBezTo>
                <a:lnTo>
                  <a:pt x="504825" y="4762"/>
                </a:lnTo>
                <a:lnTo>
                  <a:pt x="0" y="476250"/>
                </a:lnTo>
                <a:close/>
              </a:path>
            </a:pathLst>
          </a:custGeom>
          <a:solidFill>
            <a:schemeClr val="accent4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Freeform 91"/>
          <p:cNvSpPr/>
          <p:nvPr/>
        </p:nvSpPr>
        <p:spPr>
          <a:xfrm>
            <a:off x="47625" y="2933699"/>
            <a:ext cx="3500438" cy="3376613"/>
          </a:xfrm>
          <a:custGeom>
            <a:avLst/>
            <a:gdLst>
              <a:gd name="connsiteX0" fmla="*/ 804863 w 3505200"/>
              <a:gd name="connsiteY0" fmla="*/ 9525 h 3671888"/>
              <a:gd name="connsiteX1" fmla="*/ 2847975 w 3505200"/>
              <a:gd name="connsiteY1" fmla="*/ 590550 h 3671888"/>
              <a:gd name="connsiteX2" fmla="*/ 3143250 w 3505200"/>
              <a:gd name="connsiteY2" fmla="*/ 976313 h 3671888"/>
              <a:gd name="connsiteX3" fmla="*/ 3152775 w 3505200"/>
              <a:gd name="connsiteY3" fmla="*/ 2352675 h 3671888"/>
              <a:gd name="connsiteX4" fmla="*/ 3481388 w 3505200"/>
              <a:gd name="connsiteY4" fmla="*/ 2776538 h 3671888"/>
              <a:gd name="connsiteX5" fmla="*/ 3505200 w 3505200"/>
              <a:gd name="connsiteY5" fmla="*/ 3657600 h 3671888"/>
              <a:gd name="connsiteX6" fmla="*/ 0 w 3505200"/>
              <a:gd name="connsiteY6" fmla="*/ 3671888 h 3671888"/>
              <a:gd name="connsiteX7" fmla="*/ 0 w 3505200"/>
              <a:gd name="connsiteY7" fmla="*/ 0 h 3671888"/>
              <a:gd name="connsiteX8" fmla="*/ 804863 w 3505200"/>
              <a:gd name="connsiteY8" fmla="*/ 9525 h 3671888"/>
              <a:gd name="connsiteX0" fmla="*/ 804863 w 3500438"/>
              <a:gd name="connsiteY0" fmla="*/ 9525 h 3671888"/>
              <a:gd name="connsiteX1" fmla="*/ 2847975 w 3500438"/>
              <a:gd name="connsiteY1" fmla="*/ 590550 h 3671888"/>
              <a:gd name="connsiteX2" fmla="*/ 3143250 w 3500438"/>
              <a:gd name="connsiteY2" fmla="*/ 976313 h 3671888"/>
              <a:gd name="connsiteX3" fmla="*/ 3152775 w 3500438"/>
              <a:gd name="connsiteY3" fmla="*/ 2352675 h 3671888"/>
              <a:gd name="connsiteX4" fmla="*/ 3481388 w 3500438"/>
              <a:gd name="connsiteY4" fmla="*/ 2776538 h 3671888"/>
              <a:gd name="connsiteX5" fmla="*/ 3500438 w 3500438"/>
              <a:gd name="connsiteY5" fmla="*/ 3367088 h 3671888"/>
              <a:gd name="connsiteX6" fmla="*/ 0 w 3500438"/>
              <a:gd name="connsiteY6" fmla="*/ 3671888 h 3671888"/>
              <a:gd name="connsiteX7" fmla="*/ 0 w 3500438"/>
              <a:gd name="connsiteY7" fmla="*/ 0 h 3671888"/>
              <a:gd name="connsiteX8" fmla="*/ 804863 w 3500438"/>
              <a:gd name="connsiteY8" fmla="*/ 9525 h 3671888"/>
              <a:gd name="connsiteX0" fmla="*/ 804863 w 3500438"/>
              <a:gd name="connsiteY0" fmla="*/ 9525 h 3386138"/>
              <a:gd name="connsiteX1" fmla="*/ 2847975 w 3500438"/>
              <a:gd name="connsiteY1" fmla="*/ 590550 h 3386138"/>
              <a:gd name="connsiteX2" fmla="*/ 3143250 w 3500438"/>
              <a:gd name="connsiteY2" fmla="*/ 976313 h 3386138"/>
              <a:gd name="connsiteX3" fmla="*/ 3152775 w 3500438"/>
              <a:gd name="connsiteY3" fmla="*/ 2352675 h 3386138"/>
              <a:gd name="connsiteX4" fmla="*/ 3481388 w 3500438"/>
              <a:gd name="connsiteY4" fmla="*/ 2776538 h 3386138"/>
              <a:gd name="connsiteX5" fmla="*/ 3500438 w 3500438"/>
              <a:gd name="connsiteY5" fmla="*/ 3367088 h 3386138"/>
              <a:gd name="connsiteX6" fmla="*/ 4763 w 3500438"/>
              <a:gd name="connsiteY6" fmla="*/ 3386138 h 3386138"/>
              <a:gd name="connsiteX7" fmla="*/ 0 w 3500438"/>
              <a:gd name="connsiteY7" fmla="*/ 0 h 3386138"/>
              <a:gd name="connsiteX8" fmla="*/ 804863 w 3500438"/>
              <a:gd name="connsiteY8" fmla="*/ 9525 h 3386138"/>
              <a:gd name="connsiteX0" fmla="*/ 804863 w 3500438"/>
              <a:gd name="connsiteY0" fmla="*/ 9525 h 3386138"/>
              <a:gd name="connsiteX1" fmla="*/ 2847975 w 3500438"/>
              <a:gd name="connsiteY1" fmla="*/ 590550 h 3386138"/>
              <a:gd name="connsiteX2" fmla="*/ 3143250 w 3500438"/>
              <a:gd name="connsiteY2" fmla="*/ 976313 h 3386138"/>
              <a:gd name="connsiteX3" fmla="*/ 3152775 w 3500438"/>
              <a:gd name="connsiteY3" fmla="*/ 2352675 h 3386138"/>
              <a:gd name="connsiteX4" fmla="*/ 3481388 w 3500438"/>
              <a:gd name="connsiteY4" fmla="*/ 2776538 h 3386138"/>
              <a:gd name="connsiteX5" fmla="*/ 3500438 w 3500438"/>
              <a:gd name="connsiteY5" fmla="*/ 3352801 h 3386138"/>
              <a:gd name="connsiteX6" fmla="*/ 4763 w 3500438"/>
              <a:gd name="connsiteY6" fmla="*/ 3386138 h 3386138"/>
              <a:gd name="connsiteX7" fmla="*/ 0 w 3500438"/>
              <a:gd name="connsiteY7" fmla="*/ 0 h 3386138"/>
              <a:gd name="connsiteX8" fmla="*/ 804863 w 3500438"/>
              <a:gd name="connsiteY8" fmla="*/ 9525 h 3386138"/>
              <a:gd name="connsiteX0" fmla="*/ 804863 w 3500438"/>
              <a:gd name="connsiteY0" fmla="*/ 9525 h 3376613"/>
              <a:gd name="connsiteX1" fmla="*/ 2847975 w 3500438"/>
              <a:gd name="connsiteY1" fmla="*/ 590550 h 3376613"/>
              <a:gd name="connsiteX2" fmla="*/ 3143250 w 3500438"/>
              <a:gd name="connsiteY2" fmla="*/ 976313 h 3376613"/>
              <a:gd name="connsiteX3" fmla="*/ 3152775 w 3500438"/>
              <a:gd name="connsiteY3" fmla="*/ 2352675 h 3376613"/>
              <a:gd name="connsiteX4" fmla="*/ 3481388 w 3500438"/>
              <a:gd name="connsiteY4" fmla="*/ 2776538 h 3376613"/>
              <a:gd name="connsiteX5" fmla="*/ 3500438 w 3500438"/>
              <a:gd name="connsiteY5" fmla="*/ 3352801 h 3376613"/>
              <a:gd name="connsiteX6" fmla="*/ 4763 w 3500438"/>
              <a:gd name="connsiteY6" fmla="*/ 3376613 h 3376613"/>
              <a:gd name="connsiteX7" fmla="*/ 0 w 3500438"/>
              <a:gd name="connsiteY7" fmla="*/ 0 h 3376613"/>
              <a:gd name="connsiteX8" fmla="*/ 804863 w 3500438"/>
              <a:gd name="connsiteY8" fmla="*/ 9525 h 33766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500438" h="3376613">
                <a:moveTo>
                  <a:pt x="804863" y="9525"/>
                </a:moveTo>
                <a:lnTo>
                  <a:pt x="2847975" y="590550"/>
                </a:lnTo>
                <a:lnTo>
                  <a:pt x="3143250" y="976313"/>
                </a:lnTo>
                <a:lnTo>
                  <a:pt x="3152775" y="2352675"/>
                </a:lnTo>
                <a:lnTo>
                  <a:pt x="3481388" y="2776538"/>
                </a:lnTo>
                <a:lnTo>
                  <a:pt x="3500438" y="3352801"/>
                </a:lnTo>
                <a:lnTo>
                  <a:pt x="4763" y="3376613"/>
                </a:lnTo>
                <a:cubicBezTo>
                  <a:pt x="3175" y="2247900"/>
                  <a:pt x="1588" y="1128713"/>
                  <a:pt x="0" y="0"/>
                </a:cubicBezTo>
                <a:lnTo>
                  <a:pt x="804863" y="9525"/>
                </a:lnTo>
                <a:close/>
              </a:path>
            </a:pathLst>
          </a:custGeom>
          <a:solidFill>
            <a:schemeClr val="accent5">
              <a:lumMod val="20000"/>
              <a:lumOff val="8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Choosing a correct algorithm in </a:t>
            </a:r>
            <a:r>
              <a:rPr lang="en-US" dirty="0" err="1"/>
              <a:t>Scikit</a:t>
            </a:r>
            <a:r>
              <a:rPr lang="en-US" dirty="0"/>
              <a:t>-learn</a:t>
            </a:r>
          </a:p>
        </p:txBody>
      </p:sp>
      <p:sp>
        <p:nvSpPr>
          <p:cNvPr id="8" name="Right Arrow 7"/>
          <p:cNvSpPr/>
          <p:nvPr/>
        </p:nvSpPr>
        <p:spPr>
          <a:xfrm rot="10800000">
            <a:off x="4748594" y="1090591"/>
            <a:ext cx="588328" cy="18288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/>
          <p:cNvSpPr/>
          <p:nvPr/>
        </p:nvSpPr>
        <p:spPr>
          <a:xfrm>
            <a:off x="3257550" y="1958115"/>
            <a:ext cx="4467744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10800000">
            <a:off x="2355272" y="1120372"/>
            <a:ext cx="1465898" cy="182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817537" y="4787990"/>
            <a:ext cx="1221609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kernel</a:t>
            </a:r>
          </a:p>
          <a:p>
            <a:pPr algn="ctr"/>
            <a:r>
              <a:rPr lang="en-US" sz="1400" dirty="0"/>
              <a:t>approximation</a:t>
            </a:r>
            <a:endParaRPr lang="en-US" dirty="0"/>
          </a:p>
        </p:txBody>
      </p:sp>
      <p:sp>
        <p:nvSpPr>
          <p:cNvPr id="27" name="Right Arrow 26"/>
          <p:cNvSpPr/>
          <p:nvPr/>
        </p:nvSpPr>
        <p:spPr>
          <a:xfrm>
            <a:off x="10108371" y="1798269"/>
            <a:ext cx="374072" cy="182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ight Arrow 27"/>
          <p:cNvSpPr/>
          <p:nvPr/>
        </p:nvSpPr>
        <p:spPr>
          <a:xfrm>
            <a:off x="10108371" y="2052268"/>
            <a:ext cx="374072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ight Arrow 28"/>
          <p:cNvSpPr/>
          <p:nvPr/>
        </p:nvSpPr>
        <p:spPr>
          <a:xfrm rot="5400000">
            <a:off x="2437992" y="2331172"/>
            <a:ext cx="201168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ight Arrow 29"/>
          <p:cNvSpPr/>
          <p:nvPr/>
        </p:nvSpPr>
        <p:spPr>
          <a:xfrm rot="7293140">
            <a:off x="1781683" y="3122282"/>
            <a:ext cx="401940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ight Arrow 30"/>
          <p:cNvSpPr/>
          <p:nvPr/>
        </p:nvSpPr>
        <p:spPr>
          <a:xfrm rot="2293808">
            <a:off x="2969167" y="3060665"/>
            <a:ext cx="655522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ight Arrow 31"/>
          <p:cNvSpPr/>
          <p:nvPr/>
        </p:nvSpPr>
        <p:spPr>
          <a:xfrm rot="7293140">
            <a:off x="1012842" y="3787047"/>
            <a:ext cx="385009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Right Arrow 32"/>
          <p:cNvSpPr/>
          <p:nvPr/>
        </p:nvSpPr>
        <p:spPr>
          <a:xfrm rot="3314509">
            <a:off x="1938868" y="3790305"/>
            <a:ext cx="380763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Right Arrow 33"/>
          <p:cNvSpPr/>
          <p:nvPr/>
        </p:nvSpPr>
        <p:spPr>
          <a:xfrm rot="5400000">
            <a:off x="2311071" y="4573423"/>
            <a:ext cx="234543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Right Arrow 34"/>
          <p:cNvSpPr/>
          <p:nvPr/>
        </p:nvSpPr>
        <p:spPr>
          <a:xfrm>
            <a:off x="10108371" y="2306267"/>
            <a:ext cx="374904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10647141" y="1689654"/>
            <a:ext cx="471604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</a:t>
            </a:r>
            <a:endParaRPr lang="en-US" dirty="0"/>
          </a:p>
        </p:txBody>
      </p:sp>
      <p:sp>
        <p:nvSpPr>
          <p:cNvPr id="37" name="TextBox 36"/>
          <p:cNvSpPr txBox="1"/>
          <p:nvPr/>
        </p:nvSpPr>
        <p:spPr>
          <a:xfrm>
            <a:off x="10647141" y="1940510"/>
            <a:ext cx="55656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Yes</a:t>
            </a:r>
            <a:endParaRPr lang="en-US" dirty="0"/>
          </a:p>
        </p:txBody>
      </p:sp>
      <p:sp>
        <p:nvSpPr>
          <p:cNvPr id="38" name="TextBox 37"/>
          <p:cNvSpPr txBox="1"/>
          <p:nvPr/>
        </p:nvSpPr>
        <p:spPr>
          <a:xfrm>
            <a:off x="10647141" y="2197652"/>
            <a:ext cx="140455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dirty="0"/>
              <a:t>Not working</a:t>
            </a:r>
            <a:endParaRPr lang="en-US" dirty="0"/>
          </a:p>
        </p:txBody>
      </p:sp>
      <p:sp>
        <p:nvSpPr>
          <p:cNvPr id="39" name="Right Arrow 38"/>
          <p:cNvSpPr/>
          <p:nvPr/>
        </p:nvSpPr>
        <p:spPr>
          <a:xfrm rot="5400000">
            <a:off x="817979" y="4558283"/>
            <a:ext cx="234543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ight Arrow 39"/>
          <p:cNvSpPr/>
          <p:nvPr/>
        </p:nvSpPr>
        <p:spPr>
          <a:xfrm rot="7293140">
            <a:off x="466730" y="5146749"/>
            <a:ext cx="489489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Right Arrow 40"/>
          <p:cNvSpPr/>
          <p:nvPr/>
        </p:nvSpPr>
        <p:spPr>
          <a:xfrm rot="3314509">
            <a:off x="893624" y="5139461"/>
            <a:ext cx="502126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Right Arrow 41"/>
          <p:cNvSpPr/>
          <p:nvPr/>
        </p:nvSpPr>
        <p:spPr>
          <a:xfrm>
            <a:off x="2159335" y="5618364"/>
            <a:ext cx="145251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ight Arrow 52"/>
          <p:cNvSpPr/>
          <p:nvPr/>
        </p:nvSpPr>
        <p:spPr>
          <a:xfrm rot="5400000">
            <a:off x="3676905" y="3797521"/>
            <a:ext cx="288531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ight Arrow 53"/>
          <p:cNvSpPr/>
          <p:nvPr/>
        </p:nvSpPr>
        <p:spPr>
          <a:xfrm rot="2654172">
            <a:off x="4134095" y="3829003"/>
            <a:ext cx="510939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ight Arrow 54"/>
          <p:cNvSpPr/>
          <p:nvPr/>
        </p:nvSpPr>
        <p:spPr>
          <a:xfrm rot="5400000">
            <a:off x="3676905" y="4549701"/>
            <a:ext cx="288531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ight Arrow 56"/>
          <p:cNvSpPr/>
          <p:nvPr/>
        </p:nvSpPr>
        <p:spPr>
          <a:xfrm rot="2654172">
            <a:off x="4091479" y="4499213"/>
            <a:ext cx="510939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Right Arrow 57"/>
          <p:cNvSpPr/>
          <p:nvPr/>
        </p:nvSpPr>
        <p:spPr>
          <a:xfrm rot="5400000">
            <a:off x="3746223" y="5105826"/>
            <a:ext cx="162713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9" name="Right Arrow 58"/>
          <p:cNvSpPr/>
          <p:nvPr/>
        </p:nvSpPr>
        <p:spPr>
          <a:xfrm rot="4646541">
            <a:off x="4923081" y="4807947"/>
            <a:ext cx="1023392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Right Arrow 59"/>
          <p:cNvSpPr/>
          <p:nvPr/>
        </p:nvSpPr>
        <p:spPr>
          <a:xfrm rot="16200000">
            <a:off x="5149037" y="3902496"/>
            <a:ext cx="181800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Oval 4"/>
          <p:cNvSpPr/>
          <p:nvPr/>
        </p:nvSpPr>
        <p:spPr>
          <a:xfrm>
            <a:off x="5336922" y="810348"/>
            <a:ext cx="914400" cy="685335"/>
          </a:xfrm>
          <a:prstGeom prst="ellipse">
            <a:avLst/>
          </a:prstGeom>
        </p:spPr>
        <p:style>
          <a:lnRef idx="2">
            <a:schemeClr val="accent5">
              <a:shade val="50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Start</a:t>
            </a:r>
          </a:p>
        </p:txBody>
      </p:sp>
      <p:sp>
        <p:nvSpPr>
          <p:cNvPr id="7" name="Oval 6"/>
          <p:cNvSpPr/>
          <p:nvPr/>
        </p:nvSpPr>
        <p:spPr>
          <a:xfrm>
            <a:off x="1440872" y="849522"/>
            <a:ext cx="914400" cy="665018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100" dirty="0"/>
              <a:t>Get more data</a:t>
            </a:r>
          </a:p>
        </p:txBody>
      </p:sp>
      <p:sp>
        <p:nvSpPr>
          <p:cNvPr id="10" name="Oval 9"/>
          <p:cNvSpPr/>
          <p:nvPr/>
        </p:nvSpPr>
        <p:spPr>
          <a:xfrm>
            <a:off x="1770608" y="1817290"/>
            <a:ext cx="1543398" cy="504737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Predicting a </a:t>
            </a:r>
            <a:r>
              <a:rPr lang="en-US" sz="1400" dirty="0"/>
              <a:t>category?</a:t>
            </a:r>
            <a:endParaRPr lang="en-US" sz="700" dirty="0"/>
          </a:p>
        </p:txBody>
      </p:sp>
      <p:sp>
        <p:nvSpPr>
          <p:cNvPr id="14" name="Oval 13"/>
          <p:cNvSpPr/>
          <p:nvPr/>
        </p:nvSpPr>
        <p:spPr>
          <a:xfrm>
            <a:off x="1152525" y="3338972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&lt;100K</a:t>
            </a:r>
          </a:p>
          <a:p>
            <a:pPr algn="ctr"/>
            <a:r>
              <a:rPr lang="en-US" sz="1100" dirty="0"/>
              <a:t>samples</a:t>
            </a:r>
          </a:p>
        </p:txBody>
      </p:sp>
      <p:sp>
        <p:nvSpPr>
          <p:cNvPr id="15" name="Oval 14"/>
          <p:cNvSpPr/>
          <p:nvPr/>
        </p:nvSpPr>
        <p:spPr>
          <a:xfrm>
            <a:off x="1929589" y="2524304"/>
            <a:ext cx="1225436" cy="609607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800" dirty="0"/>
              <a:t>Do you have </a:t>
            </a:r>
            <a:r>
              <a:rPr lang="en-US" sz="1500" dirty="0"/>
              <a:t>Labeled data?</a:t>
            </a:r>
          </a:p>
        </p:txBody>
      </p:sp>
      <p:sp>
        <p:nvSpPr>
          <p:cNvPr id="16" name="Oval 15"/>
          <p:cNvSpPr/>
          <p:nvPr/>
        </p:nvSpPr>
        <p:spPr>
          <a:xfrm>
            <a:off x="3289156" y="3330660"/>
            <a:ext cx="1192879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no. of </a:t>
            </a:r>
            <a:r>
              <a:rPr lang="en-US" sz="1500" dirty="0"/>
              <a:t>category</a:t>
            </a:r>
            <a:r>
              <a:rPr lang="en-US" sz="900" dirty="0"/>
              <a:t> known</a:t>
            </a:r>
            <a:endParaRPr lang="en-US" sz="600" dirty="0"/>
          </a:p>
        </p:txBody>
      </p:sp>
      <p:sp>
        <p:nvSpPr>
          <p:cNvPr id="17" name="Rectangle 16"/>
          <p:cNvSpPr/>
          <p:nvPr/>
        </p:nvSpPr>
        <p:spPr>
          <a:xfrm>
            <a:off x="520358" y="4035830"/>
            <a:ext cx="822960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Linear SVC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1790853" y="4052456"/>
            <a:ext cx="1248295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SGD</a:t>
            </a:r>
          </a:p>
          <a:p>
            <a:pPr algn="ctr"/>
            <a:r>
              <a:rPr lang="en-US" sz="1500" dirty="0"/>
              <a:t>Classifier</a:t>
            </a:r>
          </a:p>
        </p:txBody>
      </p:sp>
      <p:sp>
        <p:nvSpPr>
          <p:cNvPr id="20" name="Oval 19"/>
          <p:cNvSpPr/>
          <p:nvPr/>
        </p:nvSpPr>
        <p:spPr>
          <a:xfrm>
            <a:off x="431478" y="4769193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Text data?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99891" y="5450047"/>
            <a:ext cx="822960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Naïve</a:t>
            </a:r>
          </a:p>
          <a:p>
            <a:pPr algn="ctr"/>
            <a:r>
              <a:rPr lang="en-US" sz="1500" dirty="0"/>
              <a:t>Bayes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077035" y="5450047"/>
            <a:ext cx="1077883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Kneighbors</a:t>
            </a:r>
            <a:endParaRPr lang="en-US" sz="1500" dirty="0"/>
          </a:p>
          <a:p>
            <a:pPr algn="ctr"/>
            <a:r>
              <a:rPr lang="en-US" sz="1500" dirty="0"/>
              <a:t>Classifier</a:t>
            </a:r>
          </a:p>
        </p:txBody>
      </p:sp>
      <p:sp>
        <p:nvSpPr>
          <p:cNvPr id="23" name="Rectangle 22"/>
          <p:cNvSpPr/>
          <p:nvPr/>
        </p:nvSpPr>
        <p:spPr>
          <a:xfrm>
            <a:off x="2313592" y="5546729"/>
            <a:ext cx="1077883" cy="247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SVC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313592" y="5789226"/>
            <a:ext cx="1077883" cy="4225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Ensemble</a:t>
            </a:r>
          </a:p>
          <a:p>
            <a:pPr algn="ctr"/>
            <a:r>
              <a:rPr lang="en-US" sz="1500" dirty="0"/>
              <a:t>Classifiers</a:t>
            </a:r>
          </a:p>
        </p:txBody>
      </p:sp>
      <p:sp>
        <p:nvSpPr>
          <p:cNvPr id="43" name="Oval 42"/>
          <p:cNvSpPr/>
          <p:nvPr/>
        </p:nvSpPr>
        <p:spPr>
          <a:xfrm>
            <a:off x="3289156" y="4034486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&lt;10K</a:t>
            </a:r>
          </a:p>
          <a:p>
            <a:pPr algn="ctr"/>
            <a:r>
              <a:rPr lang="en-US" sz="1100" dirty="0"/>
              <a:t>samples</a:t>
            </a:r>
          </a:p>
        </p:txBody>
      </p:sp>
      <p:sp>
        <p:nvSpPr>
          <p:cNvPr id="44" name="Oval 43"/>
          <p:cNvSpPr/>
          <p:nvPr/>
        </p:nvSpPr>
        <p:spPr>
          <a:xfrm>
            <a:off x="4449129" y="4029292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&lt;10K</a:t>
            </a:r>
          </a:p>
          <a:p>
            <a:pPr algn="ctr"/>
            <a:r>
              <a:rPr lang="en-US" sz="1100" dirty="0"/>
              <a:t>samples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409691" y="4773315"/>
            <a:ext cx="822960" cy="3252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KMeans</a:t>
            </a:r>
            <a:endParaRPr lang="en-US" sz="1500" dirty="0"/>
          </a:p>
        </p:txBody>
      </p:sp>
      <p:sp>
        <p:nvSpPr>
          <p:cNvPr id="46" name="Rectangle 45"/>
          <p:cNvSpPr/>
          <p:nvPr/>
        </p:nvSpPr>
        <p:spPr>
          <a:xfrm>
            <a:off x="3626168" y="5278621"/>
            <a:ext cx="1001513" cy="403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Spectral</a:t>
            </a:r>
          </a:p>
          <a:p>
            <a:pPr algn="ctr"/>
            <a:r>
              <a:rPr lang="en-US" sz="1500" dirty="0"/>
              <a:t>Clustering</a:t>
            </a:r>
          </a:p>
        </p:txBody>
      </p:sp>
      <p:sp>
        <p:nvSpPr>
          <p:cNvPr id="47" name="Rectangle 46"/>
          <p:cNvSpPr/>
          <p:nvPr/>
        </p:nvSpPr>
        <p:spPr>
          <a:xfrm>
            <a:off x="3626169" y="5686998"/>
            <a:ext cx="1001512" cy="4083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GMM</a:t>
            </a:r>
          </a:p>
        </p:txBody>
      </p:sp>
      <p:sp>
        <p:nvSpPr>
          <p:cNvPr id="48" name="Rectangle 47"/>
          <p:cNvSpPr/>
          <p:nvPr/>
        </p:nvSpPr>
        <p:spPr>
          <a:xfrm>
            <a:off x="4308849" y="4785406"/>
            <a:ext cx="1001513" cy="403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Mini Batch</a:t>
            </a:r>
          </a:p>
          <a:p>
            <a:pPr algn="ctr"/>
            <a:r>
              <a:rPr lang="en-US" sz="1500" dirty="0" err="1"/>
              <a:t>KMeans</a:t>
            </a:r>
            <a:endParaRPr lang="en-US" sz="1500" dirty="0"/>
          </a:p>
        </p:txBody>
      </p:sp>
      <p:sp>
        <p:nvSpPr>
          <p:cNvPr id="49" name="Oval 48"/>
          <p:cNvSpPr/>
          <p:nvPr/>
        </p:nvSpPr>
        <p:spPr>
          <a:xfrm>
            <a:off x="4627681" y="3454230"/>
            <a:ext cx="1019693" cy="468269"/>
          </a:xfrm>
          <a:prstGeom prst="ellipse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No </a:t>
            </a:r>
            <a:r>
              <a:rPr lang="en-US" sz="1500" dirty="0" err="1"/>
              <a:t>Algo</a:t>
            </a:r>
            <a:endParaRPr lang="en-US" sz="1100" dirty="0"/>
          </a:p>
        </p:txBody>
      </p:sp>
      <p:sp>
        <p:nvSpPr>
          <p:cNvPr id="50" name="Rectangle 49"/>
          <p:cNvSpPr/>
          <p:nvPr/>
        </p:nvSpPr>
        <p:spPr>
          <a:xfrm>
            <a:off x="4809605" y="5392217"/>
            <a:ext cx="1001513" cy="403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Mean Shift</a:t>
            </a:r>
          </a:p>
        </p:txBody>
      </p:sp>
      <p:sp>
        <p:nvSpPr>
          <p:cNvPr id="51" name="Rectangle 50"/>
          <p:cNvSpPr/>
          <p:nvPr/>
        </p:nvSpPr>
        <p:spPr>
          <a:xfrm>
            <a:off x="4809606" y="5800594"/>
            <a:ext cx="1001512" cy="408378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VBGMM</a:t>
            </a:r>
          </a:p>
        </p:txBody>
      </p:sp>
      <p:sp>
        <p:nvSpPr>
          <p:cNvPr id="61" name="Right Arrow 60"/>
          <p:cNvSpPr/>
          <p:nvPr/>
        </p:nvSpPr>
        <p:spPr>
          <a:xfrm rot="7232247">
            <a:off x="7203341" y="3427042"/>
            <a:ext cx="549786" cy="182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ight Arrow 61"/>
          <p:cNvSpPr/>
          <p:nvPr/>
        </p:nvSpPr>
        <p:spPr>
          <a:xfrm rot="3314509">
            <a:off x="7958668" y="3498553"/>
            <a:ext cx="380763" cy="1939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3" name="Oval 62"/>
          <p:cNvSpPr/>
          <p:nvPr/>
        </p:nvSpPr>
        <p:spPr>
          <a:xfrm>
            <a:off x="7461885" y="3047220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&lt;100K</a:t>
            </a:r>
          </a:p>
          <a:p>
            <a:pPr algn="ctr"/>
            <a:r>
              <a:rPr lang="en-US" sz="1100" dirty="0"/>
              <a:t>samples</a:t>
            </a:r>
          </a:p>
        </p:txBody>
      </p:sp>
      <p:sp>
        <p:nvSpPr>
          <p:cNvPr id="64" name="Right Arrow 63"/>
          <p:cNvSpPr/>
          <p:nvPr/>
        </p:nvSpPr>
        <p:spPr>
          <a:xfrm rot="5614816">
            <a:off x="7597614" y="2492768"/>
            <a:ext cx="927390" cy="204633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5" name="Rectangle 64"/>
          <p:cNvSpPr/>
          <p:nvPr/>
        </p:nvSpPr>
        <p:spPr>
          <a:xfrm>
            <a:off x="6296025" y="3763927"/>
            <a:ext cx="1248295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SGD</a:t>
            </a:r>
          </a:p>
          <a:p>
            <a:pPr algn="ctr"/>
            <a:r>
              <a:rPr lang="en-US" sz="1500" dirty="0" err="1"/>
              <a:t>Regressor</a:t>
            </a:r>
            <a:endParaRPr lang="en-US" sz="1500" dirty="0"/>
          </a:p>
        </p:txBody>
      </p:sp>
      <p:sp>
        <p:nvSpPr>
          <p:cNvPr id="67" name="Right Arrow 66"/>
          <p:cNvSpPr/>
          <p:nvPr/>
        </p:nvSpPr>
        <p:spPr>
          <a:xfrm rot="5400000">
            <a:off x="8335106" y="4494767"/>
            <a:ext cx="380763" cy="1939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Oval 65"/>
          <p:cNvSpPr/>
          <p:nvPr/>
        </p:nvSpPr>
        <p:spPr>
          <a:xfrm>
            <a:off x="7624919" y="3748687"/>
            <a:ext cx="1581946" cy="646697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Few features are important</a:t>
            </a:r>
            <a:endParaRPr lang="en-US" sz="1100" dirty="0"/>
          </a:p>
        </p:txBody>
      </p:sp>
      <p:sp>
        <p:nvSpPr>
          <p:cNvPr id="68" name="Rectangle 67"/>
          <p:cNvSpPr/>
          <p:nvPr/>
        </p:nvSpPr>
        <p:spPr>
          <a:xfrm>
            <a:off x="7960830" y="4785406"/>
            <a:ext cx="1001513" cy="3305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Lasso</a:t>
            </a:r>
          </a:p>
        </p:txBody>
      </p:sp>
      <p:sp>
        <p:nvSpPr>
          <p:cNvPr id="69" name="Rectangle 68"/>
          <p:cNvSpPr/>
          <p:nvPr/>
        </p:nvSpPr>
        <p:spPr>
          <a:xfrm>
            <a:off x="7960831" y="5115909"/>
            <a:ext cx="1001512" cy="3028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ElasticNet</a:t>
            </a:r>
            <a:endParaRPr lang="en-US" sz="1500" dirty="0"/>
          </a:p>
        </p:txBody>
      </p:sp>
      <p:sp>
        <p:nvSpPr>
          <p:cNvPr id="70" name="Right Arrow 69"/>
          <p:cNvSpPr/>
          <p:nvPr/>
        </p:nvSpPr>
        <p:spPr>
          <a:xfrm rot="7293140">
            <a:off x="7543225" y="4376580"/>
            <a:ext cx="385009" cy="182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ectangle 70"/>
          <p:cNvSpPr/>
          <p:nvPr/>
        </p:nvSpPr>
        <p:spPr>
          <a:xfrm>
            <a:off x="6042367" y="4643463"/>
            <a:ext cx="1703371" cy="3305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RidgeRegressor</a:t>
            </a:r>
            <a:endParaRPr lang="en-US" sz="1500" dirty="0"/>
          </a:p>
        </p:txBody>
      </p:sp>
      <p:sp>
        <p:nvSpPr>
          <p:cNvPr id="72" name="Rectangle 71"/>
          <p:cNvSpPr/>
          <p:nvPr/>
        </p:nvSpPr>
        <p:spPr>
          <a:xfrm>
            <a:off x="6042368" y="4973966"/>
            <a:ext cx="1703370" cy="3028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SVR(kernel=‘linear’)</a:t>
            </a:r>
          </a:p>
        </p:txBody>
      </p:sp>
      <p:sp>
        <p:nvSpPr>
          <p:cNvPr id="73" name="Right Arrow 72"/>
          <p:cNvSpPr/>
          <p:nvPr/>
        </p:nvSpPr>
        <p:spPr>
          <a:xfrm rot="5400000">
            <a:off x="6689601" y="5325074"/>
            <a:ext cx="260429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ectangle 73"/>
          <p:cNvSpPr/>
          <p:nvPr/>
        </p:nvSpPr>
        <p:spPr>
          <a:xfrm>
            <a:off x="6042366" y="5563482"/>
            <a:ext cx="1703371" cy="33050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EnsembleRegressor</a:t>
            </a:r>
            <a:endParaRPr lang="en-US" sz="1500" dirty="0"/>
          </a:p>
        </p:txBody>
      </p:sp>
      <p:sp>
        <p:nvSpPr>
          <p:cNvPr id="75" name="Rectangle 74"/>
          <p:cNvSpPr/>
          <p:nvPr/>
        </p:nvSpPr>
        <p:spPr>
          <a:xfrm>
            <a:off x="6042367" y="5893985"/>
            <a:ext cx="1703370" cy="302815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SVR(kernel=‘</a:t>
            </a:r>
            <a:r>
              <a:rPr lang="en-US" sz="1500" dirty="0" err="1"/>
              <a:t>rbf</a:t>
            </a:r>
            <a:r>
              <a:rPr lang="en-US" sz="1500" dirty="0"/>
              <a:t>’)</a:t>
            </a:r>
          </a:p>
        </p:txBody>
      </p:sp>
      <p:sp>
        <p:nvSpPr>
          <p:cNvPr id="76" name="Right Arrow 75"/>
          <p:cNvSpPr/>
          <p:nvPr/>
        </p:nvSpPr>
        <p:spPr>
          <a:xfrm rot="2654172">
            <a:off x="8849074" y="2611563"/>
            <a:ext cx="1547429" cy="19397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Oval 10"/>
          <p:cNvSpPr/>
          <p:nvPr/>
        </p:nvSpPr>
        <p:spPr>
          <a:xfrm>
            <a:off x="7725294" y="1809186"/>
            <a:ext cx="1543398" cy="491828"/>
          </a:xfrm>
          <a:prstGeom prst="ellipse">
            <a:avLst/>
          </a:prstGeom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900" dirty="0"/>
              <a:t>Predicting a </a:t>
            </a:r>
            <a:r>
              <a:rPr lang="en-US" sz="1400" dirty="0"/>
              <a:t>Quantity?</a:t>
            </a:r>
            <a:endParaRPr lang="en-US" sz="700" dirty="0"/>
          </a:p>
        </p:txBody>
      </p:sp>
      <p:sp>
        <p:nvSpPr>
          <p:cNvPr id="81" name="Right Arrow 80"/>
          <p:cNvSpPr/>
          <p:nvPr/>
        </p:nvSpPr>
        <p:spPr>
          <a:xfrm rot="4306049">
            <a:off x="10418350" y="3808491"/>
            <a:ext cx="281949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Rectangle 78"/>
          <p:cNvSpPr/>
          <p:nvPr/>
        </p:nvSpPr>
        <p:spPr>
          <a:xfrm>
            <a:off x="9935972" y="3281354"/>
            <a:ext cx="1248295" cy="490450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Randomized</a:t>
            </a:r>
          </a:p>
          <a:p>
            <a:pPr algn="ctr"/>
            <a:r>
              <a:rPr lang="en-US" sz="1500" dirty="0"/>
              <a:t>PCA</a:t>
            </a:r>
          </a:p>
        </p:txBody>
      </p:sp>
      <p:sp>
        <p:nvSpPr>
          <p:cNvPr id="82" name="Right Arrow 81"/>
          <p:cNvSpPr/>
          <p:nvPr/>
        </p:nvSpPr>
        <p:spPr>
          <a:xfrm rot="3741509">
            <a:off x="10820648" y="4551854"/>
            <a:ext cx="481433" cy="193970"/>
          </a:xfrm>
          <a:prstGeom prst="rightArrow">
            <a:avLst/>
          </a:prstGeom>
          <a:solidFill>
            <a:srgbClr val="00B050"/>
          </a:solidFill>
          <a:ln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Rectangle 82"/>
          <p:cNvSpPr/>
          <p:nvPr/>
        </p:nvSpPr>
        <p:spPr>
          <a:xfrm>
            <a:off x="10902302" y="4858868"/>
            <a:ext cx="1077883" cy="24795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 err="1"/>
              <a:t>Isomap</a:t>
            </a:r>
            <a:endParaRPr lang="en-US" sz="1500" dirty="0"/>
          </a:p>
        </p:txBody>
      </p:sp>
      <p:sp>
        <p:nvSpPr>
          <p:cNvPr id="85" name="Rectangle 84"/>
          <p:cNvSpPr/>
          <p:nvPr/>
        </p:nvSpPr>
        <p:spPr>
          <a:xfrm>
            <a:off x="11061499" y="5825398"/>
            <a:ext cx="822960" cy="3252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LLE</a:t>
            </a:r>
          </a:p>
        </p:txBody>
      </p:sp>
      <p:sp>
        <p:nvSpPr>
          <p:cNvPr id="88" name="Right Arrow 87"/>
          <p:cNvSpPr/>
          <p:nvPr/>
        </p:nvSpPr>
        <p:spPr>
          <a:xfrm rot="5400000">
            <a:off x="11319044" y="5580023"/>
            <a:ext cx="307869" cy="182880"/>
          </a:xfrm>
          <a:prstGeom prst="rightArrow">
            <a:avLst/>
          </a:prstGeom>
          <a:solidFill>
            <a:srgbClr val="FFC000"/>
          </a:solidFill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Rectangle 88"/>
          <p:cNvSpPr/>
          <p:nvPr/>
        </p:nvSpPr>
        <p:spPr>
          <a:xfrm>
            <a:off x="9261007" y="4869715"/>
            <a:ext cx="1311095" cy="403184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Kernel</a:t>
            </a:r>
          </a:p>
          <a:p>
            <a:pPr algn="ctr"/>
            <a:r>
              <a:rPr lang="en-US" sz="1500" dirty="0"/>
              <a:t>approximation</a:t>
            </a:r>
          </a:p>
        </p:txBody>
      </p:sp>
      <p:sp>
        <p:nvSpPr>
          <p:cNvPr id="90" name="Right Arrow 89"/>
          <p:cNvSpPr/>
          <p:nvPr/>
        </p:nvSpPr>
        <p:spPr>
          <a:xfrm rot="7293140">
            <a:off x="10076180" y="4543484"/>
            <a:ext cx="519031" cy="182880"/>
          </a:xfrm>
          <a:prstGeom prst="rightArrow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0" name="Oval 79"/>
          <p:cNvSpPr/>
          <p:nvPr/>
        </p:nvSpPr>
        <p:spPr>
          <a:xfrm>
            <a:off x="10262520" y="4008639"/>
            <a:ext cx="1019693" cy="468269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&lt;10K</a:t>
            </a:r>
          </a:p>
          <a:p>
            <a:pPr algn="ctr"/>
            <a:r>
              <a:rPr lang="en-US" sz="1100" dirty="0"/>
              <a:t>samples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10902302" y="5101365"/>
            <a:ext cx="1077883" cy="422521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Spectral</a:t>
            </a:r>
          </a:p>
          <a:p>
            <a:pPr algn="ctr"/>
            <a:r>
              <a:rPr lang="en-US" sz="1500" dirty="0"/>
              <a:t>Embedding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9584" y="5857141"/>
            <a:ext cx="1949572" cy="477054"/>
          </a:xfrm>
          <a:prstGeom prst="rect">
            <a:avLst/>
          </a:prstGeom>
          <a:noFill/>
          <a:ln>
            <a:noFill/>
          </a:ln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Classification</a:t>
            </a:r>
          </a:p>
        </p:txBody>
      </p:sp>
      <p:sp>
        <p:nvSpPr>
          <p:cNvPr id="104" name="Rectangle 103"/>
          <p:cNvSpPr/>
          <p:nvPr/>
        </p:nvSpPr>
        <p:spPr>
          <a:xfrm>
            <a:off x="4224828" y="2948004"/>
            <a:ext cx="1507144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Clustering</a:t>
            </a:r>
          </a:p>
        </p:txBody>
      </p:sp>
      <p:sp>
        <p:nvSpPr>
          <p:cNvPr id="105" name="Rectangle 104"/>
          <p:cNvSpPr/>
          <p:nvPr/>
        </p:nvSpPr>
        <p:spPr>
          <a:xfrm>
            <a:off x="5859281" y="2948456"/>
            <a:ext cx="1627370" cy="47705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Regression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9057569" y="5404888"/>
            <a:ext cx="2169184" cy="861774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sz="2500" b="1" cap="none" spc="0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Dimensionality</a:t>
            </a:r>
          </a:p>
          <a:p>
            <a:pPr algn="ctr"/>
            <a:r>
              <a:rPr lang="en-US" sz="2500" b="1" dirty="0">
                <a:ln w="9525">
                  <a:solidFill>
                    <a:schemeClr val="bg1"/>
                  </a:solidFill>
                  <a:prstDash val="solid"/>
                </a:ln>
                <a:solidFill>
                  <a:srgbClr val="0070C0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Reduction</a:t>
            </a:r>
            <a:endParaRPr lang="en-US" sz="25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rgbClr val="0070C0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3" name="Right Arrow 12"/>
          <p:cNvSpPr/>
          <p:nvPr/>
        </p:nvSpPr>
        <p:spPr>
          <a:xfrm rot="9181384">
            <a:off x="2671263" y="1459872"/>
            <a:ext cx="1254459" cy="182880"/>
          </a:xfrm>
          <a:prstGeom prst="rightArrow">
            <a:avLst/>
          </a:prstGeom>
          <a:solidFill>
            <a:srgbClr val="00B050"/>
          </a:solidFill>
          <a:ln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/>
          <p:cNvSpPr/>
          <p:nvPr/>
        </p:nvSpPr>
        <p:spPr>
          <a:xfrm>
            <a:off x="3821170" y="818435"/>
            <a:ext cx="914400" cy="685335"/>
          </a:xfrm>
          <a:prstGeom prst="ellipse">
            <a:avLst/>
          </a:prstGeom>
        </p:spPr>
        <p:style>
          <a:lnRef idx="0">
            <a:schemeClr val="accent2"/>
          </a:lnRef>
          <a:fillRef idx="3">
            <a:schemeClr val="accent2"/>
          </a:fillRef>
          <a:effectRef idx="3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500" dirty="0"/>
              <a:t>&gt;50</a:t>
            </a:r>
          </a:p>
          <a:p>
            <a:pPr algn="ctr"/>
            <a:r>
              <a:rPr lang="en-US" sz="1100" dirty="0"/>
              <a:t>samples</a:t>
            </a:r>
          </a:p>
        </p:txBody>
      </p:sp>
    </p:spTree>
    <p:extLst>
      <p:ext uri="{BB962C8B-B14F-4D97-AF65-F5344CB8AC3E}">
        <p14:creationId xmlns:p14="http://schemas.microsoft.com/office/powerpoint/2010/main" val="34710950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>
                      <p:stCondLst>
                        <p:cond delay="indefinite"/>
                      </p:stCondLst>
                      <p:childTnLst>
                        <p:par>
                          <p:cTn id="118" fill="hold">
                            <p:stCondLst>
                              <p:cond delay="0"/>
                            </p:stCondLst>
                            <p:childTnLst>
                              <p:par>
                                <p:cTn id="1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>
                      <p:stCondLst>
                        <p:cond delay="indefinite"/>
                      </p:stCondLst>
                      <p:childTnLst>
                        <p:par>
                          <p:cTn id="122" fill="hold">
                            <p:stCondLst>
                              <p:cond delay="0"/>
                            </p:stCondLst>
                            <p:childTnLst>
                              <p:par>
                                <p:cTn id="1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>
                      <p:stCondLst>
                        <p:cond delay="indefinite"/>
                      </p:stCondLst>
                      <p:childTnLst>
                        <p:par>
                          <p:cTn id="126" fill="hold">
                            <p:stCondLst>
                              <p:cond delay="0"/>
                            </p:stCondLst>
                            <p:childTnLst>
                              <p:par>
                                <p:cTn id="12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>
                      <p:stCondLst>
                        <p:cond delay="indefinite"/>
                      </p:stCondLst>
                      <p:childTnLst>
                        <p:par>
                          <p:cTn id="130" fill="hold">
                            <p:stCondLst>
                              <p:cond delay="0"/>
                            </p:stCondLst>
                            <p:childTnLst>
                              <p:par>
                                <p:cTn id="1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5" fill="hold">
                      <p:stCondLst>
                        <p:cond delay="indefinite"/>
                      </p:stCondLst>
                      <p:childTnLst>
                        <p:par>
                          <p:cTn id="136" fill="hold">
                            <p:stCondLst>
                              <p:cond delay="0"/>
                            </p:stCondLst>
                            <p:childTnLst>
                              <p:par>
                                <p:cTn id="1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1" fill="hold">
                      <p:stCondLst>
                        <p:cond delay="indefinite"/>
                      </p:stCondLst>
                      <p:childTnLst>
                        <p:par>
                          <p:cTn id="142" fill="hold">
                            <p:stCondLst>
                              <p:cond delay="0"/>
                            </p:stCondLst>
                            <p:childTnLst>
                              <p:par>
                                <p:cTn id="1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>
                      <p:stCondLst>
                        <p:cond delay="indefinite"/>
                      </p:stCondLst>
                      <p:childTnLst>
                        <p:par>
                          <p:cTn id="146" fill="hold">
                            <p:stCondLst>
                              <p:cond delay="0"/>
                            </p:stCondLst>
                            <p:childTnLst>
                              <p:par>
                                <p:cTn id="1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1" fill="hold">
                      <p:stCondLst>
                        <p:cond delay="indefinite"/>
                      </p:stCondLst>
                      <p:childTnLst>
                        <p:par>
                          <p:cTn id="152" fill="hold">
                            <p:stCondLst>
                              <p:cond delay="0"/>
                            </p:stCondLst>
                            <p:childTnLst>
                              <p:par>
                                <p:cTn id="1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>
                      <p:stCondLst>
                        <p:cond delay="indefinite"/>
                      </p:stCondLst>
                      <p:childTnLst>
                        <p:par>
                          <p:cTn id="158" fill="hold">
                            <p:stCondLst>
                              <p:cond delay="0"/>
                            </p:stCondLst>
                            <p:childTnLst>
                              <p:par>
                                <p:cTn id="1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3" fill="hold">
                      <p:stCondLst>
                        <p:cond delay="indefinite"/>
                      </p:stCondLst>
                      <p:childTnLst>
                        <p:par>
                          <p:cTn id="164" fill="hold">
                            <p:stCondLst>
                              <p:cond delay="0"/>
                            </p:stCondLst>
                            <p:childTnLst>
                              <p:par>
                                <p:cTn id="1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1" fill="hold">
                      <p:stCondLst>
                        <p:cond delay="indefinite"/>
                      </p:stCondLst>
                      <p:childTnLst>
                        <p:par>
                          <p:cTn id="172" fill="hold">
                            <p:stCondLst>
                              <p:cond delay="0"/>
                            </p:stCondLst>
                            <p:childTnLst>
                              <p:par>
                                <p:cTn id="1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>
                      <p:stCondLst>
                        <p:cond delay="indefinite"/>
                      </p:stCondLst>
                      <p:childTnLst>
                        <p:par>
                          <p:cTn id="178" fill="hold">
                            <p:stCondLst>
                              <p:cond delay="0"/>
                            </p:stCondLst>
                            <p:childTnLst>
                              <p:par>
                                <p:cTn id="1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>
                      <p:stCondLst>
                        <p:cond delay="indefinite"/>
                      </p:stCondLst>
                      <p:childTnLst>
                        <p:par>
                          <p:cTn id="182" fill="hold">
                            <p:stCondLst>
                              <p:cond delay="0"/>
                            </p:stCondLst>
                            <p:childTnLst>
                              <p:par>
                                <p:cTn id="1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>
                      <p:stCondLst>
                        <p:cond delay="indefinite"/>
                      </p:stCondLst>
                      <p:childTnLst>
                        <p:par>
                          <p:cTn id="188" fill="hold">
                            <p:stCondLst>
                              <p:cond delay="0"/>
                            </p:stCondLst>
                            <p:childTnLst>
                              <p:par>
                                <p:cTn id="1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>
                      <p:stCondLst>
                        <p:cond delay="indefinite"/>
                      </p:stCondLst>
                      <p:childTnLst>
                        <p:par>
                          <p:cTn id="194" fill="hold">
                            <p:stCondLst>
                              <p:cond delay="0"/>
                            </p:stCondLst>
                            <p:childTnLst>
                              <p:par>
                                <p:cTn id="19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>
                      <p:stCondLst>
                        <p:cond delay="indefinite"/>
                      </p:stCondLst>
                      <p:childTnLst>
                        <p:par>
                          <p:cTn id="202" fill="hold">
                            <p:stCondLst>
                              <p:cond delay="0"/>
                            </p:stCondLst>
                            <p:childTnLst>
                              <p:par>
                                <p:cTn id="2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0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>
                      <p:stCondLst>
                        <p:cond delay="indefinite"/>
                      </p:stCondLst>
                      <p:childTnLst>
                        <p:par>
                          <p:cTn id="210" fill="hold">
                            <p:stCondLst>
                              <p:cond delay="0"/>
                            </p:stCondLst>
                            <p:childTnLst>
                              <p:par>
                                <p:cTn id="2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>
                      <p:stCondLst>
                        <p:cond delay="indefinite"/>
                      </p:stCondLst>
                      <p:childTnLst>
                        <p:par>
                          <p:cTn id="214" fill="hold">
                            <p:stCondLst>
                              <p:cond delay="0"/>
                            </p:stCondLst>
                            <p:childTnLst>
                              <p:par>
                                <p:cTn id="2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9" fill="hold">
                      <p:stCondLst>
                        <p:cond delay="indefinite"/>
                      </p:stCondLst>
                      <p:childTnLst>
                        <p:par>
                          <p:cTn id="220" fill="hold">
                            <p:stCondLst>
                              <p:cond delay="0"/>
                            </p:stCondLst>
                            <p:childTnLst>
                              <p:par>
                                <p:cTn id="2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7" fill="hold">
                      <p:stCondLst>
                        <p:cond delay="indefinite"/>
                      </p:stCondLst>
                      <p:childTnLst>
                        <p:par>
                          <p:cTn id="228" fill="hold">
                            <p:stCondLst>
                              <p:cond delay="0"/>
                            </p:stCondLst>
                            <p:childTnLst>
                              <p:par>
                                <p:cTn id="2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1" fill="hold">
                      <p:stCondLst>
                        <p:cond delay="indefinite"/>
                      </p:stCondLst>
                      <p:childTnLst>
                        <p:par>
                          <p:cTn id="232" fill="hold">
                            <p:stCondLst>
                              <p:cond delay="0"/>
                            </p:stCondLst>
                            <p:childTnLst>
                              <p:par>
                                <p:cTn id="2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>
                      <p:stCondLst>
                        <p:cond delay="indefinite"/>
                      </p:stCondLst>
                      <p:childTnLst>
                        <p:par>
                          <p:cTn id="238" fill="hold">
                            <p:stCondLst>
                              <p:cond delay="0"/>
                            </p:stCondLst>
                            <p:childTnLst>
                              <p:par>
                                <p:cTn id="2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>
                      <p:stCondLst>
                        <p:cond delay="indefinite"/>
                      </p:stCondLst>
                      <p:childTnLst>
                        <p:par>
                          <p:cTn id="246" fill="hold">
                            <p:stCondLst>
                              <p:cond delay="0"/>
                            </p:stCondLst>
                            <p:childTnLst>
                              <p:par>
                                <p:cTn id="2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>
                      <p:stCondLst>
                        <p:cond delay="indefinite"/>
                      </p:stCondLst>
                      <p:childTnLst>
                        <p:par>
                          <p:cTn id="250" fill="hold">
                            <p:stCondLst>
                              <p:cond delay="0"/>
                            </p:stCondLst>
                            <p:childTnLst>
                              <p:par>
                                <p:cTn id="2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2" grpId="0" animBg="1"/>
      <p:bldP spid="98" grpId="0" animBg="1"/>
      <p:bldP spid="95" grpId="0" animBg="1"/>
      <p:bldP spid="92" grpId="0" animBg="1"/>
      <p:bldP spid="8" grpId="0" animBg="1"/>
      <p:bldP spid="9" grpId="0" animBg="1"/>
      <p:bldP spid="12" grpId="0" animBg="1"/>
      <p:bldP spid="19" grpId="0" animBg="1"/>
      <p:bldP spid="29" grpId="0" animBg="1"/>
      <p:bldP spid="30" grpId="0" animBg="1"/>
      <p:bldP spid="31" grpId="0" animBg="1"/>
      <p:bldP spid="32" grpId="0" animBg="1"/>
      <p:bldP spid="33" grpId="0" animBg="1"/>
      <p:bldP spid="34" grpId="0" animBg="1"/>
      <p:bldP spid="39" grpId="0" animBg="1"/>
      <p:bldP spid="40" grpId="0" animBg="1"/>
      <p:bldP spid="41" grpId="0" animBg="1"/>
      <p:bldP spid="42" grpId="0" animBg="1"/>
      <p:bldP spid="53" grpId="0" animBg="1"/>
      <p:bldP spid="54" grpId="0" animBg="1"/>
      <p:bldP spid="55" grpId="0" animBg="1"/>
      <p:bldP spid="57" grpId="0" animBg="1"/>
      <p:bldP spid="58" grpId="0" animBg="1"/>
      <p:bldP spid="59" grpId="0" animBg="1"/>
      <p:bldP spid="60" grpId="0" animBg="1"/>
      <p:bldP spid="5" grpId="0" animBg="1"/>
      <p:bldP spid="7" grpId="0" animBg="1"/>
      <p:bldP spid="10" grpId="0" animBg="1"/>
      <p:bldP spid="14" grpId="0" animBg="1"/>
      <p:bldP spid="15" grpId="0" animBg="1"/>
      <p:bldP spid="16" grpId="0" animBg="1"/>
      <p:bldP spid="17" grpId="0" animBg="1"/>
      <p:bldP spid="18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43" grpId="0" animBg="1"/>
      <p:bldP spid="44" grpId="0" animBg="1"/>
      <p:bldP spid="45" grpId="0" animBg="1"/>
      <p:bldP spid="46" grpId="0" animBg="1"/>
      <p:bldP spid="47" grpId="0" animBg="1"/>
      <p:bldP spid="48" grpId="0" animBg="1"/>
      <p:bldP spid="49" grpId="0" animBg="1"/>
      <p:bldP spid="50" grpId="0" animBg="1"/>
      <p:bldP spid="51" grpId="0" animBg="1"/>
      <p:bldP spid="61" grpId="0" animBg="1"/>
      <p:bldP spid="62" grpId="0" animBg="1"/>
      <p:bldP spid="63" grpId="0" animBg="1"/>
      <p:bldP spid="64" grpId="0" animBg="1"/>
      <p:bldP spid="65" grpId="0" animBg="1"/>
      <p:bldP spid="67" grpId="0" animBg="1"/>
      <p:bldP spid="66" grpId="0" animBg="1"/>
      <p:bldP spid="68" grpId="0" animBg="1"/>
      <p:bldP spid="69" grpId="0" animBg="1"/>
      <p:bldP spid="70" grpId="0" animBg="1"/>
      <p:bldP spid="71" grpId="0" animBg="1"/>
      <p:bldP spid="72" grpId="0" animBg="1"/>
      <p:bldP spid="73" grpId="0" animBg="1"/>
      <p:bldP spid="74" grpId="0" animBg="1"/>
      <p:bldP spid="75" grpId="0" animBg="1"/>
      <p:bldP spid="76" grpId="0" animBg="1"/>
      <p:bldP spid="11" grpId="0" animBg="1"/>
      <p:bldP spid="81" grpId="0" animBg="1"/>
      <p:bldP spid="79" grpId="0" animBg="1"/>
      <p:bldP spid="82" grpId="0" animBg="1"/>
      <p:bldP spid="83" grpId="0" animBg="1"/>
      <p:bldP spid="85" grpId="0" animBg="1"/>
      <p:bldP spid="88" grpId="0" animBg="1"/>
      <p:bldP spid="89" grpId="0" animBg="1"/>
      <p:bldP spid="90" grpId="0" animBg="1"/>
      <p:bldP spid="80" grpId="0" animBg="1"/>
      <p:bldP spid="84" grpId="0" animBg="1"/>
      <p:bldP spid="103" grpId="0"/>
      <p:bldP spid="104" grpId="0"/>
      <p:bldP spid="105" grpId="0"/>
      <p:bldP spid="106" grpId="0"/>
      <p:bldP spid="13" grpId="0" animBg="1"/>
      <p:bldP spid="6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Basic Structure of </a:t>
            </a:r>
            <a:r>
              <a:rPr lang="en-US" dirty="0" err="1"/>
              <a:t>Scikit</a:t>
            </a:r>
            <a:r>
              <a:rPr lang="en-US" dirty="0"/>
              <a:t>-Learn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65195" y="1253119"/>
            <a:ext cx="6102600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sklearn.family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import Model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/>
              </a:rPr>
              <a:t>             Example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sklearn.linear_model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import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LinearRegression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65194" y="923935"/>
            <a:ext cx="23452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01 (import)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507806" y="1253119"/>
            <a:ext cx="3134958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m = Model(parameters)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/>
              </a:rPr>
              <a:t>       Example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lr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LinearRegression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()</a:t>
            </a:r>
          </a:p>
        </p:txBody>
      </p:sp>
      <p:sp>
        <p:nvSpPr>
          <p:cNvPr id="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507805" y="923935"/>
            <a:ext cx="23452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02 (create object)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65193" y="2626034"/>
            <a:ext cx="9477571" cy="58477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sklearn.model_selection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import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train_test_split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X_train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X_test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y_train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,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y_test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train_test_split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X,y,test_size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=0.3)</a:t>
            </a:r>
          </a:p>
        </p:txBody>
      </p:sp>
      <p:sp>
        <p:nvSpPr>
          <p:cNvPr id="12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65193" y="2296850"/>
            <a:ext cx="4573061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03 (split data) (Only For Supervised Learning)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65192" y="3752727"/>
            <a:ext cx="5836597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m.fit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X_train,y_train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	#For Supervised Learning</a:t>
            </a:r>
          </a:p>
          <a:p>
            <a:r>
              <a:rPr lang="en-US" sz="1600" b="1" dirty="0">
                <a:solidFill>
                  <a:srgbClr val="000000"/>
                </a:solidFill>
                <a:latin typeface="Consolas"/>
              </a:rPr>
              <a:t>             OR</a:t>
            </a:r>
          </a:p>
          <a:p>
            <a:r>
              <a:rPr lang="en-US" sz="1600" dirty="0" err="1">
                <a:solidFill>
                  <a:srgbClr val="000000"/>
                </a:solidFill>
                <a:latin typeface="Consolas"/>
              </a:rPr>
              <a:t>m.fit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X_train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 		#For Unsupervised Learning</a:t>
            </a:r>
          </a:p>
        </p:txBody>
      </p:sp>
      <p:sp>
        <p:nvSpPr>
          <p:cNvPr id="14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65192" y="3423543"/>
            <a:ext cx="234524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04 (Train Model)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6168044" y="3752727"/>
            <a:ext cx="6023955" cy="2554545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onsolas"/>
              </a:rPr>
              <a:t>Evaluate the model and update the parameters if required.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onsolas"/>
              </a:rPr>
              <a:t>Evaluating technique will be different for regression, classification and clustering.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>
                <a:solidFill>
                  <a:srgbClr val="000000"/>
                </a:solidFill>
                <a:latin typeface="Consolas"/>
              </a:rPr>
              <a:t>We will explore all the techniques in later sessions.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pPr lvl="1"/>
            <a:r>
              <a:rPr lang="en-US" sz="1600" b="1" dirty="0">
                <a:solidFill>
                  <a:srgbClr val="000000"/>
                </a:solidFill>
                <a:latin typeface="Consolas"/>
              </a:rPr>
              <a:t>Example Model Evaluation for Regression</a:t>
            </a:r>
            <a:endParaRPr lang="en-US" sz="1600" dirty="0">
              <a:solidFill>
                <a:srgbClr val="000000"/>
              </a:solidFill>
              <a:latin typeface="Consolas"/>
            </a:endParaRP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from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sklearn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 import metrics</a:t>
            </a:r>
          </a:p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print(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metrics.mean_squared_error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ytest,predictions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))</a:t>
            </a:r>
          </a:p>
        </p:txBody>
      </p:sp>
      <p:sp>
        <p:nvSpPr>
          <p:cNvPr id="16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6168044" y="3430792"/>
            <a:ext cx="2734889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06 (Evaluate Model)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D456EBDA-49A4-A843-A786-6989C63A54AA}"/>
              </a:ext>
            </a:extLst>
          </p:cNvPr>
          <p:cNvSpPr/>
          <p:nvPr/>
        </p:nvSpPr>
        <p:spPr>
          <a:xfrm>
            <a:off x="165192" y="5125642"/>
            <a:ext cx="5836597" cy="338554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rgbClr val="000000"/>
                </a:solidFill>
                <a:latin typeface="Consolas"/>
              </a:rPr>
              <a:t>predictions = 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m.predict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(</a:t>
            </a:r>
            <a:r>
              <a:rPr lang="en-US" sz="1600" dirty="0" err="1">
                <a:solidFill>
                  <a:srgbClr val="000000"/>
                </a:solidFill>
                <a:latin typeface="Consolas"/>
              </a:rPr>
              <a:t>X_train</a:t>
            </a:r>
            <a:r>
              <a:rPr lang="en-US" sz="1600" dirty="0">
                <a:solidFill>
                  <a:srgbClr val="000000"/>
                </a:solidFill>
                <a:latin typeface="Consolas"/>
              </a:rPr>
              <a:t>)</a:t>
            </a:r>
          </a:p>
        </p:txBody>
      </p:sp>
      <p:sp>
        <p:nvSpPr>
          <p:cNvPr id="18" name="Rectangle: Top Corners Rounded 6">
            <a:extLst>
              <a:ext uri="{FF2B5EF4-FFF2-40B4-BE49-F238E27FC236}">
                <a16:creationId xmlns:a16="http://schemas.microsoft.com/office/drawing/2014/main" id="{0336C271-A2A3-9445-9946-5006F0A250F4}"/>
              </a:ext>
            </a:extLst>
          </p:cNvPr>
          <p:cNvSpPr/>
          <p:nvPr/>
        </p:nvSpPr>
        <p:spPr>
          <a:xfrm>
            <a:off x="165192" y="4796458"/>
            <a:ext cx="4573062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>
                <a:solidFill>
                  <a:schemeClr val="bg1"/>
                </a:solidFill>
              </a:rPr>
              <a:t>Step – 05 (Predict) (Only For Supervised Learning)</a:t>
            </a:r>
          </a:p>
        </p:txBody>
      </p:sp>
    </p:spTree>
    <p:extLst>
      <p:ext uri="{BB962C8B-B14F-4D97-AF65-F5344CB8AC3E}">
        <p14:creationId xmlns:p14="http://schemas.microsoft.com/office/powerpoint/2010/main" val="29472781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>
                      <p:stCondLst>
                        <p:cond delay="indefinite"/>
                      </p:stCondLst>
                      <p:childTnLst>
                        <p:par>
                          <p:cTn id="92" fill="hold">
                            <p:stCondLst>
                              <p:cond delay="0"/>
                            </p:stCondLst>
                            <p:childTnLst>
                              <p:par>
                                <p:cTn id="9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 animBg="1"/>
      <p:bldP spid="6" grpId="0" animBg="1"/>
      <p:bldP spid="7" grpId="0" build="p" animBg="1"/>
      <p:bldP spid="8" grpId="0" animBg="1"/>
      <p:bldP spid="11" grpId="0" build="p" animBg="1"/>
      <p:bldP spid="12" grpId="0" animBg="1"/>
      <p:bldP spid="13" grpId="0" build="p" animBg="1"/>
      <p:bldP spid="14" grpId="0" animBg="1"/>
      <p:bldP spid="15" grpId="0" build="p" animBg="1"/>
      <p:bldP spid="16" grpId="0" animBg="1"/>
      <p:bldP spid="17" grpId="0" build="p" animBg="1"/>
      <p:bldP spid="1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57E969-C6D1-413A-63FB-C6CF3F298F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dirty="0" err="1"/>
              <a:t>train_test_split</a:t>
            </a:r>
            <a:r>
              <a:rPr lang="en-IN" dirty="0"/>
              <a:t>()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C558233-3984-1A30-B222-07FD4963FD7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Split arrays or </a:t>
            </a:r>
            <a:r>
              <a:rPr lang="en-US" dirty="0">
                <a:solidFill>
                  <a:srgbClr val="B71B1C"/>
                </a:solidFill>
              </a:rPr>
              <a:t>matrices into random train and test subsets</a:t>
            </a:r>
            <a:r>
              <a:rPr lang="en-US" dirty="0"/>
              <a:t>.</a:t>
            </a:r>
          </a:p>
          <a:p>
            <a:r>
              <a:rPr lang="en-US" dirty="0"/>
              <a:t>The output of the </a:t>
            </a:r>
            <a:r>
              <a:rPr lang="en-US" dirty="0" err="1"/>
              <a:t>train_test_split</a:t>
            </a:r>
            <a:r>
              <a:rPr lang="en-US" dirty="0"/>
              <a:t> function is </a:t>
            </a:r>
            <a:r>
              <a:rPr lang="en-US" dirty="0" err="1">
                <a:solidFill>
                  <a:srgbClr val="B71B1C"/>
                </a:solidFill>
              </a:rPr>
              <a:t>X_train</a:t>
            </a:r>
            <a:r>
              <a:rPr lang="en-US" dirty="0">
                <a:solidFill>
                  <a:srgbClr val="B71B1C"/>
                </a:solidFill>
              </a:rPr>
              <a:t>, </a:t>
            </a:r>
            <a:r>
              <a:rPr lang="en-US" dirty="0" err="1">
                <a:solidFill>
                  <a:srgbClr val="B71B1C"/>
                </a:solidFill>
              </a:rPr>
              <a:t>X_test</a:t>
            </a:r>
            <a:r>
              <a:rPr lang="en-US" dirty="0">
                <a:solidFill>
                  <a:srgbClr val="B71B1C"/>
                </a:solidFill>
              </a:rPr>
              <a:t>, </a:t>
            </a:r>
            <a:r>
              <a:rPr lang="en-US" dirty="0" err="1">
                <a:solidFill>
                  <a:srgbClr val="B71B1C"/>
                </a:solidFill>
              </a:rPr>
              <a:t>y_train</a:t>
            </a:r>
            <a:r>
              <a:rPr lang="en-US" dirty="0">
                <a:solidFill>
                  <a:srgbClr val="B71B1C"/>
                </a:solidFill>
              </a:rPr>
              <a:t>, and </a:t>
            </a:r>
            <a:r>
              <a:rPr lang="en-US" dirty="0" err="1">
                <a:solidFill>
                  <a:srgbClr val="B71B1C"/>
                </a:solidFill>
              </a:rPr>
              <a:t>y_test</a:t>
            </a:r>
            <a:r>
              <a:rPr lang="en-US" dirty="0"/>
              <a:t>, which are all NumPy arrays. </a:t>
            </a:r>
            <a:r>
              <a:rPr lang="en-US" dirty="0" err="1"/>
              <a:t>X_train</a:t>
            </a:r>
            <a:r>
              <a:rPr lang="en-US" dirty="0"/>
              <a:t> contains </a:t>
            </a:r>
            <a:r>
              <a:rPr lang="en-US" dirty="0">
                <a:solidFill>
                  <a:srgbClr val="B71B1C"/>
                </a:solidFill>
              </a:rPr>
              <a:t>75% of the rows of the dataset</a:t>
            </a:r>
            <a:r>
              <a:rPr lang="en-US" dirty="0"/>
              <a:t>, and </a:t>
            </a:r>
            <a:r>
              <a:rPr lang="en-US" dirty="0" err="1"/>
              <a:t>X_test</a:t>
            </a:r>
            <a:r>
              <a:rPr lang="en-US" dirty="0"/>
              <a:t> contains the </a:t>
            </a:r>
            <a:r>
              <a:rPr lang="en-US" dirty="0">
                <a:solidFill>
                  <a:srgbClr val="B71B1C"/>
                </a:solidFill>
              </a:rPr>
              <a:t>remaining 25%</a:t>
            </a:r>
          </a:p>
          <a:p>
            <a:r>
              <a:rPr lang="en-US" dirty="0"/>
              <a:t>Before making the split, the </a:t>
            </a:r>
            <a:r>
              <a:rPr lang="en-US" dirty="0" err="1"/>
              <a:t>train_test_split</a:t>
            </a:r>
            <a:r>
              <a:rPr lang="en-US" dirty="0"/>
              <a:t> function </a:t>
            </a:r>
            <a:r>
              <a:rPr lang="en-US" dirty="0">
                <a:solidFill>
                  <a:srgbClr val="C00000"/>
                </a:solidFill>
              </a:rPr>
              <a:t>shuffles the dataset </a:t>
            </a:r>
            <a:r>
              <a:rPr lang="en-US" dirty="0"/>
              <a:t>using a </a:t>
            </a:r>
            <a:r>
              <a:rPr lang="en-US" dirty="0">
                <a:solidFill>
                  <a:srgbClr val="C00000"/>
                </a:solidFill>
              </a:rPr>
              <a:t>pseudorandom </a:t>
            </a:r>
            <a:r>
              <a:rPr lang="en-US" dirty="0"/>
              <a:t>number generator.</a:t>
            </a:r>
          </a:p>
          <a:p>
            <a:r>
              <a:rPr lang="en-US" dirty="0"/>
              <a:t>we provide the pseudorandom number generator with a fixed seed using the </a:t>
            </a:r>
            <a:r>
              <a:rPr lang="en-US" dirty="0" err="1"/>
              <a:t>random_state</a:t>
            </a:r>
            <a:r>
              <a:rPr lang="en-US" dirty="0"/>
              <a:t> parameter. This will make the outcome deterministic, so this line will always have the same outcome. </a:t>
            </a:r>
          </a:p>
          <a:p>
            <a:pPr marL="0" indent="0">
              <a:buNone/>
            </a:pPr>
            <a:endParaRPr lang="en-US" dirty="0"/>
          </a:p>
          <a:p>
            <a:endParaRPr lang="en-US" dirty="0">
              <a:solidFill>
                <a:srgbClr val="B71B1C"/>
              </a:solidFill>
            </a:endParaRPr>
          </a:p>
          <a:p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014AE82-4ED1-8F8C-6634-3D4BBCFDAC89}"/>
              </a:ext>
            </a:extLst>
          </p:cNvPr>
          <p:cNvSpPr/>
          <p:nvPr/>
        </p:nvSpPr>
        <p:spPr>
          <a:xfrm>
            <a:off x="915785" y="4844080"/>
            <a:ext cx="10960263" cy="83099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from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sklearn.model_selection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>
                <a:solidFill>
                  <a:srgbClr val="AF00DB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import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X_test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y_train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y_test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train_test_split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iris_dataset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'data'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iris_dataset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[</a:t>
            </a:r>
            <a:r>
              <a:rPr lang="en-IN" sz="1600" dirty="0">
                <a:solidFill>
                  <a:srgbClr val="A31515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'target'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], </a:t>
            </a:r>
            <a:r>
              <a:rPr lang="en-IN" sz="1600" dirty="0" err="1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random_state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=</a:t>
            </a:r>
            <a:r>
              <a:rPr lang="en-IN" sz="1600" dirty="0">
                <a:solidFill>
                  <a:srgbClr val="09885A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en-IN" sz="1600" dirty="0">
                <a:solidFill>
                  <a:srgbClr val="000000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)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99F810F1-26A6-1F85-3BB3-8E6FC6C4F8D0}"/>
              </a:ext>
            </a:extLst>
          </p:cNvPr>
          <p:cNvSpPr/>
          <p:nvPr/>
        </p:nvSpPr>
        <p:spPr>
          <a:xfrm>
            <a:off x="415793" y="4844080"/>
            <a:ext cx="499993" cy="830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txBody>
          <a:bodyPr wrap="square">
            <a:spAutoFit/>
          </a:bodyPr>
          <a:lstStyle/>
          <a:p>
            <a:pPr algn="r"/>
            <a:r>
              <a:rPr lang="en-US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1</a:t>
            </a:r>
          </a:p>
          <a:p>
            <a:pPr algn="r"/>
            <a:r>
              <a:rPr lang="en-IN" sz="1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Consolas" panose="020B0609020204030204" pitchFamily="49" charset="0"/>
              </a:rPr>
              <a:t>2</a:t>
            </a:r>
          </a:p>
          <a:p>
            <a:pPr algn="r"/>
            <a:endParaRPr lang="en-IN" sz="1600" b="1" dirty="0">
              <a:solidFill>
                <a:schemeClr val="tx1">
                  <a:lumMod val="75000"/>
                  <a:lumOff val="2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6" name="Rectangle: Top Corners Rounded 6">
            <a:extLst>
              <a:ext uri="{FF2B5EF4-FFF2-40B4-BE49-F238E27FC236}">
                <a16:creationId xmlns:a16="http://schemas.microsoft.com/office/drawing/2014/main" id="{4BE39B08-8A89-5712-BBA2-041ADAE586A8}"/>
              </a:ext>
            </a:extLst>
          </p:cNvPr>
          <p:cNvSpPr/>
          <p:nvPr/>
        </p:nvSpPr>
        <p:spPr>
          <a:xfrm>
            <a:off x="415793" y="4514896"/>
            <a:ext cx="1778770" cy="329184"/>
          </a:xfrm>
          <a:prstGeom prst="round2SameRect">
            <a:avLst/>
          </a:prstGeom>
          <a:solidFill>
            <a:schemeClr val="tx1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0" bIns="0" rtlCol="0" anchor="ctr"/>
          <a:lstStyle/>
          <a:p>
            <a:pPr algn="ctr"/>
            <a:r>
              <a:rPr lang="en-US" sz="1600" dirty="0" err="1">
                <a:solidFill>
                  <a:schemeClr val="bg1"/>
                </a:solidFill>
              </a:rPr>
              <a:t>Demo.py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85613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uiExpand="1" build="p" animBg="1"/>
      <p:bldP spid="5" grpId="0" animBg="1"/>
      <p:bldP spid="6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Jay">
      <a:dk1>
        <a:srgbClr val="212121"/>
      </a:dk1>
      <a:lt1>
        <a:sysClr val="window" lastClr="FFFFFF"/>
      </a:lt1>
      <a:dk2>
        <a:srgbClr val="1D6FA9"/>
      </a:dk2>
      <a:lt2>
        <a:srgbClr val="FFFFFF"/>
      </a:lt2>
      <a:accent1>
        <a:srgbClr val="909090"/>
      </a:accent1>
      <a:accent2>
        <a:srgbClr val="00BBD3"/>
      </a:accent2>
      <a:accent3>
        <a:srgbClr val="8BC145"/>
      </a:accent3>
      <a:accent4>
        <a:srgbClr val="1D9A78"/>
      </a:accent4>
      <a:accent5>
        <a:srgbClr val="F19D19"/>
      </a:accent5>
      <a:accent6>
        <a:srgbClr val="B84742"/>
      </a:accent6>
      <a:hlink>
        <a:srgbClr val="70AD47"/>
      </a:hlink>
      <a:folHlink>
        <a:srgbClr val="ED7D31"/>
      </a:folHlink>
    </a:clrScheme>
    <a:fontScheme name="Custom 1">
      <a:majorFont>
        <a:latin typeface="Roboto Condensed"/>
        <a:ea typeface=""/>
        <a:cs typeface=""/>
      </a:majorFont>
      <a:minorFont>
        <a:latin typeface="Roboto Condense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6374</TotalTime>
  <Words>3771</Words>
  <Application>Microsoft Office PowerPoint</Application>
  <PresentationFormat>Widescreen</PresentationFormat>
  <Paragraphs>666</Paragraphs>
  <Slides>54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54</vt:i4>
      </vt:variant>
    </vt:vector>
  </HeadingPairs>
  <TitlesOfParts>
    <vt:vector size="67" baseType="lpstr">
      <vt:lpstr>Arial</vt:lpstr>
      <vt:lpstr>Calibri</vt:lpstr>
      <vt:lpstr>Consolas</vt:lpstr>
      <vt:lpstr>Helvetica</vt:lpstr>
      <vt:lpstr>Roboto Condensed</vt:lpstr>
      <vt:lpstr>Roboto Condensed Light</vt:lpstr>
      <vt:lpstr>Segoe UI Black</vt:lpstr>
      <vt:lpstr>Webdings</vt:lpstr>
      <vt:lpstr>-webkit-standard</vt:lpstr>
      <vt:lpstr>Wingdings</vt:lpstr>
      <vt:lpstr>Wingdings 2</vt:lpstr>
      <vt:lpstr>Wingdings 3</vt:lpstr>
      <vt:lpstr>Office Theme</vt:lpstr>
      <vt:lpstr>Unit-1  Introduction to Machine Learning  </vt:lpstr>
      <vt:lpstr>PowerPoint Presentation</vt:lpstr>
      <vt:lpstr>ML – Market size </vt:lpstr>
      <vt:lpstr>ML – Market size share by industry</vt:lpstr>
      <vt:lpstr>Machine Learning - Statistic/Insight</vt:lpstr>
      <vt:lpstr>Big Picture</vt:lpstr>
      <vt:lpstr>Traditional Programing Vs Machine Learning</vt:lpstr>
      <vt:lpstr>Machine learning</vt:lpstr>
      <vt:lpstr>Definition</vt:lpstr>
      <vt:lpstr>Why Use Machine Learning?</vt:lpstr>
      <vt:lpstr>Why Use Machine Learning?</vt:lpstr>
      <vt:lpstr>When to Use Machine Learning ?</vt:lpstr>
      <vt:lpstr>When to Use Machine Learning</vt:lpstr>
      <vt:lpstr>When Not to Use Machine Learning</vt:lpstr>
      <vt:lpstr>ML Terminology</vt:lpstr>
      <vt:lpstr>ML Terminology</vt:lpstr>
      <vt:lpstr>ML Terminology</vt:lpstr>
      <vt:lpstr>Machine Learning Project life cycle</vt:lpstr>
      <vt:lpstr>Machine Learning Project life cycle</vt:lpstr>
      <vt:lpstr>Machine Learning Project life cycle</vt:lpstr>
      <vt:lpstr>Machine Learning Project life cycle</vt:lpstr>
      <vt:lpstr>Classification of ML Techniques</vt:lpstr>
      <vt:lpstr>Supervised Learning </vt:lpstr>
      <vt:lpstr>Machine Learning Process for Supervised Learning</vt:lpstr>
      <vt:lpstr>Supervised Learning </vt:lpstr>
      <vt:lpstr>Supervised Learning </vt:lpstr>
      <vt:lpstr>Unsupervised Learning </vt:lpstr>
      <vt:lpstr>Unsupervised Learning </vt:lpstr>
      <vt:lpstr>Reinforcement Learning</vt:lpstr>
      <vt:lpstr>Reinforcement Learning</vt:lpstr>
      <vt:lpstr>Reinforcement Learning</vt:lpstr>
      <vt:lpstr>Supervised vs. Unsupervised vs. Reinforcement</vt:lpstr>
      <vt:lpstr>Type of Machine Learning Algorithms</vt:lpstr>
      <vt:lpstr>Classification and Regression </vt:lpstr>
      <vt:lpstr>Classification and Regression </vt:lpstr>
      <vt:lpstr>Clustering</vt:lpstr>
      <vt:lpstr>Clustering</vt:lpstr>
      <vt:lpstr>Association Rule Mining</vt:lpstr>
      <vt:lpstr>Market Basket Analysis</vt:lpstr>
      <vt:lpstr>Model-Based vs. Instance-Based Learning</vt:lpstr>
      <vt:lpstr>Model-Based vs. Instance-Based Learning</vt:lpstr>
      <vt:lpstr>Shallow vs. Deep Learning</vt:lpstr>
      <vt:lpstr>Application of ML</vt:lpstr>
      <vt:lpstr>Main Challenges of Machine Learning</vt:lpstr>
      <vt:lpstr>Main Challenges of Machine Learning</vt:lpstr>
      <vt:lpstr>Bias and Variance in Machine Learning</vt:lpstr>
      <vt:lpstr>Bias and Variance in Machine Learning</vt:lpstr>
      <vt:lpstr>Bias-Variance Trade-Off</vt:lpstr>
      <vt:lpstr>Tools used for Machine Learning : Scikit-learn</vt:lpstr>
      <vt:lpstr>Tools used for Machine Learning : Keras and TensorFlow</vt:lpstr>
      <vt:lpstr>Classes in Scikit-learn</vt:lpstr>
      <vt:lpstr>Choosing a correct algorithm in Scikit-learn</vt:lpstr>
      <vt:lpstr>Basic Structure of Scikit-Learn</vt:lpstr>
      <vt:lpstr>train_test_split()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DELL</cp:lastModifiedBy>
  <cp:revision>640</cp:revision>
  <dcterms:created xsi:type="dcterms:W3CDTF">2020-05-01T05:09:15Z</dcterms:created>
  <dcterms:modified xsi:type="dcterms:W3CDTF">2024-12-10T04:09:23Z</dcterms:modified>
</cp:coreProperties>
</file>